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TITLE
Good morning / Good afternoon. My name is [Your Name], and today I will be presenting my project on Fuel Consumption Optimization Using the Golden Section Search method. This is a numerical optimization approach that helps us find the most fuel-efficient driving speed for a vehicle. Let me take you through the theory, mathematics, and step-by-step application of this powerful algorithm.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INTRODUCTION
Let's start with the basics. Optimization means finding the best possible value of an objective function — whether that's minimizing fuel cost, minimizing production time, or maximizing output. In everyday engineering and technology, optimization is everywhere. Training a neural network? That's optimization. Planning a delivery route? Optimization. Designing a bridge? Definitely optimization. Today we're applying optimization to a very practical real-world problem: how fast should you drive to use the least amount of fuel? → Transition: Let's first understand the physics of fuel consumption before we dive into the math.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FUEL CONSUMPTION PHYSICS
As you can see on this chart, fuel consumption is not a straight line — it follows a U-shape. At very low speeds, the engine is running in an inefficient operating range, burning more fuel per kilometer. At high speeds, aerodynamic drag — which increases with the square of velocity — forces the engine to work much harder. There's a sweet spot in the middle, around 80 km/h, where the engine is most efficient and drag is still manageable. This physical reality is what we'll model mathematically. → Transition: Let's now formally define this as an optimization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PROBLEM STATEMENT
Here is our problem formulated precisely. We want to find the speed v-star — the optimal speed — that minimizes fuel consumption f(v). Our search is limited to the practical speed range of 40 to 140 km/h, which reflects real driving conditions. The variable v is the vehicle speed in km/h, and f(v) gives us fuel consumption in liters per 100 kilometers. The notation arg min means: find the argument — i.e., the speed — that gives the minimum value of the function. → Transition: Now let's look at the exact mathematical model for fuel consumption.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MATHEMATICAL MODEL
Our fuel consumption model is f(v) equals 0.005 times (v minus 80) squared, plus 6. This is a parabola — a convex quadratic function. The vertex of this parabola sits exactly at v equals 80 km/h, where fuel consumption is 6 liters per 100 kilometers — the global minimum. The coefficient 0.005 controls how steeply fuel consumption rises as we move away from 80 km/h. Most importantly, this function is unimodal — it has exactly one minimum within our search interval. This property is the key requirement for Golden Section Search to work correctly and guarantee convergence. → Transition: But before we explain GSS, let me show you why a brute-force approach would be inefficient.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BRUTE FORCE VS GSS
Imagine evaluating every possible speed in steps of 0.01 km/h between 40 and 140. That's 10,000 computations! For a simple function like ours, that's manageable — but in real engineering systems with complex models, each function evaluation might take minutes. Brute force becomes impractical very quickly. The Golden Section Search, on the other hand, is smart. It cuts the search interval by about 38% at every step, converging to the answer in roughly 25 iterations. Same accuracy, 400 times fewer calculations. → Transition: Let's now understand HOW the Golden Section Search achieves this efficiency.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GOLDEN RATIO
The Golden Section Search derives its name from the famous golden ratio φ = 0.6180. This number has been known since ancient Greece and appears throughout nature, art, and architecture. In our algorithm, it defines exactly how we split the search interval at each step. The key insight is that by placing two test points using the ratio 0.618, we can reuse one function evaluation from the previous iteration — cutting the number of new calculations needed. This is why GSS is so efficient: each step eliminates 38.2% of the remaining interval with just ONE new function evaluation. → Transition: Let's now go through the algorithm step by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ALGORITHM STEPS
The Golden Section Search algorithm has a clean, repeatable structure. Step 1: we start with the full search range from 40 to 140 km/h. Step 2: we compute two interior test points x1 and x2 using the golden ratio formulas. These points are placed symmetrically inside the interval. Step 3: we evaluate the fuel function at both points. Step 4: whichever point gives the higher fuel consumption, we eliminate the side of the interval it's on. Step 5: if the remaining interval is small enough — say less than 0.01 km/h — we stop and report the midpoint as our answer. Step 6: otherwise, we reuse the surviving test point and compute only ONE new interior point. This is the key efficiency trick. Let's watch this play out in a real numerical example. → Transition: Let me now walk through the first iteration with actual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 FIRST ITERATION
Let's apply the algorithm to our problem. Our initial interval is [40, 140]. The interval width is 100. We compute x1 using the formula: 140 minus 0.618 times 100, which gives 78.2 km/h. We compute x2: 40 plus 0.618 times 100, which is 101.8 km/h. Now we evaluate: f(78.2) equals 6.016, and f(101.8) equals 8.376. Since f(x1) is LOWER, the minimum cannot be in the right portion beyond x2. We eliminate [101.8, 140] and keep the interval [40, 101.8]. Our interval has shrunk from 100 to 61.8 — a 38.2% reduction in just one step, with only 2 function evaluations. → Transition: Let's now see how this process continues across multiple iterations.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 ITERATION TABLE
Here is the complete iteration table for 6 iterations. Look at how the interval shrinks: starting from 100 km/h wide, it reduces to 61.8, then 38.2, 23.6, 14.6, 9.0, and 5.6 — each time multiplied by 0.618. The function values at x1 and x2 are getting closer and closer to 6, the true minimum. The midpoint of the remaining interval is converging rapidly toward 80 km/h. After just 6 iterations we have narrowed the search to a 5.6 km/h window centered near 80 km/h. If we continue to convergence criteria of 0.1 km/h, we need only about 18–20 total iterations. → Transition: Let's now look at the final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 FINAL RESULTS
After iterating to convergence, the Golden Section Search gives us: v* = 80 km/h with a minimum fuel consumption of 6 liters per 100 kilometers. This is exactly the true minimum of our mathematical model. To put this in perspective: if you drive at 130 km/h instead of 80 km/h, your fuel consumption jumps from 6 to about 9.8 L/100km — that's a 63% increase! The algorithm needed fewer than 20 iterations and 20 function evaluations to pinpoint this result to within 0.1 km/h accuracy. This demonstrates the power of intelligent search methods over brute force. → Transition: Let's now look at where this type of optimization is used in the real world.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 APPLICATIONS
The principles we've demonstrated today have broad real-world impact. In automotive engineering, GSS helps tune engine control parameters. Electric vehicles use similar optimization to maximize range on a single charge. Airlines apply it to find fuel-optimal cruising profiles that save millions in annual fuel costs. In logistics, fleet operators optimize speeds across hundreds of vehicles simultaneously. In machine learning, GSS is used to find optimal hyperparameters like learning rates — without needing gradient information. And in chemical plants and manufacturing, the same approach controls process variables for maximum efficiency. Optimization is truly a universal engineering tool. → Transition: Let's now summarize everything we've covered.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 CONCLUSION
To summarize our key findings: The fuel consumption function f(v) = 0.005(v−80)² + 6 is unimodal and convex — exactly the type of function GSS is designed for. Starting from the interval [40, 140] km/h, the Golden Section Search converged to v* = 80 km/h in under 20 iterations, with a minimum fuel consumption of 6 liters per 100 kilometers. Compared to brute force, which might require thousands of evaluations, GSS achieves the same result with roughly 18 function evaluations — a dramatic improvement in efficiency. The golden ratio φ = 0.618 is the mathematical foundation that makes this possible. I hope this presentation has given you a clear understanding of how numerical optimization — and specifically the Golden Section Search — can solve practical engineering problems with both elegance and efficiency. Thank you for your attention. I'm happy to take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1A36"/>
        </a:solidFill>
      </p:bgPr>
    </p:bg>
    <p:spTree>
      <p:nvGrpSpPr>
        <p:cNvPr id="1" name=""/>
        <p:cNvGrpSpPr/>
        <p:nvPr/>
      </p:nvGrpSpPr>
      <p:grpSpPr>
        <a:xfrm>
          <a:off x="0" y="0"/>
          <a:ext cx="0" cy="0"/>
          <a:chOff x="0" y="0"/>
          <a:chExt cx="0" cy="0"/>
        </a:xfrm>
      </p:grpSpPr>
      <p:sp>
        <p:nvSpPr>
          <p:cNvPr id="2" name="Shape 0"/>
          <p:cNvSpPr/>
          <p:nvPr/>
        </p:nvSpPr>
        <p:spPr>
          <a:xfrm>
            <a:off x="0" y="0"/>
            <a:ext cx="3200400" cy="5143500"/>
          </a:xfrm>
          <a:prstGeom prst="rect">
            <a:avLst/>
          </a:prstGeom>
          <a:solidFill>
            <a:srgbClr val="0D2B55"/>
          </a:solidFill>
          <a:ln w="12700">
            <a:solidFill>
              <a:srgbClr val="0D2B55"/>
            </a:solidFill>
            <a:prstDash val="solid"/>
          </a:ln>
        </p:spPr>
      </p:sp>
      <p:sp>
        <p:nvSpPr>
          <p:cNvPr id="3" name="Shape 1"/>
          <p:cNvSpPr/>
          <p:nvPr/>
        </p:nvSpPr>
        <p:spPr>
          <a:xfrm>
            <a:off x="3200400" y="4023360"/>
            <a:ext cx="5943600" cy="1120140"/>
          </a:xfrm>
          <a:prstGeom prst="rect">
            <a:avLst/>
          </a:prstGeom>
          <a:solidFill>
            <a:srgbClr val="1565C0">
              <a:alpha val="60000"/>
            </a:srgbClr>
          </a:solidFill>
          <a:ln w="12700">
            <a:solidFill>
              <a:srgbClr val="1565C0"/>
            </a:solidFill>
            <a:prstDash val="solid"/>
          </a:ln>
        </p:spPr>
      </p:sp>
      <p:sp>
        <p:nvSpPr>
          <p:cNvPr id="4" name="Shape 2"/>
          <p:cNvSpPr/>
          <p:nvPr/>
        </p:nvSpPr>
        <p:spPr>
          <a:xfrm>
            <a:off x="0" y="4023360"/>
            <a:ext cx="3200400" cy="1120140"/>
          </a:xfrm>
          <a:prstGeom prst="rect">
            <a:avLst/>
          </a:prstGeom>
          <a:solidFill>
            <a:srgbClr val="2196F3">
              <a:alpha val="70000"/>
            </a:srgbClr>
          </a:solidFill>
          <a:ln w="12700">
            <a:solidFill>
              <a:srgbClr val="2196F3"/>
            </a:solidFill>
            <a:prstDash val="solid"/>
          </a:ln>
        </p:spPr>
      </p:sp>
      <p:sp>
        <p:nvSpPr>
          <p:cNvPr id="5" name="Shape 3"/>
          <p:cNvSpPr/>
          <p:nvPr/>
        </p:nvSpPr>
        <p:spPr>
          <a:xfrm>
            <a:off x="3383280" y="1280160"/>
            <a:ext cx="54864" cy="2377440"/>
          </a:xfrm>
          <a:prstGeom prst="rect">
            <a:avLst/>
          </a:prstGeom>
          <a:solidFill>
            <a:srgbClr val="F59E0B"/>
          </a:solidFill>
          <a:ln w="12700">
            <a:solidFill>
              <a:srgbClr val="F59E0B"/>
            </a:solidFill>
            <a:prstDash val="solid"/>
          </a:ln>
        </p:spPr>
      </p:sp>
      <p:sp>
        <p:nvSpPr>
          <p:cNvPr id="6" name="Text 4"/>
          <p:cNvSpPr/>
          <p:nvPr/>
        </p:nvSpPr>
        <p:spPr>
          <a:xfrm>
            <a:off x="182880" y="457200"/>
            <a:ext cx="2834640" cy="2926080"/>
          </a:xfrm>
          <a:prstGeom prst="rect">
            <a:avLst/>
          </a:prstGeom>
          <a:noFill/>
          <a:ln/>
        </p:spPr>
        <p:txBody>
          <a:bodyPr wrap="square" rtlCol="0" anchor="ctr"/>
          <a:lstStyle/>
          <a:p>
            <a:pPr algn="ctr" indent="0" marL="0">
              <a:buNone/>
            </a:pPr>
            <a:r>
              <a:rPr lang="en-US" sz="2200" b="1" spc="200" kern="0" dirty="0">
                <a:solidFill>
                  <a:srgbClr val="FFFFFF"/>
                </a:solidFill>
                <a:latin typeface="Calibri" pitchFamily="34" charset="0"/>
                <a:ea typeface="Calibri" pitchFamily="34" charset="-122"/>
                <a:cs typeface="Calibri" pitchFamily="34" charset="-120"/>
              </a:rPr>
              <a:t>FUEL</a:t>
            </a:r>
            <a:endParaRPr lang="en-US" sz="2200" dirty="0"/>
          </a:p>
          <a:p>
            <a:pPr algn="ctr" indent="0" marL="0">
              <a:buNone/>
            </a:pPr>
            <a:r>
              <a:rPr lang="en-US" sz="2200" b="1" spc="200" kern="0" dirty="0">
                <a:solidFill>
                  <a:srgbClr val="FFFFFF"/>
                </a:solidFill>
                <a:latin typeface="Calibri" pitchFamily="34" charset="0"/>
                <a:ea typeface="Calibri" pitchFamily="34" charset="-122"/>
                <a:cs typeface="Calibri" pitchFamily="34" charset="-120"/>
              </a:rPr>
              <a:t>CONSUMPTION</a:t>
            </a:r>
            <a:endParaRPr lang="en-US" sz="2200" dirty="0"/>
          </a:p>
          <a:p>
            <a:pPr algn="ctr" indent="0" marL="0">
              <a:buNone/>
            </a:pPr>
            <a:r>
              <a:rPr lang="en-US" sz="2200" b="1" spc="200" kern="0" dirty="0">
                <a:solidFill>
                  <a:srgbClr val="FFFFFF"/>
                </a:solidFill>
                <a:latin typeface="Calibri" pitchFamily="34" charset="0"/>
                <a:ea typeface="Calibri" pitchFamily="34" charset="-122"/>
                <a:cs typeface="Calibri" pitchFamily="34" charset="-120"/>
              </a:rPr>
              <a:t>OPTIMIZATION</a:t>
            </a:r>
            <a:endParaRPr lang="en-US" sz="2200" dirty="0"/>
          </a:p>
        </p:txBody>
      </p:sp>
      <p:sp>
        <p:nvSpPr>
          <p:cNvPr id="7" name="Text 5"/>
          <p:cNvSpPr/>
          <p:nvPr/>
        </p:nvSpPr>
        <p:spPr>
          <a:xfrm>
            <a:off x="91440" y="3474720"/>
            <a:ext cx="3017520" cy="365760"/>
          </a:xfrm>
          <a:prstGeom prst="rect">
            <a:avLst/>
          </a:prstGeom>
          <a:noFill/>
          <a:ln/>
        </p:spPr>
        <p:txBody>
          <a:bodyPr wrap="square" rtlCol="0" anchor="ctr"/>
          <a:lstStyle/>
          <a:p>
            <a:pPr algn="ctr" indent="0" marL="0">
              <a:buNone/>
            </a:pPr>
            <a:r>
              <a:rPr lang="en-US" sz="950" i="1" dirty="0">
                <a:solidFill>
                  <a:srgbClr val="F59E0B"/>
                </a:solidFill>
                <a:latin typeface="Calibri" pitchFamily="34" charset="0"/>
                <a:ea typeface="Calibri" pitchFamily="34" charset="-122"/>
                <a:cs typeface="Calibri" pitchFamily="34" charset="-120"/>
              </a:rPr>
              <a:t>f(v) = 0.005(v−80)² + 6</a:t>
            </a:r>
            <a:endParaRPr lang="en-US" sz="950" dirty="0"/>
          </a:p>
        </p:txBody>
      </p:sp>
      <p:sp>
        <p:nvSpPr>
          <p:cNvPr id="8" name="Text 6"/>
          <p:cNvSpPr/>
          <p:nvPr/>
        </p:nvSpPr>
        <p:spPr>
          <a:xfrm>
            <a:off x="3566160" y="914400"/>
            <a:ext cx="5303520" cy="457200"/>
          </a:xfrm>
          <a:prstGeom prst="rect">
            <a:avLst/>
          </a:prstGeom>
          <a:noFill/>
          <a:ln/>
        </p:spPr>
        <p:txBody>
          <a:bodyPr wrap="square" rtlCol="0" anchor="ctr"/>
          <a:lstStyle/>
          <a:p>
            <a:pPr indent="0" marL="0">
              <a:buNone/>
            </a:pPr>
            <a:r>
              <a:rPr lang="en-US" sz="1300" b="1" i="1" dirty="0">
                <a:solidFill>
                  <a:srgbClr val="F59E0B"/>
                </a:solidFill>
                <a:latin typeface="Calibri" pitchFamily="34" charset="0"/>
                <a:ea typeface="Calibri" pitchFamily="34" charset="-122"/>
                <a:cs typeface="Calibri" pitchFamily="34" charset="-120"/>
              </a:rPr>
              <a:t>Using Golden Section Search</a:t>
            </a:r>
            <a:endParaRPr lang="en-US" sz="1300" dirty="0"/>
          </a:p>
        </p:txBody>
      </p:sp>
      <p:sp>
        <p:nvSpPr>
          <p:cNvPr id="9" name="Text 7"/>
          <p:cNvSpPr/>
          <p:nvPr/>
        </p:nvSpPr>
        <p:spPr>
          <a:xfrm>
            <a:off x="3566160" y="1371600"/>
            <a:ext cx="5303520" cy="1005840"/>
          </a:xfrm>
          <a:prstGeom prst="rect">
            <a:avLst/>
          </a:prstGeom>
          <a:noFill/>
          <a:ln/>
        </p:spPr>
        <p:txBody>
          <a:bodyPr wrap="square" rtlCol="0" anchor="ctr"/>
          <a:lstStyle/>
          <a:p>
            <a:pPr indent="0" marL="0">
              <a:buNone/>
            </a:pPr>
            <a:r>
              <a:rPr lang="en-US" sz="2800" b="1" spc="100" kern="0" dirty="0">
                <a:solidFill>
                  <a:srgbClr val="FFFFFF"/>
                </a:solidFill>
                <a:latin typeface="Calibri" pitchFamily="34" charset="0"/>
                <a:ea typeface="Calibri" pitchFamily="34" charset="-122"/>
                <a:cs typeface="Calibri" pitchFamily="34" charset="-120"/>
              </a:rPr>
              <a:t>NUMERICAL OPTIMIZATION</a:t>
            </a:r>
            <a:endParaRPr lang="en-US" sz="2800" dirty="0"/>
          </a:p>
          <a:p>
            <a:pPr indent="0" marL="0">
              <a:buNone/>
            </a:pPr>
            <a:r>
              <a:rPr lang="en-US" sz="2800" b="1" spc="100" kern="0" dirty="0">
                <a:solidFill>
                  <a:srgbClr val="FFFFFF"/>
                </a:solidFill>
                <a:latin typeface="Calibri" pitchFamily="34" charset="0"/>
                <a:ea typeface="Calibri" pitchFamily="34" charset="-122"/>
                <a:cs typeface="Calibri" pitchFamily="34" charset="-120"/>
              </a:rPr>
              <a:t>IN ENGINEERING</a:t>
            </a:r>
            <a:endParaRPr lang="en-US" sz="2800" dirty="0"/>
          </a:p>
        </p:txBody>
      </p:sp>
      <p:sp>
        <p:nvSpPr>
          <p:cNvPr id="10" name="Text 8"/>
          <p:cNvSpPr/>
          <p:nvPr/>
        </p:nvSpPr>
        <p:spPr>
          <a:xfrm>
            <a:off x="3566160" y="2423160"/>
            <a:ext cx="5303520" cy="685800"/>
          </a:xfrm>
          <a:prstGeom prst="rect">
            <a:avLst/>
          </a:prstGeom>
          <a:noFill/>
          <a:ln/>
        </p:spPr>
        <p:txBody>
          <a:bodyPr wrap="square" rtlCol="0" anchor="ctr"/>
          <a:lstStyle/>
          <a:p>
            <a:pPr indent="0" marL="0">
              <a:buNone/>
            </a:pPr>
            <a:r>
              <a:rPr lang="en-US" sz="1300" dirty="0">
                <a:solidFill>
                  <a:srgbClr val="CADCFC"/>
                </a:solidFill>
                <a:latin typeface="Calibri" pitchFamily="34" charset="0"/>
                <a:ea typeface="Calibri" pitchFamily="34" charset="-122"/>
                <a:cs typeface="Calibri" pitchFamily="34" charset="-120"/>
              </a:rPr>
              <a:t>Finding the Optimal Driving Speed</a:t>
            </a:r>
            <a:endParaRPr lang="en-US" sz="1300" dirty="0"/>
          </a:p>
          <a:p>
            <a:pPr indent="0" marL="0">
              <a:buNone/>
            </a:pPr>
            <a:r>
              <a:rPr lang="en-US" sz="1300" dirty="0">
                <a:solidFill>
                  <a:srgbClr val="CADCFC"/>
                </a:solidFill>
                <a:latin typeface="Calibri" pitchFamily="34" charset="0"/>
                <a:ea typeface="Calibri" pitchFamily="34" charset="-122"/>
                <a:cs typeface="Calibri" pitchFamily="34" charset="-120"/>
              </a:rPr>
              <a:t>to Minimize Fuel Consumption</a:t>
            </a:r>
            <a:endParaRPr lang="en-US" sz="1300" dirty="0"/>
          </a:p>
        </p:txBody>
      </p:sp>
      <p:sp>
        <p:nvSpPr>
          <p:cNvPr id="11" name="Shape 9"/>
          <p:cNvSpPr/>
          <p:nvPr/>
        </p:nvSpPr>
        <p:spPr>
          <a:xfrm>
            <a:off x="3566160" y="4114800"/>
            <a:ext cx="1325880" cy="822960"/>
          </a:xfrm>
          <a:prstGeom prst="rect">
            <a:avLst/>
          </a:prstGeom>
          <a:solidFill>
            <a:srgbClr val="0D2B55">
              <a:alpha val="70000"/>
            </a:srgbClr>
          </a:solidFill>
          <a:ln w="15240">
            <a:solidFill>
              <a:srgbClr val="2196F3"/>
            </a:solidFill>
            <a:prstDash val="solid"/>
          </a:ln>
        </p:spPr>
      </p:sp>
      <p:sp>
        <p:nvSpPr>
          <p:cNvPr id="12" name="Text 10"/>
          <p:cNvSpPr/>
          <p:nvPr/>
        </p:nvSpPr>
        <p:spPr>
          <a:xfrm>
            <a:off x="3566160" y="4133088"/>
            <a:ext cx="1325880" cy="256032"/>
          </a:xfrm>
          <a:prstGeom prst="rect">
            <a:avLst/>
          </a:prstGeom>
          <a:noFill/>
          <a:ln/>
        </p:spPr>
        <p:txBody>
          <a:bodyPr wrap="square" rtlCol="0" anchor="ctr"/>
          <a:lstStyle/>
          <a:p>
            <a:pPr algn="ctr" indent="0" marL="0">
              <a:buNone/>
            </a:pPr>
            <a:r>
              <a:rPr lang="en-US" sz="700" b="1" dirty="0">
                <a:solidFill>
                  <a:srgbClr val="F59E0B"/>
                </a:solidFill>
              </a:rPr>
              <a:t>STUDENT</a:t>
            </a:r>
            <a:endParaRPr lang="en-US" sz="700" dirty="0"/>
          </a:p>
        </p:txBody>
      </p:sp>
      <p:sp>
        <p:nvSpPr>
          <p:cNvPr id="13" name="Text 11"/>
          <p:cNvSpPr/>
          <p:nvPr/>
        </p:nvSpPr>
        <p:spPr>
          <a:xfrm>
            <a:off x="3566160" y="4389120"/>
            <a:ext cx="1325880" cy="457200"/>
          </a:xfrm>
          <a:prstGeom prst="rect">
            <a:avLst/>
          </a:prstGeom>
          <a:noFill/>
          <a:ln/>
        </p:spPr>
        <p:txBody>
          <a:bodyPr wrap="square" rtlCol="0" anchor="t"/>
          <a:lstStyle/>
          <a:p>
            <a:pPr algn="ctr" indent="0" marL="0">
              <a:buNone/>
            </a:pPr>
            <a:r>
              <a:rPr lang="en-US" sz="850" dirty="0">
                <a:solidFill>
                  <a:srgbClr val="FFFFFF"/>
                </a:solidFill>
              </a:rPr>
              <a:t>[Your Name Here]</a:t>
            </a:r>
            <a:endParaRPr lang="en-US" sz="850" dirty="0"/>
          </a:p>
        </p:txBody>
      </p:sp>
      <p:sp>
        <p:nvSpPr>
          <p:cNvPr id="14" name="Shape 12"/>
          <p:cNvSpPr/>
          <p:nvPr/>
        </p:nvSpPr>
        <p:spPr>
          <a:xfrm>
            <a:off x="4983480" y="4114800"/>
            <a:ext cx="1325880" cy="822960"/>
          </a:xfrm>
          <a:prstGeom prst="rect">
            <a:avLst/>
          </a:prstGeom>
          <a:solidFill>
            <a:srgbClr val="0D2B55">
              <a:alpha val="70000"/>
            </a:srgbClr>
          </a:solidFill>
          <a:ln w="15240">
            <a:solidFill>
              <a:srgbClr val="2196F3"/>
            </a:solidFill>
            <a:prstDash val="solid"/>
          </a:ln>
        </p:spPr>
      </p:sp>
      <p:sp>
        <p:nvSpPr>
          <p:cNvPr id="15" name="Text 13"/>
          <p:cNvSpPr/>
          <p:nvPr/>
        </p:nvSpPr>
        <p:spPr>
          <a:xfrm>
            <a:off x="4983480" y="4133088"/>
            <a:ext cx="1325880" cy="256032"/>
          </a:xfrm>
          <a:prstGeom prst="rect">
            <a:avLst/>
          </a:prstGeom>
          <a:noFill/>
          <a:ln/>
        </p:spPr>
        <p:txBody>
          <a:bodyPr wrap="square" rtlCol="0" anchor="ctr"/>
          <a:lstStyle/>
          <a:p>
            <a:pPr algn="ctr" indent="0" marL="0">
              <a:buNone/>
            </a:pPr>
            <a:r>
              <a:rPr lang="en-US" sz="700" b="1" dirty="0">
                <a:solidFill>
                  <a:srgbClr val="F59E0B"/>
                </a:solidFill>
              </a:rPr>
              <a:t>INSTRUCTOR</a:t>
            </a:r>
            <a:endParaRPr lang="en-US" sz="700" dirty="0"/>
          </a:p>
        </p:txBody>
      </p:sp>
      <p:sp>
        <p:nvSpPr>
          <p:cNvPr id="16" name="Text 14"/>
          <p:cNvSpPr/>
          <p:nvPr/>
        </p:nvSpPr>
        <p:spPr>
          <a:xfrm>
            <a:off x="4983480" y="4389120"/>
            <a:ext cx="1325880" cy="457200"/>
          </a:xfrm>
          <a:prstGeom prst="rect">
            <a:avLst/>
          </a:prstGeom>
          <a:noFill/>
          <a:ln/>
        </p:spPr>
        <p:txBody>
          <a:bodyPr wrap="square" rtlCol="0" anchor="t"/>
          <a:lstStyle/>
          <a:p>
            <a:pPr algn="ctr" indent="0" marL="0">
              <a:buNone/>
            </a:pPr>
            <a:r>
              <a:rPr lang="en-US" sz="850" dirty="0">
                <a:solidFill>
                  <a:srgbClr val="FFFFFF"/>
                </a:solidFill>
              </a:rPr>
              <a:t>[Prof. Name]</a:t>
            </a:r>
            <a:endParaRPr lang="en-US" sz="850" dirty="0"/>
          </a:p>
        </p:txBody>
      </p:sp>
      <p:sp>
        <p:nvSpPr>
          <p:cNvPr id="17" name="Shape 15"/>
          <p:cNvSpPr/>
          <p:nvPr/>
        </p:nvSpPr>
        <p:spPr>
          <a:xfrm>
            <a:off x="6400800" y="4114800"/>
            <a:ext cx="1325880" cy="822960"/>
          </a:xfrm>
          <a:prstGeom prst="rect">
            <a:avLst/>
          </a:prstGeom>
          <a:solidFill>
            <a:srgbClr val="0D2B55">
              <a:alpha val="70000"/>
            </a:srgbClr>
          </a:solidFill>
          <a:ln w="15240">
            <a:solidFill>
              <a:srgbClr val="2196F3"/>
            </a:solidFill>
            <a:prstDash val="solid"/>
          </a:ln>
        </p:spPr>
      </p:sp>
      <p:sp>
        <p:nvSpPr>
          <p:cNvPr id="18" name="Text 16"/>
          <p:cNvSpPr/>
          <p:nvPr/>
        </p:nvSpPr>
        <p:spPr>
          <a:xfrm>
            <a:off x="6400800" y="4133088"/>
            <a:ext cx="1325880" cy="256032"/>
          </a:xfrm>
          <a:prstGeom prst="rect">
            <a:avLst/>
          </a:prstGeom>
          <a:noFill/>
          <a:ln/>
        </p:spPr>
        <p:txBody>
          <a:bodyPr wrap="square" rtlCol="0" anchor="ctr"/>
          <a:lstStyle/>
          <a:p>
            <a:pPr algn="ctr" indent="0" marL="0">
              <a:buNone/>
            </a:pPr>
            <a:r>
              <a:rPr lang="en-US" sz="700" b="1" dirty="0">
                <a:solidFill>
                  <a:srgbClr val="F59E0B"/>
                </a:solidFill>
              </a:rPr>
              <a:t>UNIVERSITY</a:t>
            </a:r>
            <a:endParaRPr lang="en-US" sz="700" dirty="0"/>
          </a:p>
        </p:txBody>
      </p:sp>
      <p:sp>
        <p:nvSpPr>
          <p:cNvPr id="19" name="Text 17"/>
          <p:cNvSpPr/>
          <p:nvPr/>
        </p:nvSpPr>
        <p:spPr>
          <a:xfrm>
            <a:off x="6400800" y="4389120"/>
            <a:ext cx="1325880" cy="457200"/>
          </a:xfrm>
          <a:prstGeom prst="rect">
            <a:avLst/>
          </a:prstGeom>
          <a:noFill/>
          <a:ln/>
        </p:spPr>
        <p:txBody>
          <a:bodyPr wrap="square" rtlCol="0" anchor="t"/>
          <a:lstStyle/>
          <a:p>
            <a:pPr algn="ctr" indent="0" marL="0">
              <a:buNone/>
            </a:pPr>
            <a:r>
              <a:rPr lang="en-US" sz="850" dirty="0">
                <a:solidFill>
                  <a:srgbClr val="FFFFFF"/>
                </a:solidFill>
              </a:rPr>
              <a:t>[University Name]</a:t>
            </a:r>
            <a:endParaRPr lang="en-US" sz="850" dirty="0"/>
          </a:p>
        </p:txBody>
      </p:sp>
      <p:sp>
        <p:nvSpPr>
          <p:cNvPr id="20" name="Shape 18"/>
          <p:cNvSpPr/>
          <p:nvPr/>
        </p:nvSpPr>
        <p:spPr>
          <a:xfrm>
            <a:off x="7818120" y="4114800"/>
            <a:ext cx="1325880" cy="822960"/>
          </a:xfrm>
          <a:prstGeom prst="rect">
            <a:avLst/>
          </a:prstGeom>
          <a:solidFill>
            <a:srgbClr val="0D2B55">
              <a:alpha val="70000"/>
            </a:srgbClr>
          </a:solidFill>
          <a:ln w="15240">
            <a:solidFill>
              <a:srgbClr val="2196F3"/>
            </a:solidFill>
            <a:prstDash val="solid"/>
          </a:ln>
        </p:spPr>
      </p:sp>
      <p:sp>
        <p:nvSpPr>
          <p:cNvPr id="21" name="Text 19"/>
          <p:cNvSpPr/>
          <p:nvPr/>
        </p:nvSpPr>
        <p:spPr>
          <a:xfrm>
            <a:off x="7818120" y="4133088"/>
            <a:ext cx="1325880" cy="256032"/>
          </a:xfrm>
          <a:prstGeom prst="rect">
            <a:avLst/>
          </a:prstGeom>
          <a:noFill/>
          <a:ln/>
        </p:spPr>
        <p:txBody>
          <a:bodyPr wrap="square" rtlCol="0" anchor="ctr"/>
          <a:lstStyle/>
          <a:p>
            <a:pPr algn="ctr" indent="0" marL="0">
              <a:buNone/>
            </a:pPr>
            <a:r>
              <a:rPr lang="en-US" sz="700" b="1" dirty="0">
                <a:solidFill>
                  <a:srgbClr val="F59E0B"/>
                </a:solidFill>
              </a:rPr>
              <a:t>COURSE</a:t>
            </a:r>
            <a:endParaRPr lang="en-US" sz="700" dirty="0"/>
          </a:p>
        </p:txBody>
      </p:sp>
      <p:sp>
        <p:nvSpPr>
          <p:cNvPr id="22" name="Text 20"/>
          <p:cNvSpPr/>
          <p:nvPr/>
        </p:nvSpPr>
        <p:spPr>
          <a:xfrm>
            <a:off x="7818120" y="4389120"/>
            <a:ext cx="1325880" cy="457200"/>
          </a:xfrm>
          <a:prstGeom prst="rect">
            <a:avLst/>
          </a:prstGeom>
          <a:noFill/>
          <a:ln/>
        </p:spPr>
        <p:txBody>
          <a:bodyPr wrap="square" rtlCol="0" anchor="t"/>
          <a:lstStyle/>
          <a:p>
            <a:pPr algn="ctr" indent="0" marL="0">
              <a:buNone/>
            </a:pPr>
            <a:r>
              <a:rPr lang="en-US" sz="850" dirty="0">
                <a:solidFill>
                  <a:srgbClr val="FFFFFF"/>
                </a:solidFill>
              </a:rPr>
              <a:t>Numerical Methods / Optimization</a:t>
            </a:r>
            <a:endParaRPr lang="en-US" sz="850" dirty="0"/>
          </a:p>
        </p:txBody>
      </p:sp>
      <p:sp>
        <p:nvSpPr>
          <p:cNvPr id="23" name="Text 21"/>
          <p:cNvSpPr/>
          <p:nvPr/>
        </p:nvSpPr>
        <p:spPr>
          <a:xfrm>
            <a:off x="7955280" y="4846320"/>
            <a:ext cx="914400" cy="182880"/>
          </a:xfrm>
          <a:prstGeom prst="rect">
            <a:avLst/>
          </a:prstGeom>
          <a:noFill/>
          <a:ln/>
        </p:spPr>
        <p:txBody>
          <a:bodyPr wrap="square" rtlCol="0" anchor="ctr"/>
          <a:lstStyle/>
          <a:p>
            <a:pPr algn="r" indent="0" marL="0">
              <a:buNone/>
            </a:pPr>
            <a:r>
              <a:rPr lang="en-US" sz="800" dirty="0">
                <a:solidFill>
                  <a:srgbClr val="94A3B8"/>
                </a:solidFill>
              </a:rPr>
              <a:t>01 / 13</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365760" y="164592"/>
            <a:ext cx="1645920" cy="292608"/>
          </a:xfrm>
          <a:prstGeom prst="roundRect">
            <a:avLst>
              <a:gd name="adj" fmla="val 25000"/>
            </a:avLst>
          </a:prstGeom>
          <a:solidFill>
            <a:srgbClr val="F59E0B"/>
          </a:solidFill>
          <a:ln w="12700">
            <a:solidFill>
              <a:srgbClr val="F59E0B"/>
            </a:solidFill>
            <a:prstDash val="solid"/>
          </a:ln>
        </p:spPr>
      </p:sp>
      <p:sp>
        <p:nvSpPr>
          <p:cNvPr id="3" name="Text 1"/>
          <p:cNvSpPr/>
          <p:nvPr/>
        </p:nvSpPr>
        <p:spPr>
          <a:xfrm>
            <a:off x="365760" y="164592"/>
            <a:ext cx="1645920" cy="292608"/>
          </a:xfrm>
          <a:prstGeom prst="rect">
            <a:avLst/>
          </a:prstGeom>
          <a:noFill/>
          <a:ln/>
        </p:spPr>
        <p:txBody>
          <a:bodyPr wrap="square" rtlCol="0" anchor="ctr"/>
          <a:lstStyle/>
          <a:p>
            <a:pPr algn="ctr" indent="0" marL="0">
              <a:buNone/>
            </a:pPr>
            <a:r>
              <a:rPr lang="en-US" sz="900" b="1" dirty="0">
                <a:solidFill>
                  <a:srgbClr val="0D2B55"/>
                </a:solidFill>
              </a:rPr>
              <a:t>OVERVIEW</a:t>
            </a:r>
            <a:endParaRPr lang="en-US" sz="900" dirty="0"/>
          </a:p>
        </p:txBody>
      </p:sp>
      <p:sp>
        <p:nvSpPr>
          <p:cNvPr id="4" name="Text 2"/>
          <p:cNvSpPr/>
          <p:nvPr/>
        </p:nvSpPr>
        <p:spPr>
          <a:xfrm>
            <a:off x="365760" y="502920"/>
            <a:ext cx="8412480" cy="640080"/>
          </a:xfrm>
          <a:prstGeom prst="rect">
            <a:avLst/>
          </a:prstGeom>
          <a:noFill/>
          <a:ln/>
        </p:spPr>
        <p:txBody>
          <a:bodyPr wrap="square" rtlCol="0" anchor="ctr"/>
          <a:lstStyle/>
          <a:p>
            <a:pPr indent="0" marL="0">
              <a:buNone/>
            </a:pPr>
            <a:r>
              <a:rPr lang="en-US" sz="2600" b="1" dirty="0">
                <a:solidFill>
                  <a:srgbClr val="0D2B55"/>
                </a:solidFill>
                <a:latin typeface="Calibri" pitchFamily="34" charset="0"/>
                <a:ea typeface="Calibri" pitchFamily="34" charset="-122"/>
                <a:cs typeface="Calibri" pitchFamily="34" charset="-120"/>
              </a:rPr>
              <a:t>Introduction to Optimization</a:t>
            </a:r>
            <a:endParaRPr lang="en-US" sz="2600" dirty="0"/>
          </a:p>
        </p:txBody>
      </p:sp>
      <p:sp>
        <p:nvSpPr>
          <p:cNvPr id="5" name="Text 3"/>
          <p:cNvSpPr/>
          <p:nvPr/>
        </p:nvSpPr>
        <p:spPr>
          <a:xfrm>
            <a:off x="365760" y="1097280"/>
            <a:ext cx="8412480" cy="320040"/>
          </a:xfrm>
          <a:prstGeom prst="rect">
            <a:avLst/>
          </a:prstGeom>
          <a:noFill/>
          <a:ln/>
        </p:spPr>
        <p:txBody>
          <a:bodyPr wrap="square" rtlCol="0" anchor="ctr"/>
          <a:lstStyle/>
          <a:p>
            <a:pPr indent="0" marL="0">
              <a:buNone/>
            </a:pPr>
            <a:r>
              <a:rPr lang="en-US" sz="1300" i="1" dirty="0">
                <a:solidFill>
                  <a:srgbClr val="1565C0"/>
                </a:solidFill>
                <a:latin typeface="Calibri" pitchFamily="34" charset="0"/>
                <a:ea typeface="Calibri" pitchFamily="34" charset="-122"/>
                <a:cs typeface="Calibri" pitchFamily="34" charset="-120"/>
              </a:rPr>
              <a:t>Why solving for the best — not just good enough — matters</a:t>
            </a:r>
            <a:endParaRPr lang="en-US" sz="1300" dirty="0"/>
          </a:p>
        </p:txBody>
      </p:sp>
      <p:sp>
        <p:nvSpPr>
          <p:cNvPr id="6" name="Shape 4"/>
          <p:cNvSpPr/>
          <p:nvPr/>
        </p:nvSpPr>
        <p:spPr>
          <a:xfrm>
            <a:off x="365760" y="1463040"/>
            <a:ext cx="4023360" cy="1371600"/>
          </a:xfrm>
          <a:prstGeom prst="rect">
            <a:avLst/>
          </a:prstGeom>
          <a:solidFill>
            <a:srgbClr val="0D2B55"/>
          </a:solidFill>
          <a:ln w="12700">
            <a:solidFill>
              <a:srgbClr val="0D2B55"/>
            </a:solidFill>
            <a:prstDash val="solid"/>
          </a:ln>
          <a:effectLst>
            <a:outerShdw sx="100000" sy="100000" kx="0" ky="0" algn="bl" rotWithShape="0" blurRad="101600" dist="38100" dir="8100000">
              <a:srgbClr val="000000">
                <a:alpha val="12000"/>
              </a:srgbClr>
            </a:outerShdw>
          </a:effectLst>
        </p:spPr>
      </p:sp>
      <p:sp>
        <p:nvSpPr>
          <p:cNvPr id="7" name="Text 5"/>
          <p:cNvSpPr/>
          <p:nvPr/>
        </p:nvSpPr>
        <p:spPr>
          <a:xfrm>
            <a:off x="457200" y="1508760"/>
            <a:ext cx="3840480" cy="365760"/>
          </a:xfrm>
          <a:prstGeom prst="rect">
            <a:avLst/>
          </a:prstGeom>
          <a:noFill/>
          <a:ln/>
        </p:spPr>
        <p:txBody>
          <a:bodyPr wrap="square" rtlCol="0" anchor="ctr"/>
          <a:lstStyle/>
          <a:p>
            <a:pPr indent="0" marL="0">
              <a:buNone/>
            </a:pPr>
            <a:r>
              <a:rPr lang="en-US" sz="1300" b="1" dirty="0">
                <a:solidFill>
                  <a:srgbClr val="F59E0B"/>
                </a:solidFill>
              </a:rPr>
              <a:t>What is Optimization?</a:t>
            </a:r>
            <a:endParaRPr lang="en-US" sz="1300" dirty="0"/>
          </a:p>
        </p:txBody>
      </p:sp>
      <p:sp>
        <p:nvSpPr>
          <p:cNvPr id="8" name="Text 6"/>
          <p:cNvSpPr/>
          <p:nvPr/>
        </p:nvSpPr>
        <p:spPr>
          <a:xfrm>
            <a:off x="457200" y="1874520"/>
            <a:ext cx="3840480" cy="91440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The process of finding the best solution from a set of feasible alternatives — maximizing efficiency or minimizing cost, time, or resources.</a:t>
            </a:r>
            <a:endParaRPr lang="en-US" sz="1100" dirty="0"/>
          </a:p>
        </p:txBody>
      </p:sp>
      <p:sp>
        <p:nvSpPr>
          <p:cNvPr id="9" name="Shape 7"/>
          <p:cNvSpPr/>
          <p:nvPr/>
        </p:nvSpPr>
        <p:spPr>
          <a:xfrm>
            <a:off x="4572000" y="1417320"/>
            <a:ext cx="2011680" cy="1005840"/>
          </a:xfrm>
          <a:prstGeom prst="rect">
            <a:avLst/>
          </a:prstGeom>
          <a:solidFill>
            <a:srgbClr val="FFFFFF"/>
          </a:solidFill>
          <a:ln w="12700">
            <a:solidFill>
              <a:srgbClr val="D1D5DB"/>
            </a:solidFill>
            <a:prstDash val="solid"/>
          </a:ln>
          <a:effectLst>
            <a:outerShdw sx="100000" sy="100000" kx="0" ky="0" algn="bl" rotWithShape="0" blurRad="101600" dist="38100" dir="8100000">
              <a:srgbClr val="000000">
                <a:alpha val="12000"/>
              </a:srgbClr>
            </a:outerShdw>
          </a:effectLst>
        </p:spPr>
      </p:sp>
      <p:sp>
        <p:nvSpPr>
          <p:cNvPr id="10" name="Text 8"/>
          <p:cNvSpPr/>
          <p:nvPr/>
        </p:nvSpPr>
        <p:spPr>
          <a:xfrm>
            <a:off x="4681728" y="1490472"/>
            <a:ext cx="1828800" cy="347472"/>
          </a:xfrm>
          <a:prstGeom prst="rect">
            <a:avLst/>
          </a:prstGeom>
          <a:noFill/>
          <a:ln/>
        </p:spPr>
        <p:txBody>
          <a:bodyPr wrap="square" rtlCol="0" anchor="ctr"/>
          <a:lstStyle/>
          <a:p>
            <a:pPr indent="0" marL="0">
              <a:buNone/>
            </a:pPr>
            <a:r>
              <a:rPr lang="en-US" sz="1100" b="1" dirty="0">
                <a:solidFill>
                  <a:srgbClr val="0D2B55"/>
                </a:solidFill>
              </a:rPr>
              <a:t>🚗  Transportation</a:t>
            </a:r>
            <a:endParaRPr lang="en-US" sz="1100" dirty="0"/>
          </a:p>
        </p:txBody>
      </p:sp>
      <p:sp>
        <p:nvSpPr>
          <p:cNvPr id="11" name="Text 9"/>
          <p:cNvSpPr/>
          <p:nvPr/>
        </p:nvSpPr>
        <p:spPr>
          <a:xfrm>
            <a:off x="4681728" y="1856232"/>
            <a:ext cx="1828800" cy="365760"/>
          </a:xfrm>
          <a:prstGeom prst="rect">
            <a:avLst/>
          </a:prstGeom>
          <a:noFill/>
          <a:ln/>
        </p:spPr>
        <p:txBody>
          <a:bodyPr wrap="square" rtlCol="0" anchor="ctr"/>
          <a:lstStyle/>
          <a:p>
            <a:pPr indent="0" marL="0">
              <a:buNone/>
            </a:pPr>
            <a:r>
              <a:rPr lang="en-US" sz="950" dirty="0">
                <a:solidFill>
                  <a:srgbClr val="1E293B"/>
                </a:solidFill>
              </a:rPr>
              <a:t>Optimal routes &amp; speeds</a:t>
            </a:r>
            <a:endParaRPr lang="en-US" sz="950" dirty="0"/>
          </a:p>
        </p:txBody>
      </p:sp>
      <p:sp>
        <p:nvSpPr>
          <p:cNvPr id="12" name="Shape 10"/>
          <p:cNvSpPr/>
          <p:nvPr/>
        </p:nvSpPr>
        <p:spPr>
          <a:xfrm>
            <a:off x="6720840" y="1417320"/>
            <a:ext cx="2011680" cy="1005840"/>
          </a:xfrm>
          <a:prstGeom prst="rect">
            <a:avLst/>
          </a:prstGeom>
          <a:solidFill>
            <a:srgbClr val="FFFFFF"/>
          </a:solidFill>
          <a:ln w="12700">
            <a:solidFill>
              <a:srgbClr val="D1D5DB"/>
            </a:solidFill>
            <a:prstDash val="solid"/>
          </a:ln>
          <a:effectLst>
            <a:outerShdw sx="100000" sy="100000" kx="0" ky="0" algn="bl" rotWithShape="0" blurRad="101600" dist="38100" dir="8100000">
              <a:srgbClr val="000000">
                <a:alpha val="12000"/>
              </a:srgbClr>
            </a:outerShdw>
          </a:effectLst>
        </p:spPr>
      </p:sp>
      <p:sp>
        <p:nvSpPr>
          <p:cNvPr id="13" name="Text 11"/>
          <p:cNvSpPr/>
          <p:nvPr/>
        </p:nvSpPr>
        <p:spPr>
          <a:xfrm>
            <a:off x="6830568" y="1490472"/>
            <a:ext cx="1828800" cy="347472"/>
          </a:xfrm>
          <a:prstGeom prst="rect">
            <a:avLst/>
          </a:prstGeom>
          <a:noFill/>
          <a:ln/>
        </p:spPr>
        <p:txBody>
          <a:bodyPr wrap="square" rtlCol="0" anchor="ctr"/>
          <a:lstStyle/>
          <a:p>
            <a:pPr indent="0" marL="0">
              <a:buNone/>
            </a:pPr>
            <a:r>
              <a:rPr lang="en-US" sz="1100" b="1" dirty="0">
                <a:solidFill>
                  <a:srgbClr val="0D2B55"/>
                </a:solidFill>
              </a:rPr>
              <a:t>🤖  Artificial Intelligence</a:t>
            </a:r>
            <a:endParaRPr lang="en-US" sz="1100" dirty="0"/>
          </a:p>
        </p:txBody>
      </p:sp>
      <p:sp>
        <p:nvSpPr>
          <p:cNvPr id="14" name="Text 12"/>
          <p:cNvSpPr/>
          <p:nvPr/>
        </p:nvSpPr>
        <p:spPr>
          <a:xfrm>
            <a:off x="6830568" y="1856232"/>
            <a:ext cx="1828800" cy="365760"/>
          </a:xfrm>
          <a:prstGeom prst="rect">
            <a:avLst/>
          </a:prstGeom>
          <a:noFill/>
          <a:ln/>
        </p:spPr>
        <p:txBody>
          <a:bodyPr wrap="square" rtlCol="0" anchor="ctr"/>
          <a:lstStyle/>
          <a:p>
            <a:pPr indent="0" marL="0">
              <a:buNone/>
            </a:pPr>
            <a:r>
              <a:rPr lang="en-US" sz="950" dirty="0">
                <a:solidFill>
                  <a:srgbClr val="1E293B"/>
                </a:solidFill>
              </a:rPr>
              <a:t>Training neural networks</a:t>
            </a:r>
            <a:endParaRPr lang="en-US" sz="950" dirty="0"/>
          </a:p>
        </p:txBody>
      </p:sp>
      <p:sp>
        <p:nvSpPr>
          <p:cNvPr id="15" name="Shape 13"/>
          <p:cNvSpPr/>
          <p:nvPr/>
        </p:nvSpPr>
        <p:spPr>
          <a:xfrm>
            <a:off x="4572000" y="2560320"/>
            <a:ext cx="2011680" cy="1005840"/>
          </a:xfrm>
          <a:prstGeom prst="rect">
            <a:avLst/>
          </a:prstGeom>
          <a:solidFill>
            <a:srgbClr val="FFFFFF"/>
          </a:solidFill>
          <a:ln w="12700">
            <a:solidFill>
              <a:srgbClr val="D1D5DB"/>
            </a:solidFill>
            <a:prstDash val="solid"/>
          </a:ln>
          <a:effectLst>
            <a:outerShdw sx="100000" sy="100000" kx="0" ky="0" algn="bl" rotWithShape="0" blurRad="101600" dist="38100" dir="8100000">
              <a:srgbClr val="000000">
                <a:alpha val="12000"/>
              </a:srgbClr>
            </a:outerShdw>
          </a:effectLst>
        </p:spPr>
      </p:sp>
      <p:sp>
        <p:nvSpPr>
          <p:cNvPr id="16" name="Text 14"/>
          <p:cNvSpPr/>
          <p:nvPr/>
        </p:nvSpPr>
        <p:spPr>
          <a:xfrm>
            <a:off x="4681728" y="2633472"/>
            <a:ext cx="1828800" cy="347472"/>
          </a:xfrm>
          <a:prstGeom prst="rect">
            <a:avLst/>
          </a:prstGeom>
          <a:noFill/>
          <a:ln/>
        </p:spPr>
        <p:txBody>
          <a:bodyPr wrap="square" rtlCol="0" anchor="ctr"/>
          <a:lstStyle/>
          <a:p>
            <a:pPr indent="0" marL="0">
              <a:buNone/>
            </a:pPr>
            <a:r>
              <a:rPr lang="en-US" sz="1100" b="1" dirty="0">
                <a:solidFill>
                  <a:srgbClr val="0D2B55"/>
                </a:solidFill>
              </a:rPr>
              <a:t>⚡  Energy Systems</a:t>
            </a:r>
            <a:endParaRPr lang="en-US" sz="1100" dirty="0"/>
          </a:p>
        </p:txBody>
      </p:sp>
      <p:sp>
        <p:nvSpPr>
          <p:cNvPr id="17" name="Text 15"/>
          <p:cNvSpPr/>
          <p:nvPr/>
        </p:nvSpPr>
        <p:spPr>
          <a:xfrm>
            <a:off x="4681728" y="2999232"/>
            <a:ext cx="1828800" cy="365760"/>
          </a:xfrm>
          <a:prstGeom prst="rect">
            <a:avLst/>
          </a:prstGeom>
          <a:noFill/>
          <a:ln/>
        </p:spPr>
        <p:txBody>
          <a:bodyPr wrap="square" rtlCol="0" anchor="ctr"/>
          <a:lstStyle/>
          <a:p>
            <a:pPr indent="0" marL="0">
              <a:buNone/>
            </a:pPr>
            <a:r>
              <a:rPr lang="en-US" sz="950" dirty="0">
                <a:solidFill>
                  <a:srgbClr val="1E293B"/>
                </a:solidFill>
              </a:rPr>
              <a:t>Power grid optimization</a:t>
            </a:r>
            <a:endParaRPr lang="en-US" sz="950" dirty="0"/>
          </a:p>
        </p:txBody>
      </p:sp>
      <p:sp>
        <p:nvSpPr>
          <p:cNvPr id="18" name="Shape 16"/>
          <p:cNvSpPr/>
          <p:nvPr/>
        </p:nvSpPr>
        <p:spPr>
          <a:xfrm>
            <a:off x="6720840" y="2560320"/>
            <a:ext cx="2011680" cy="1005840"/>
          </a:xfrm>
          <a:prstGeom prst="rect">
            <a:avLst/>
          </a:prstGeom>
          <a:solidFill>
            <a:srgbClr val="FFFFFF"/>
          </a:solidFill>
          <a:ln w="12700">
            <a:solidFill>
              <a:srgbClr val="D1D5DB"/>
            </a:solidFill>
            <a:prstDash val="solid"/>
          </a:ln>
          <a:effectLst>
            <a:outerShdw sx="100000" sy="100000" kx="0" ky="0" algn="bl" rotWithShape="0" blurRad="101600" dist="38100" dir="8100000">
              <a:srgbClr val="000000">
                <a:alpha val="12000"/>
              </a:srgbClr>
            </a:outerShdw>
          </a:effectLst>
        </p:spPr>
      </p:sp>
      <p:sp>
        <p:nvSpPr>
          <p:cNvPr id="19" name="Text 17"/>
          <p:cNvSpPr/>
          <p:nvPr/>
        </p:nvSpPr>
        <p:spPr>
          <a:xfrm>
            <a:off x="6830568" y="2633472"/>
            <a:ext cx="1828800" cy="347472"/>
          </a:xfrm>
          <a:prstGeom prst="rect">
            <a:avLst/>
          </a:prstGeom>
          <a:noFill/>
          <a:ln/>
        </p:spPr>
        <p:txBody>
          <a:bodyPr wrap="square" rtlCol="0" anchor="ctr"/>
          <a:lstStyle/>
          <a:p>
            <a:pPr indent="0" marL="0">
              <a:buNone/>
            </a:pPr>
            <a:r>
              <a:rPr lang="en-US" sz="1100" b="1" dirty="0">
                <a:solidFill>
                  <a:srgbClr val="0D2B55"/>
                </a:solidFill>
              </a:rPr>
              <a:t>🏭  Manufacturing</a:t>
            </a:r>
            <a:endParaRPr lang="en-US" sz="1100" dirty="0"/>
          </a:p>
        </p:txBody>
      </p:sp>
      <p:sp>
        <p:nvSpPr>
          <p:cNvPr id="20" name="Text 18"/>
          <p:cNvSpPr/>
          <p:nvPr/>
        </p:nvSpPr>
        <p:spPr>
          <a:xfrm>
            <a:off x="6830568" y="2999232"/>
            <a:ext cx="1828800" cy="365760"/>
          </a:xfrm>
          <a:prstGeom prst="rect">
            <a:avLst/>
          </a:prstGeom>
          <a:noFill/>
          <a:ln/>
        </p:spPr>
        <p:txBody>
          <a:bodyPr wrap="square" rtlCol="0" anchor="ctr"/>
          <a:lstStyle/>
          <a:p>
            <a:pPr indent="0" marL="0">
              <a:buNone/>
            </a:pPr>
            <a:r>
              <a:rPr lang="en-US" sz="950" dirty="0">
                <a:solidFill>
                  <a:srgbClr val="1E293B"/>
                </a:solidFill>
              </a:rPr>
              <a:t>Minimize production cost</a:t>
            </a:r>
            <a:endParaRPr lang="en-US" sz="950" dirty="0"/>
          </a:p>
        </p:txBody>
      </p:sp>
      <p:sp>
        <p:nvSpPr>
          <p:cNvPr id="21" name="Shape 19"/>
          <p:cNvSpPr/>
          <p:nvPr/>
        </p:nvSpPr>
        <p:spPr>
          <a:xfrm>
            <a:off x="4572000" y="3703320"/>
            <a:ext cx="2011680" cy="1005840"/>
          </a:xfrm>
          <a:prstGeom prst="rect">
            <a:avLst/>
          </a:prstGeom>
          <a:solidFill>
            <a:srgbClr val="FFFFFF"/>
          </a:solidFill>
          <a:ln w="12700">
            <a:solidFill>
              <a:srgbClr val="D1D5DB"/>
            </a:solidFill>
            <a:prstDash val="solid"/>
          </a:ln>
          <a:effectLst>
            <a:outerShdw sx="100000" sy="100000" kx="0" ky="0" algn="bl" rotWithShape="0" blurRad="101600" dist="38100" dir="8100000">
              <a:srgbClr val="000000">
                <a:alpha val="12000"/>
              </a:srgbClr>
            </a:outerShdw>
          </a:effectLst>
        </p:spPr>
      </p:sp>
      <p:sp>
        <p:nvSpPr>
          <p:cNvPr id="22" name="Text 20"/>
          <p:cNvSpPr/>
          <p:nvPr/>
        </p:nvSpPr>
        <p:spPr>
          <a:xfrm>
            <a:off x="4681728" y="3776472"/>
            <a:ext cx="1828800" cy="347472"/>
          </a:xfrm>
          <a:prstGeom prst="rect">
            <a:avLst/>
          </a:prstGeom>
          <a:noFill/>
          <a:ln/>
        </p:spPr>
        <p:txBody>
          <a:bodyPr wrap="square" rtlCol="0" anchor="ctr"/>
          <a:lstStyle/>
          <a:p>
            <a:pPr indent="0" marL="0">
              <a:buNone/>
            </a:pPr>
            <a:r>
              <a:rPr lang="en-US" sz="1100" b="1" dirty="0">
                <a:solidFill>
                  <a:srgbClr val="0D2B55"/>
                </a:solidFill>
              </a:rPr>
              <a:t>📦  Logistics</a:t>
            </a:r>
            <a:endParaRPr lang="en-US" sz="1100" dirty="0"/>
          </a:p>
        </p:txBody>
      </p:sp>
      <p:sp>
        <p:nvSpPr>
          <p:cNvPr id="23" name="Text 21"/>
          <p:cNvSpPr/>
          <p:nvPr/>
        </p:nvSpPr>
        <p:spPr>
          <a:xfrm>
            <a:off x="4681728" y="4142232"/>
            <a:ext cx="1828800" cy="365760"/>
          </a:xfrm>
          <a:prstGeom prst="rect">
            <a:avLst/>
          </a:prstGeom>
          <a:noFill/>
          <a:ln/>
        </p:spPr>
        <p:txBody>
          <a:bodyPr wrap="square" rtlCol="0" anchor="ctr"/>
          <a:lstStyle/>
          <a:p>
            <a:pPr indent="0" marL="0">
              <a:buNone/>
            </a:pPr>
            <a:r>
              <a:rPr lang="en-US" sz="950" dirty="0">
                <a:solidFill>
                  <a:srgbClr val="1E293B"/>
                </a:solidFill>
              </a:rPr>
              <a:t>Supply chain planning</a:t>
            </a:r>
            <a:endParaRPr lang="en-US" sz="950" dirty="0"/>
          </a:p>
        </p:txBody>
      </p:sp>
      <p:sp>
        <p:nvSpPr>
          <p:cNvPr id="24" name="Shape 22"/>
          <p:cNvSpPr/>
          <p:nvPr/>
        </p:nvSpPr>
        <p:spPr>
          <a:xfrm>
            <a:off x="6720840" y="3703320"/>
            <a:ext cx="2011680" cy="1005840"/>
          </a:xfrm>
          <a:prstGeom prst="rect">
            <a:avLst/>
          </a:prstGeom>
          <a:solidFill>
            <a:srgbClr val="FFFFFF"/>
          </a:solidFill>
          <a:ln w="12700">
            <a:solidFill>
              <a:srgbClr val="D1D5DB"/>
            </a:solidFill>
            <a:prstDash val="solid"/>
          </a:ln>
          <a:effectLst>
            <a:outerShdw sx="100000" sy="100000" kx="0" ky="0" algn="bl" rotWithShape="0" blurRad="101600" dist="38100" dir="8100000">
              <a:srgbClr val="000000">
                <a:alpha val="12000"/>
              </a:srgbClr>
            </a:outerShdw>
          </a:effectLst>
        </p:spPr>
      </p:sp>
      <p:sp>
        <p:nvSpPr>
          <p:cNvPr id="25" name="Text 23"/>
          <p:cNvSpPr/>
          <p:nvPr/>
        </p:nvSpPr>
        <p:spPr>
          <a:xfrm>
            <a:off x="6830568" y="3776472"/>
            <a:ext cx="1828800" cy="347472"/>
          </a:xfrm>
          <a:prstGeom prst="rect">
            <a:avLst/>
          </a:prstGeom>
          <a:noFill/>
          <a:ln/>
        </p:spPr>
        <p:txBody>
          <a:bodyPr wrap="square" rtlCol="0" anchor="ctr"/>
          <a:lstStyle/>
          <a:p>
            <a:pPr indent="0" marL="0">
              <a:buNone/>
            </a:pPr>
            <a:r>
              <a:rPr lang="en-US" sz="1100" b="1" dirty="0">
                <a:solidFill>
                  <a:srgbClr val="0D2B55"/>
                </a:solidFill>
              </a:rPr>
              <a:t>📈  Business</a:t>
            </a:r>
            <a:endParaRPr lang="en-US" sz="1100" dirty="0"/>
          </a:p>
        </p:txBody>
      </p:sp>
      <p:sp>
        <p:nvSpPr>
          <p:cNvPr id="26" name="Text 24"/>
          <p:cNvSpPr/>
          <p:nvPr/>
        </p:nvSpPr>
        <p:spPr>
          <a:xfrm>
            <a:off x="6830568" y="4142232"/>
            <a:ext cx="1828800" cy="365760"/>
          </a:xfrm>
          <a:prstGeom prst="rect">
            <a:avLst/>
          </a:prstGeom>
          <a:noFill/>
          <a:ln/>
        </p:spPr>
        <p:txBody>
          <a:bodyPr wrap="square" rtlCol="0" anchor="ctr"/>
          <a:lstStyle/>
          <a:p>
            <a:pPr indent="0" marL="0">
              <a:buNone/>
            </a:pPr>
            <a:r>
              <a:rPr lang="en-US" sz="950" dirty="0">
                <a:solidFill>
                  <a:srgbClr val="1E293B"/>
                </a:solidFill>
              </a:rPr>
              <a:t>Maximize profit margins</a:t>
            </a:r>
            <a:endParaRPr lang="en-US" sz="950" dirty="0"/>
          </a:p>
        </p:txBody>
      </p:sp>
      <p:sp>
        <p:nvSpPr>
          <p:cNvPr id="27" name="Shape 25"/>
          <p:cNvSpPr/>
          <p:nvPr/>
        </p:nvSpPr>
        <p:spPr>
          <a:xfrm>
            <a:off x="365760" y="2944368"/>
            <a:ext cx="4023360" cy="1005840"/>
          </a:xfrm>
          <a:prstGeom prst="rect">
            <a:avLst/>
          </a:prstGeom>
          <a:solidFill>
            <a:srgbClr val="FFFFFF"/>
          </a:solidFill>
          <a:ln w="19050">
            <a:solidFill>
              <a:srgbClr val="2196F3"/>
            </a:solidFill>
            <a:prstDash val="solid"/>
          </a:ln>
          <a:effectLst>
            <a:outerShdw sx="100000" sy="100000" kx="0" ky="0" algn="bl" rotWithShape="0" blurRad="101600" dist="38100" dir="8100000">
              <a:srgbClr val="000000">
                <a:alpha val="12000"/>
              </a:srgbClr>
            </a:outerShdw>
          </a:effectLst>
        </p:spPr>
      </p:sp>
      <p:sp>
        <p:nvSpPr>
          <p:cNvPr id="28" name="Text 26"/>
          <p:cNvSpPr/>
          <p:nvPr/>
        </p:nvSpPr>
        <p:spPr>
          <a:xfrm>
            <a:off x="457200" y="2999232"/>
            <a:ext cx="3840480" cy="320040"/>
          </a:xfrm>
          <a:prstGeom prst="rect">
            <a:avLst/>
          </a:prstGeom>
          <a:noFill/>
          <a:ln/>
        </p:spPr>
        <p:txBody>
          <a:bodyPr wrap="square" rtlCol="0" anchor="ctr"/>
          <a:lstStyle/>
          <a:p>
            <a:pPr indent="0" marL="0">
              <a:buNone/>
            </a:pPr>
            <a:r>
              <a:rPr lang="en-US" sz="1100" b="1" dirty="0">
                <a:solidFill>
                  <a:srgbClr val="1565C0"/>
                </a:solidFill>
              </a:rPr>
              <a:t>Two Types of Optimization Objectives</a:t>
            </a:r>
            <a:endParaRPr lang="en-US" sz="1100" dirty="0"/>
          </a:p>
        </p:txBody>
      </p:sp>
      <p:sp>
        <p:nvSpPr>
          <p:cNvPr id="29" name="Text 27"/>
          <p:cNvSpPr/>
          <p:nvPr/>
        </p:nvSpPr>
        <p:spPr>
          <a:xfrm>
            <a:off x="457200" y="3337560"/>
            <a:ext cx="3840480" cy="594360"/>
          </a:xfrm>
          <a:prstGeom prst="rect">
            <a:avLst/>
          </a:prstGeom>
          <a:noFill/>
          <a:ln/>
        </p:spPr>
        <p:txBody>
          <a:bodyPr wrap="square" rtlCol="0" anchor="ctr"/>
          <a:lstStyle/>
          <a:p>
            <a:pPr indent="0" marL="0">
              <a:buNone/>
            </a:pPr>
            <a:r>
              <a:rPr lang="en-US" sz="1050" b="1" dirty="0">
                <a:solidFill>
                  <a:srgbClr val="EF4444"/>
                </a:solidFill>
              </a:rPr>
              <a:t>• Minimization: </a:t>
            </a:r>
            <a:pPr indent="0" marL="0">
              <a:buNone/>
            </a:pPr>
            <a:r>
              <a:rPr lang="en-US" sz="1050" dirty="0">
                <a:solidFill>
                  <a:srgbClr val="1E293B"/>
                </a:solidFill>
              </a:rPr>
              <a:t>Reduce cost, time, fuel, errors
</a:t>
            </a:r>
            <a:pPr indent="0" marL="0">
              <a:buNone/>
            </a:pPr>
            <a:r>
              <a:rPr lang="en-US" sz="1050" b="1" dirty="0">
                <a:solidFill>
                  <a:srgbClr val="10B981"/>
                </a:solidFill>
              </a:rPr>
              <a:t>• Maximization: </a:t>
            </a:r>
            <a:pPr indent="0" marL="0">
              <a:buNone/>
            </a:pPr>
            <a:r>
              <a:rPr lang="en-US" sz="1050" dirty="0">
                <a:solidFill>
                  <a:srgbClr val="1E293B"/>
                </a:solidFill>
              </a:rPr>
              <a:t>Increase profit, efficiency, output</a:t>
            </a:r>
            <a:endParaRPr lang="en-US" sz="1050" dirty="0"/>
          </a:p>
        </p:txBody>
      </p:sp>
      <p:sp>
        <p:nvSpPr>
          <p:cNvPr id="30" name="Shape 28"/>
          <p:cNvSpPr/>
          <p:nvPr/>
        </p:nvSpPr>
        <p:spPr>
          <a:xfrm>
            <a:off x="365760" y="4114800"/>
            <a:ext cx="8412480" cy="685800"/>
          </a:xfrm>
          <a:prstGeom prst="rect">
            <a:avLst/>
          </a:prstGeom>
          <a:solidFill>
            <a:srgbClr val="F59E0B">
              <a:alpha val="20000"/>
            </a:srgbClr>
          </a:solidFill>
          <a:ln w="19050">
            <a:solidFill>
              <a:srgbClr val="F59E0B"/>
            </a:solidFill>
            <a:prstDash val="solid"/>
          </a:ln>
        </p:spPr>
      </p:sp>
      <p:sp>
        <p:nvSpPr>
          <p:cNvPr id="31" name="Text 29"/>
          <p:cNvSpPr/>
          <p:nvPr/>
        </p:nvSpPr>
        <p:spPr>
          <a:xfrm>
            <a:off x="502920" y="4160520"/>
            <a:ext cx="8229600" cy="594360"/>
          </a:xfrm>
          <a:prstGeom prst="rect">
            <a:avLst/>
          </a:prstGeom>
          <a:noFill/>
          <a:ln/>
        </p:spPr>
        <p:txBody>
          <a:bodyPr wrap="square" rtlCol="0" anchor="ctr"/>
          <a:lstStyle/>
          <a:p>
            <a:pPr indent="0" marL="0">
              <a:buNone/>
            </a:pPr>
            <a:r>
              <a:rPr lang="en-US" sz="1050" i="1" dirty="0">
                <a:solidFill>
                  <a:srgbClr val="1E293B"/>
                </a:solidFill>
              </a:rPr>
              <a:t>🔑  Key Takeaway: Optimization is at the heart of modern engineering — every efficient system was designed by solving an optimization problem.</a:t>
            </a:r>
            <a:endParaRPr lang="en-US" sz="1050" dirty="0"/>
          </a:p>
        </p:txBody>
      </p:sp>
      <p:sp>
        <p:nvSpPr>
          <p:cNvPr id="32" name="Text 30"/>
          <p:cNvSpPr/>
          <p:nvPr/>
        </p:nvSpPr>
        <p:spPr>
          <a:xfrm>
            <a:off x="7955280" y="4846320"/>
            <a:ext cx="914400" cy="182880"/>
          </a:xfrm>
          <a:prstGeom prst="rect">
            <a:avLst/>
          </a:prstGeom>
          <a:noFill/>
          <a:ln/>
        </p:spPr>
        <p:txBody>
          <a:bodyPr wrap="square" rtlCol="0" anchor="ctr"/>
          <a:lstStyle/>
          <a:p>
            <a:pPr algn="r" indent="0" marL="0">
              <a:buNone/>
            </a:pPr>
            <a:r>
              <a:rPr lang="en-US" sz="800" dirty="0">
                <a:solidFill>
                  <a:srgbClr val="94A3B8"/>
                </a:solidFill>
              </a:rPr>
              <a:t>02 / 13</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164592"/>
            <a:ext cx="1645920" cy="292608"/>
          </a:xfrm>
          <a:prstGeom prst="roundRect">
            <a:avLst>
              <a:gd name="adj" fmla="val 25000"/>
            </a:avLst>
          </a:prstGeom>
          <a:solidFill>
            <a:srgbClr val="0D9488"/>
          </a:solidFill>
          <a:ln w="12700">
            <a:solidFill>
              <a:srgbClr val="0D9488"/>
            </a:solidFill>
            <a:prstDash val="solid"/>
          </a:ln>
        </p:spPr>
      </p:sp>
      <p:sp>
        <p:nvSpPr>
          <p:cNvPr id="3" name="Text 1"/>
          <p:cNvSpPr/>
          <p:nvPr/>
        </p:nvSpPr>
        <p:spPr>
          <a:xfrm>
            <a:off x="365760" y="164592"/>
            <a:ext cx="1645920" cy="292608"/>
          </a:xfrm>
          <a:prstGeom prst="rect">
            <a:avLst/>
          </a:prstGeom>
          <a:noFill/>
          <a:ln/>
        </p:spPr>
        <p:txBody>
          <a:bodyPr wrap="square" rtlCol="0" anchor="ctr"/>
          <a:lstStyle/>
          <a:p>
            <a:pPr algn="ctr" indent="0" marL="0">
              <a:buNone/>
            </a:pPr>
            <a:r>
              <a:rPr lang="en-US" sz="900" b="1" dirty="0">
                <a:solidFill>
                  <a:srgbClr val="0D2B55"/>
                </a:solidFill>
              </a:rPr>
              <a:t>PHYSICS</a:t>
            </a:r>
            <a:endParaRPr lang="en-US" sz="900" dirty="0"/>
          </a:p>
        </p:txBody>
      </p:sp>
      <p:sp>
        <p:nvSpPr>
          <p:cNvPr id="4" name="Text 2"/>
          <p:cNvSpPr/>
          <p:nvPr/>
        </p:nvSpPr>
        <p:spPr>
          <a:xfrm>
            <a:off x="365760" y="502920"/>
            <a:ext cx="8412480" cy="640080"/>
          </a:xfrm>
          <a:prstGeom prst="rect">
            <a:avLst/>
          </a:prstGeom>
          <a:noFill/>
          <a:ln/>
        </p:spPr>
        <p:txBody>
          <a:bodyPr wrap="square" rtlCol="0" anchor="ctr"/>
          <a:lstStyle/>
          <a:p>
            <a:pPr indent="0" marL="0">
              <a:buNone/>
            </a:pPr>
            <a:r>
              <a:rPr lang="en-US" sz="2600" b="1" dirty="0">
                <a:solidFill>
                  <a:srgbClr val="0D2B55"/>
                </a:solidFill>
                <a:latin typeface="Calibri" pitchFamily="34" charset="0"/>
                <a:ea typeface="Calibri" pitchFamily="34" charset="-122"/>
                <a:cs typeface="Calibri" pitchFamily="34" charset="-120"/>
              </a:rPr>
              <a:t>Understanding Fuel Consumption</a:t>
            </a:r>
            <a:endParaRPr lang="en-US" sz="2600" dirty="0"/>
          </a:p>
        </p:txBody>
      </p:sp>
      <p:sp>
        <p:nvSpPr>
          <p:cNvPr id="5" name="Text 3"/>
          <p:cNvSpPr/>
          <p:nvPr/>
        </p:nvSpPr>
        <p:spPr>
          <a:xfrm>
            <a:off x="365760" y="1097280"/>
            <a:ext cx="8412480" cy="320040"/>
          </a:xfrm>
          <a:prstGeom prst="rect">
            <a:avLst/>
          </a:prstGeom>
          <a:noFill/>
          <a:ln/>
        </p:spPr>
        <p:txBody>
          <a:bodyPr wrap="square" rtlCol="0" anchor="ctr"/>
          <a:lstStyle/>
          <a:p>
            <a:pPr indent="0" marL="0">
              <a:buNone/>
            </a:pPr>
            <a:r>
              <a:rPr lang="en-US" sz="1300" i="1" dirty="0">
                <a:solidFill>
                  <a:srgbClr val="1565C0"/>
                </a:solidFill>
                <a:latin typeface="Calibri" pitchFamily="34" charset="0"/>
                <a:ea typeface="Calibri" pitchFamily="34" charset="-122"/>
                <a:cs typeface="Calibri" pitchFamily="34" charset="-120"/>
              </a:rPr>
              <a:t>Why neither too slow nor too fast is fuel-efficient</a:t>
            </a:r>
            <a:endParaRPr lang="en-US" sz="1300" dirty="0"/>
          </a:p>
        </p:txBody>
      </p:sp>
      <p:pic>
        <p:nvPicPr>
          <p:cNvPr id="6" name="Image 0" descr="preencoded.png">    </p:cNvPr>
          <p:cNvPicPr>
            <a:picLocks noChangeAspect="1"/>
          </p:cNvPicPr>
          <p:nvPr/>
        </p:nvPicPr>
        <p:blipFill>
          <a:blip r:embed="rId1"/>
          <a:stretch>
            <a:fillRect/>
          </a:stretch>
        </p:blipFill>
        <p:spPr>
          <a:xfrm>
            <a:off x="274320" y="1188720"/>
            <a:ext cx="5303520" cy="2971800"/>
          </a:xfrm>
          <a:prstGeom prst="rect">
            <a:avLst/>
          </a:prstGeom>
        </p:spPr>
      </p:pic>
      <p:sp>
        <p:nvSpPr>
          <p:cNvPr id="7" name="Shape 4"/>
          <p:cNvSpPr/>
          <p:nvPr/>
        </p:nvSpPr>
        <p:spPr>
          <a:xfrm>
            <a:off x="5760720" y="1188720"/>
            <a:ext cx="3063240" cy="914400"/>
          </a:xfrm>
          <a:prstGeom prst="rect">
            <a:avLst/>
          </a:prstGeom>
          <a:solidFill>
            <a:srgbClr val="FEE2E2"/>
          </a:solidFill>
          <a:ln w="19050">
            <a:solidFill>
              <a:srgbClr val="EF4444"/>
            </a:solidFill>
            <a:prstDash val="solid"/>
          </a:ln>
          <a:effectLst>
            <a:outerShdw sx="100000" sy="100000" kx="0" ky="0" algn="bl" rotWithShape="0" blurRad="101600" dist="38100" dir="8100000">
              <a:srgbClr val="000000">
                <a:alpha val="12000"/>
              </a:srgbClr>
            </a:outerShdw>
          </a:effectLst>
        </p:spPr>
      </p:sp>
      <p:sp>
        <p:nvSpPr>
          <p:cNvPr id="8" name="Text 5"/>
          <p:cNvSpPr/>
          <p:nvPr/>
        </p:nvSpPr>
        <p:spPr>
          <a:xfrm>
            <a:off x="5870448" y="1243584"/>
            <a:ext cx="2852928" cy="310896"/>
          </a:xfrm>
          <a:prstGeom prst="rect">
            <a:avLst/>
          </a:prstGeom>
          <a:noFill/>
          <a:ln/>
        </p:spPr>
        <p:txBody>
          <a:bodyPr wrap="square" rtlCol="0" anchor="ctr"/>
          <a:lstStyle/>
          <a:p>
            <a:pPr indent="0" marL="0">
              <a:buNone/>
            </a:pPr>
            <a:r>
              <a:rPr lang="en-US" sz="1050" b="1" dirty="0">
                <a:solidFill>
                  <a:srgbClr val="1E293B"/>
                </a:solidFill>
              </a:rPr>
              <a:t>🐌  Too Slow (&lt;60 km/h)</a:t>
            </a:r>
            <a:endParaRPr lang="en-US" sz="1050" dirty="0"/>
          </a:p>
        </p:txBody>
      </p:sp>
      <p:sp>
        <p:nvSpPr>
          <p:cNvPr id="9" name="Text 6"/>
          <p:cNvSpPr/>
          <p:nvPr/>
        </p:nvSpPr>
        <p:spPr>
          <a:xfrm>
            <a:off x="5870448" y="1554480"/>
            <a:ext cx="2852928" cy="502920"/>
          </a:xfrm>
          <a:prstGeom prst="rect">
            <a:avLst/>
          </a:prstGeom>
          <a:noFill/>
          <a:ln/>
        </p:spPr>
        <p:txBody>
          <a:bodyPr wrap="square" rtlCol="0" anchor="ctr"/>
          <a:lstStyle/>
          <a:p>
            <a:pPr indent="0" marL="0">
              <a:buNone/>
            </a:pPr>
            <a:r>
              <a:rPr lang="en-US" sz="900" dirty="0">
                <a:solidFill>
                  <a:srgbClr val="1E293B"/>
                </a:solidFill>
              </a:rPr>
              <a:t>Engine operates inefficiently. High fuel consumption relative to distance covered. Gears are under-utilized.</a:t>
            </a:r>
            <a:endParaRPr lang="en-US" sz="900" dirty="0"/>
          </a:p>
        </p:txBody>
      </p:sp>
      <p:sp>
        <p:nvSpPr>
          <p:cNvPr id="10" name="Shape 7"/>
          <p:cNvSpPr/>
          <p:nvPr/>
        </p:nvSpPr>
        <p:spPr>
          <a:xfrm>
            <a:off x="5760720" y="2194560"/>
            <a:ext cx="3063240" cy="914400"/>
          </a:xfrm>
          <a:prstGeom prst="rect">
            <a:avLst/>
          </a:prstGeom>
          <a:solidFill>
            <a:srgbClr val="D1FAE5"/>
          </a:solidFill>
          <a:ln w="19050">
            <a:solidFill>
              <a:srgbClr val="10B981"/>
            </a:solidFill>
            <a:prstDash val="solid"/>
          </a:ln>
          <a:effectLst>
            <a:outerShdw sx="100000" sy="100000" kx="0" ky="0" algn="bl" rotWithShape="0" blurRad="101600" dist="38100" dir="8100000">
              <a:srgbClr val="000000">
                <a:alpha val="12000"/>
              </a:srgbClr>
            </a:outerShdw>
          </a:effectLst>
        </p:spPr>
      </p:sp>
      <p:sp>
        <p:nvSpPr>
          <p:cNvPr id="11" name="Text 8"/>
          <p:cNvSpPr/>
          <p:nvPr/>
        </p:nvSpPr>
        <p:spPr>
          <a:xfrm>
            <a:off x="5870448" y="2249424"/>
            <a:ext cx="2852928" cy="310896"/>
          </a:xfrm>
          <a:prstGeom prst="rect">
            <a:avLst/>
          </a:prstGeom>
          <a:noFill/>
          <a:ln/>
        </p:spPr>
        <p:txBody>
          <a:bodyPr wrap="square" rtlCol="0" anchor="ctr"/>
          <a:lstStyle/>
          <a:p>
            <a:pPr indent="0" marL="0">
              <a:buNone/>
            </a:pPr>
            <a:r>
              <a:rPr lang="en-US" sz="1050" b="1" dirty="0">
                <a:solidFill>
                  <a:srgbClr val="1E293B"/>
                </a:solidFill>
              </a:rPr>
              <a:t>✅  Optimal (~80 km/h)</a:t>
            </a:r>
            <a:endParaRPr lang="en-US" sz="1050" dirty="0"/>
          </a:p>
        </p:txBody>
      </p:sp>
      <p:sp>
        <p:nvSpPr>
          <p:cNvPr id="12" name="Text 9"/>
          <p:cNvSpPr/>
          <p:nvPr/>
        </p:nvSpPr>
        <p:spPr>
          <a:xfrm>
            <a:off x="5870448" y="2560320"/>
            <a:ext cx="2852928" cy="502920"/>
          </a:xfrm>
          <a:prstGeom prst="rect">
            <a:avLst/>
          </a:prstGeom>
          <a:noFill/>
          <a:ln/>
        </p:spPr>
        <p:txBody>
          <a:bodyPr wrap="square" rtlCol="0" anchor="ctr"/>
          <a:lstStyle/>
          <a:p>
            <a:pPr indent="0" marL="0">
              <a:buNone/>
            </a:pPr>
            <a:r>
              <a:rPr lang="en-US" sz="900" dirty="0">
                <a:solidFill>
                  <a:srgbClr val="1E293B"/>
                </a:solidFill>
              </a:rPr>
              <a:t>Engine efficiency is maximized. Aerodynamic drag is still manageable. Best fuel economy.</a:t>
            </a:r>
            <a:endParaRPr lang="en-US" sz="900" dirty="0"/>
          </a:p>
        </p:txBody>
      </p:sp>
      <p:sp>
        <p:nvSpPr>
          <p:cNvPr id="13" name="Shape 10"/>
          <p:cNvSpPr/>
          <p:nvPr/>
        </p:nvSpPr>
        <p:spPr>
          <a:xfrm>
            <a:off x="5760720" y="3200400"/>
            <a:ext cx="3063240" cy="914400"/>
          </a:xfrm>
          <a:prstGeom prst="rect">
            <a:avLst/>
          </a:prstGeom>
          <a:solidFill>
            <a:srgbClr val="FEE2E2"/>
          </a:solidFill>
          <a:ln w="19050">
            <a:solidFill>
              <a:srgbClr val="EF4444"/>
            </a:solidFill>
            <a:prstDash val="solid"/>
          </a:ln>
          <a:effectLst>
            <a:outerShdw sx="100000" sy="100000" kx="0" ky="0" algn="bl" rotWithShape="0" blurRad="101600" dist="38100" dir="8100000">
              <a:srgbClr val="000000">
                <a:alpha val="12000"/>
              </a:srgbClr>
            </a:outerShdw>
          </a:effectLst>
        </p:spPr>
      </p:sp>
      <p:sp>
        <p:nvSpPr>
          <p:cNvPr id="14" name="Text 11"/>
          <p:cNvSpPr/>
          <p:nvPr/>
        </p:nvSpPr>
        <p:spPr>
          <a:xfrm>
            <a:off x="5870448" y="3255264"/>
            <a:ext cx="2852928" cy="310896"/>
          </a:xfrm>
          <a:prstGeom prst="rect">
            <a:avLst/>
          </a:prstGeom>
          <a:noFill/>
          <a:ln/>
        </p:spPr>
        <p:txBody>
          <a:bodyPr wrap="square" rtlCol="0" anchor="ctr"/>
          <a:lstStyle/>
          <a:p>
            <a:pPr indent="0" marL="0">
              <a:buNone/>
            </a:pPr>
            <a:r>
              <a:rPr lang="en-US" sz="1050" b="1" dirty="0">
                <a:solidFill>
                  <a:srgbClr val="1E293B"/>
                </a:solidFill>
              </a:rPr>
              <a:t>💨  Too Fast (&gt;110 km/h)</a:t>
            </a:r>
            <a:endParaRPr lang="en-US" sz="1050" dirty="0"/>
          </a:p>
        </p:txBody>
      </p:sp>
      <p:sp>
        <p:nvSpPr>
          <p:cNvPr id="15" name="Text 12"/>
          <p:cNvSpPr/>
          <p:nvPr/>
        </p:nvSpPr>
        <p:spPr>
          <a:xfrm>
            <a:off x="5870448" y="3566160"/>
            <a:ext cx="2852928" cy="502920"/>
          </a:xfrm>
          <a:prstGeom prst="rect">
            <a:avLst/>
          </a:prstGeom>
          <a:noFill/>
          <a:ln/>
        </p:spPr>
        <p:txBody>
          <a:bodyPr wrap="square" rtlCol="0" anchor="ctr"/>
          <a:lstStyle/>
          <a:p>
            <a:pPr indent="0" marL="0">
              <a:buNone/>
            </a:pPr>
            <a:r>
              <a:rPr lang="en-US" sz="900" dirty="0">
                <a:solidFill>
                  <a:srgbClr val="1E293B"/>
                </a:solidFill>
              </a:rPr>
              <a:t>Aerodynamic drag grows with v². Engine works much harder. Fuel consumption rises sharply.</a:t>
            </a:r>
            <a:endParaRPr lang="en-US" sz="900" dirty="0"/>
          </a:p>
        </p:txBody>
      </p:sp>
      <p:sp>
        <p:nvSpPr>
          <p:cNvPr id="16" name="Shape 13"/>
          <p:cNvSpPr/>
          <p:nvPr/>
        </p:nvSpPr>
        <p:spPr>
          <a:xfrm>
            <a:off x="274320" y="4224528"/>
            <a:ext cx="8595360" cy="640080"/>
          </a:xfrm>
          <a:prstGeom prst="rect">
            <a:avLst/>
          </a:prstGeom>
          <a:solidFill>
            <a:srgbClr val="0D2B55"/>
          </a:solidFill>
          <a:ln w="12700">
            <a:solidFill>
              <a:srgbClr val="0D2B55"/>
            </a:solidFill>
            <a:prstDash val="solid"/>
          </a:ln>
        </p:spPr>
      </p:sp>
      <p:sp>
        <p:nvSpPr>
          <p:cNvPr id="17" name="Text 14"/>
          <p:cNvSpPr/>
          <p:nvPr/>
        </p:nvSpPr>
        <p:spPr>
          <a:xfrm>
            <a:off x="411480" y="4251960"/>
            <a:ext cx="8412480" cy="585216"/>
          </a:xfrm>
          <a:prstGeom prst="rect">
            <a:avLst/>
          </a:prstGeom>
          <a:noFill/>
          <a:ln/>
        </p:spPr>
        <p:txBody>
          <a:bodyPr wrap="square" rtlCol="0" anchor="ctr"/>
          <a:lstStyle/>
          <a:p>
            <a:pPr indent="0" marL="0">
              <a:buNone/>
            </a:pPr>
            <a:r>
              <a:rPr lang="en-US" sz="1050" i="1" dirty="0">
                <a:solidFill>
                  <a:srgbClr val="FFFFFF"/>
                </a:solidFill>
              </a:rPr>
              <a:t>⚡  The fuel-speed relationship forms a U-shaped (convex) curve — this shape is exactly what makes Golden Section Search applicable!</a:t>
            </a:r>
            <a:endParaRPr lang="en-US" sz="1050" dirty="0"/>
          </a:p>
        </p:txBody>
      </p:sp>
      <p:sp>
        <p:nvSpPr>
          <p:cNvPr id="18" name="Text 15"/>
          <p:cNvSpPr/>
          <p:nvPr/>
        </p:nvSpPr>
        <p:spPr>
          <a:xfrm>
            <a:off x="7955280" y="4846320"/>
            <a:ext cx="914400" cy="182880"/>
          </a:xfrm>
          <a:prstGeom prst="rect">
            <a:avLst/>
          </a:prstGeom>
          <a:noFill/>
          <a:ln/>
        </p:spPr>
        <p:txBody>
          <a:bodyPr wrap="square" rtlCol="0" anchor="ctr"/>
          <a:lstStyle/>
          <a:p>
            <a:pPr algn="r" indent="0" marL="0">
              <a:buNone/>
            </a:pPr>
            <a:r>
              <a:rPr lang="en-US" sz="800" dirty="0">
                <a:solidFill>
                  <a:srgbClr val="94A3B8"/>
                </a:solidFill>
              </a:rPr>
              <a:t>03 / 13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365760" y="164592"/>
            <a:ext cx="1645920" cy="292608"/>
          </a:xfrm>
          <a:prstGeom prst="roundRect">
            <a:avLst>
              <a:gd name="adj" fmla="val 25000"/>
            </a:avLst>
          </a:prstGeom>
          <a:solidFill>
            <a:srgbClr val="F59E0B"/>
          </a:solidFill>
          <a:ln w="12700">
            <a:solidFill>
              <a:srgbClr val="F59E0B"/>
            </a:solidFill>
            <a:prstDash val="solid"/>
          </a:ln>
        </p:spPr>
      </p:sp>
      <p:sp>
        <p:nvSpPr>
          <p:cNvPr id="3" name="Text 1"/>
          <p:cNvSpPr/>
          <p:nvPr/>
        </p:nvSpPr>
        <p:spPr>
          <a:xfrm>
            <a:off x="365760" y="164592"/>
            <a:ext cx="1645920" cy="292608"/>
          </a:xfrm>
          <a:prstGeom prst="rect">
            <a:avLst/>
          </a:prstGeom>
          <a:noFill/>
          <a:ln/>
        </p:spPr>
        <p:txBody>
          <a:bodyPr wrap="square" rtlCol="0" anchor="ctr"/>
          <a:lstStyle/>
          <a:p>
            <a:pPr algn="ctr" indent="0" marL="0">
              <a:buNone/>
            </a:pPr>
            <a:r>
              <a:rPr lang="en-US" sz="900" b="1" dirty="0">
                <a:solidFill>
                  <a:srgbClr val="0D2B55"/>
                </a:solidFill>
              </a:rPr>
              <a:t>PROBLEM</a:t>
            </a:r>
            <a:endParaRPr lang="en-US" sz="900" dirty="0"/>
          </a:p>
        </p:txBody>
      </p:sp>
      <p:sp>
        <p:nvSpPr>
          <p:cNvPr id="4" name="Text 2"/>
          <p:cNvSpPr/>
          <p:nvPr/>
        </p:nvSpPr>
        <p:spPr>
          <a:xfrm>
            <a:off x="365760" y="502920"/>
            <a:ext cx="8412480" cy="640080"/>
          </a:xfrm>
          <a:prstGeom prst="rect">
            <a:avLst/>
          </a:prstGeom>
          <a:noFill/>
          <a:ln/>
        </p:spPr>
        <p:txBody>
          <a:bodyPr wrap="square" rtlCol="0" anchor="ctr"/>
          <a:lstStyle/>
          <a:p>
            <a:pPr indent="0" marL="0">
              <a:buNone/>
            </a:pPr>
            <a:r>
              <a:rPr lang="en-US" sz="2600" b="1" dirty="0">
                <a:solidFill>
                  <a:srgbClr val="0D2B55"/>
                </a:solidFill>
                <a:latin typeface="Calibri" pitchFamily="34" charset="0"/>
                <a:ea typeface="Calibri" pitchFamily="34" charset="-122"/>
                <a:cs typeface="Calibri" pitchFamily="34" charset="-120"/>
              </a:rPr>
              <a:t>Problem Statement</a:t>
            </a:r>
            <a:endParaRPr lang="en-US" sz="2600" dirty="0"/>
          </a:p>
        </p:txBody>
      </p:sp>
      <p:sp>
        <p:nvSpPr>
          <p:cNvPr id="5" name="Text 3"/>
          <p:cNvSpPr/>
          <p:nvPr/>
        </p:nvSpPr>
        <p:spPr>
          <a:xfrm>
            <a:off x="365760" y="1097280"/>
            <a:ext cx="8412480" cy="320040"/>
          </a:xfrm>
          <a:prstGeom prst="rect">
            <a:avLst/>
          </a:prstGeom>
          <a:noFill/>
          <a:ln/>
        </p:spPr>
        <p:txBody>
          <a:bodyPr wrap="square" rtlCol="0" anchor="ctr"/>
          <a:lstStyle/>
          <a:p>
            <a:pPr indent="0" marL="0">
              <a:buNone/>
            </a:pPr>
            <a:r>
              <a:rPr lang="en-US" sz="1300" i="1" dirty="0">
                <a:solidFill>
                  <a:srgbClr val="1565C0"/>
                </a:solidFill>
                <a:latin typeface="Calibri" pitchFamily="34" charset="0"/>
                <a:ea typeface="Calibri" pitchFamily="34" charset="-122"/>
                <a:cs typeface="Calibri" pitchFamily="34" charset="-120"/>
              </a:rPr>
              <a:t>Formally defining the fuel optimization objective</a:t>
            </a:r>
            <a:endParaRPr lang="en-US" sz="1300" dirty="0"/>
          </a:p>
        </p:txBody>
      </p:sp>
      <p:sp>
        <p:nvSpPr>
          <p:cNvPr id="6" name="Shape 4"/>
          <p:cNvSpPr/>
          <p:nvPr/>
        </p:nvSpPr>
        <p:spPr>
          <a:xfrm>
            <a:off x="365760" y="1417320"/>
            <a:ext cx="8412480" cy="594360"/>
          </a:xfrm>
          <a:prstGeom prst="rect">
            <a:avLst/>
          </a:prstGeom>
          <a:solidFill>
            <a:srgbClr val="0D2B55"/>
          </a:solidFill>
          <a:ln w="12700">
            <a:solidFill>
              <a:srgbClr val="0D2B55"/>
            </a:solidFill>
            <a:prstDash val="solid"/>
          </a:ln>
          <a:effectLst>
            <a:outerShdw sx="100000" sy="100000" kx="0" ky="0" algn="bl" rotWithShape="0" blurRad="101600" dist="38100" dir="8100000">
              <a:srgbClr val="000000">
                <a:alpha val="12000"/>
              </a:srgbClr>
            </a:outerShdw>
          </a:effectLst>
        </p:spPr>
      </p:sp>
      <p:sp>
        <p:nvSpPr>
          <p:cNvPr id="7" name="Text 5"/>
          <p:cNvSpPr/>
          <p:nvPr/>
        </p:nvSpPr>
        <p:spPr>
          <a:xfrm>
            <a:off x="502920" y="1444752"/>
            <a:ext cx="8229600" cy="530352"/>
          </a:xfrm>
          <a:prstGeom prst="rect">
            <a:avLst/>
          </a:prstGeom>
          <a:noFill/>
          <a:ln/>
        </p:spPr>
        <p:txBody>
          <a:bodyPr wrap="square" rtlCol="0" anchor="ctr"/>
          <a:lstStyle/>
          <a:p>
            <a:pPr indent="0" marL="0">
              <a:buNone/>
            </a:pPr>
            <a:r>
              <a:rPr lang="en-US" sz="1300" b="1" dirty="0">
                <a:solidFill>
                  <a:srgbClr val="FFFFFF"/>
                </a:solidFill>
              </a:rPr>
              <a:t>🎯  GOAL: Find the vehicle speed v* that minimizes fuel consumption f(v)</a:t>
            </a:r>
            <a:endParaRPr lang="en-US" sz="1300" dirty="0"/>
          </a:p>
        </p:txBody>
      </p:sp>
      <p:sp>
        <p:nvSpPr>
          <p:cNvPr id="8" name="Shape 6"/>
          <p:cNvSpPr/>
          <p:nvPr/>
        </p:nvSpPr>
        <p:spPr>
          <a:xfrm>
            <a:off x="365760" y="2103120"/>
            <a:ext cx="4114800" cy="1828800"/>
          </a:xfrm>
          <a:prstGeom prst="rect">
            <a:avLst/>
          </a:prstGeom>
          <a:solidFill>
            <a:srgbClr val="FFFFFF"/>
          </a:solidFill>
          <a:ln w="12700">
            <a:solidFill>
              <a:srgbClr val="D1D5DB"/>
            </a:solidFill>
            <a:prstDash val="solid"/>
          </a:ln>
          <a:effectLst>
            <a:outerShdw sx="100000" sy="100000" kx="0" ky="0" algn="bl" rotWithShape="0" blurRad="101600" dist="38100" dir="8100000">
              <a:srgbClr val="000000">
                <a:alpha val="12000"/>
              </a:srgbClr>
            </a:outerShdw>
          </a:effectLst>
        </p:spPr>
      </p:sp>
      <p:sp>
        <p:nvSpPr>
          <p:cNvPr id="9" name="Text 7"/>
          <p:cNvSpPr/>
          <p:nvPr/>
        </p:nvSpPr>
        <p:spPr>
          <a:xfrm>
            <a:off x="502920" y="2176272"/>
            <a:ext cx="3840480" cy="347472"/>
          </a:xfrm>
          <a:prstGeom prst="rect">
            <a:avLst/>
          </a:prstGeom>
          <a:noFill/>
          <a:ln/>
        </p:spPr>
        <p:txBody>
          <a:bodyPr wrap="square" rtlCol="0" anchor="ctr"/>
          <a:lstStyle/>
          <a:p>
            <a:pPr indent="0" marL="0">
              <a:buNone/>
            </a:pPr>
            <a:r>
              <a:rPr lang="en-US" sz="1200" b="1" dirty="0">
                <a:solidFill>
                  <a:srgbClr val="1565C0"/>
                </a:solidFill>
              </a:rPr>
              <a:t>Variable Definitions</a:t>
            </a:r>
            <a:endParaRPr lang="en-US" sz="1200" dirty="0"/>
          </a:p>
        </p:txBody>
      </p:sp>
      <p:sp>
        <p:nvSpPr>
          <p:cNvPr id="10" name="Shape 8"/>
          <p:cNvSpPr/>
          <p:nvPr/>
        </p:nvSpPr>
        <p:spPr>
          <a:xfrm>
            <a:off x="502920" y="2578608"/>
            <a:ext cx="548640" cy="274320"/>
          </a:xfrm>
          <a:prstGeom prst="rect">
            <a:avLst/>
          </a:prstGeom>
          <a:solidFill>
            <a:srgbClr val="F59E0B">
              <a:alpha val="40000"/>
            </a:srgbClr>
          </a:solidFill>
          <a:ln w="12700">
            <a:solidFill>
              <a:srgbClr val="F59E0B"/>
            </a:solidFill>
            <a:prstDash val="solid"/>
          </a:ln>
        </p:spPr>
      </p:sp>
      <p:sp>
        <p:nvSpPr>
          <p:cNvPr id="11" name="Text 9"/>
          <p:cNvSpPr/>
          <p:nvPr/>
        </p:nvSpPr>
        <p:spPr>
          <a:xfrm>
            <a:off x="502920" y="2578608"/>
            <a:ext cx="548640" cy="274320"/>
          </a:xfrm>
          <a:prstGeom prst="rect">
            <a:avLst/>
          </a:prstGeom>
          <a:noFill/>
          <a:ln/>
        </p:spPr>
        <p:txBody>
          <a:bodyPr wrap="square" rtlCol="0" anchor="ctr"/>
          <a:lstStyle/>
          <a:p>
            <a:pPr algn="ctr" indent="0" marL="0">
              <a:buNone/>
            </a:pPr>
            <a:r>
              <a:rPr lang="en-US" sz="1000" b="1" dirty="0">
                <a:solidFill>
                  <a:srgbClr val="0D2B55"/>
                </a:solidFill>
              </a:rPr>
              <a:t>v</a:t>
            </a:r>
            <a:endParaRPr lang="en-US" sz="1000" dirty="0"/>
          </a:p>
        </p:txBody>
      </p:sp>
      <p:sp>
        <p:nvSpPr>
          <p:cNvPr id="12" name="Text 10"/>
          <p:cNvSpPr/>
          <p:nvPr/>
        </p:nvSpPr>
        <p:spPr>
          <a:xfrm>
            <a:off x="1115568" y="2578608"/>
            <a:ext cx="3200400" cy="274320"/>
          </a:xfrm>
          <a:prstGeom prst="rect">
            <a:avLst/>
          </a:prstGeom>
          <a:noFill/>
          <a:ln/>
        </p:spPr>
        <p:txBody>
          <a:bodyPr wrap="square" rtlCol="0" anchor="ctr"/>
          <a:lstStyle/>
          <a:p>
            <a:pPr indent="0" marL="0">
              <a:buNone/>
            </a:pPr>
            <a:r>
              <a:rPr lang="en-US" sz="1000" dirty="0">
                <a:solidFill>
                  <a:srgbClr val="1E293B"/>
                </a:solidFill>
              </a:rPr>
              <a:t>Vehicle speed (km/h)</a:t>
            </a:r>
            <a:endParaRPr lang="en-US" sz="1000" dirty="0"/>
          </a:p>
        </p:txBody>
      </p:sp>
      <p:sp>
        <p:nvSpPr>
          <p:cNvPr id="13" name="Shape 11"/>
          <p:cNvSpPr/>
          <p:nvPr/>
        </p:nvSpPr>
        <p:spPr>
          <a:xfrm>
            <a:off x="502920" y="2898648"/>
            <a:ext cx="548640" cy="274320"/>
          </a:xfrm>
          <a:prstGeom prst="rect">
            <a:avLst/>
          </a:prstGeom>
          <a:solidFill>
            <a:srgbClr val="F59E0B">
              <a:alpha val="40000"/>
            </a:srgbClr>
          </a:solidFill>
          <a:ln w="12700">
            <a:solidFill>
              <a:srgbClr val="F59E0B"/>
            </a:solidFill>
            <a:prstDash val="solid"/>
          </a:ln>
        </p:spPr>
      </p:sp>
      <p:sp>
        <p:nvSpPr>
          <p:cNvPr id="14" name="Text 12"/>
          <p:cNvSpPr/>
          <p:nvPr/>
        </p:nvSpPr>
        <p:spPr>
          <a:xfrm>
            <a:off x="502920" y="2898648"/>
            <a:ext cx="548640" cy="274320"/>
          </a:xfrm>
          <a:prstGeom prst="rect">
            <a:avLst/>
          </a:prstGeom>
          <a:noFill/>
          <a:ln/>
        </p:spPr>
        <p:txBody>
          <a:bodyPr wrap="square" rtlCol="0" anchor="ctr"/>
          <a:lstStyle/>
          <a:p>
            <a:pPr algn="ctr" indent="0" marL="0">
              <a:buNone/>
            </a:pPr>
            <a:r>
              <a:rPr lang="en-US" sz="1000" b="1" dirty="0">
                <a:solidFill>
                  <a:srgbClr val="0D2B55"/>
                </a:solidFill>
              </a:rPr>
              <a:t>f(v)</a:t>
            </a:r>
            <a:endParaRPr lang="en-US" sz="1000" dirty="0"/>
          </a:p>
        </p:txBody>
      </p:sp>
      <p:sp>
        <p:nvSpPr>
          <p:cNvPr id="15" name="Text 13"/>
          <p:cNvSpPr/>
          <p:nvPr/>
        </p:nvSpPr>
        <p:spPr>
          <a:xfrm>
            <a:off x="1115568" y="2898648"/>
            <a:ext cx="3200400" cy="274320"/>
          </a:xfrm>
          <a:prstGeom prst="rect">
            <a:avLst/>
          </a:prstGeom>
          <a:noFill/>
          <a:ln/>
        </p:spPr>
        <p:txBody>
          <a:bodyPr wrap="square" rtlCol="0" anchor="ctr"/>
          <a:lstStyle/>
          <a:p>
            <a:pPr indent="0" marL="0">
              <a:buNone/>
            </a:pPr>
            <a:r>
              <a:rPr lang="en-US" sz="1000" dirty="0">
                <a:solidFill>
                  <a:srgbClr val="1E293B"/>
                </a:solidFill>
              </a:rPr>
              <a:t>Fuel consumption (L/100km)</a:t>
            </a:r>
            <a:endParaRPr lang="en-US" sz="1000" dirty="0"/>
          </a:p>
        </p:txBody>
      </p:sp>
      <p:sp>
        <p:nvSpPr>
          <p:cNvPr id="16" name="Shape 14"/>
          <p:cNvSpPr/>
          <p:nvPr/>
        </p:nvSpPr>
        <p:spPr>
          <a:xfrm>
            <a:off x="502920" y="3218688"/>
            <a:ext cx="548640" cy="274320"/>
          </a:xfrm>
          <a:prstGeom prst="rect">
            <a:avLst/>
          </a:prstGeom>
          <a:solidFill>
            <a:srgbClr val="F59E0B">
              <a:alpha val="40000"/>
            </a:srgbClr>
          </a:solidFill>
          <a:ln w="12700">
            <a:solidFill>
              <a:srgbClr val="F59E0B"/>
            </a:solidFill>
            <a:prstDash val="solid"/>
          </a:ln>
        </p:spPr>
      </p:sp>
      <p:sp>
        <p:nvSpPr>
          <p:cNvPr id="17" name="Text 15"/>
          <p:cNvSpPr/>
          <p:nvPr/>
        </p:nvSpPr>
        <p:spPr>
          <a:xfrm>
            <a:off x="502920" y="3218688"/>
            <a:ext cx="548640" cy="274320"/>
          </a:xfrm>
          <a:prstGeom prst="rect">
            <a:avLst/>
          </a:prstGeom>
          <a:noFill/>
          <a:ln/>
        </p:spPr>
        <p:txBody>
          <a:bodyPr wrap="square" rtlCol="0" anchor="ctr"/>
          <a:lstStyle/>
          <a:p>
            <a:pPr algn="ctr" indent="0" marL="0">
              <a:buNone/>
            </a:pPr>
            <a:r>
              <a:rPr lang="en-US" sz="1000" b="1" dirty="0">
                <a:solidFill>
                  <a:srgbClr val="0D2B55"/>
                </a:solidFill>
              </a:rPr>
              <a:t>v*</a:t>
            </a:r>
            <a:endParaRPr lang="en-US" sz="1000" dirty="0"/>
          </a:p>
        </p:txBody>
      </p:sp>
      <p:sp>
        <p:nvSpPr>
          <p:cNvPr id="18" name="Text 16"/>
          <p:cNvSpPr/>
          <p:nvPr/>
        </p:nvSpPr>
        <p:spPr>
          <a:xfrm>
            <a:off x="1115568" y="3218688"/>
            <a:ext cx="3200400" cy="274320"/>
          </a:xfrm>
          <a:prstGeom prst="rect">
            <a:avLst/>
          </a:prstGeom>
          <a:noFill/>
          <a:ln/>
        </p:spPr>
        <p:txBody>
          <a:bodyPr wrap="square" rtlCol="0" anchor="ctr"/>
          <a:lstStyle/>
          <a:p>
            <a:pPr indent="0" marL="0">
              <a:buNone/>
            </a:pPr>
            <a:r>
              <a:rPr lang="en-US" sz="1000" dirty="0">
                <a:solidFill>
                  <a:srgbClr val="1E293B"/>
                </a:solidFill>
              </a:rPr>
              <a:t>Optimal speed (solution) (km/h)</a:t>
            </a:r>
            <a:endParaRPr lang="en-US" sz="1000" dirty="0"/>
          </a:p>
        </p:txBody>
      </p:sp>
      <p:sp>
        <p:nvSpPr>
          <p:cNvPr id="19" name="Shape 17"/>
          <p:cNvSpPr/>
          <p:nvPr/>
        </p:nvSpPr>
        <p:spPr>
          <a:xfrm>
            <a:off x="502920" y="3538728"/>
            <a:ext cx="548640" cy="274320"/>
          </a:xfrm>
          <a:prstGeom prst="rect">
            <a:avLst/>
          </a:prstGeom>
          <a:solidFill>
            <a:srgbClr val="F59E0B">
              <a:alpha val="40000"/>
            </a:srgbClr>
          </a:solidFill>
          <a:ln w="12700">
            <a:solidFill>
              <a:srgbClr val="F59E0B"/>
            </a:solidFill>
            <a:prstDash val="solid"/>
          </a:ln>
        </p:spPr>
      </p:sp>
      <p:sp>
        <p:nvSpPr>
          <p:cNvPr id="20" name="Text 18"/>
          <p:cNvSpPr/>
          <p:nvPr/>
        </p:nvSpPr>
        <p:spPr>
          <a:xfrm>
            <a:off x="502920" y="3538728"/>
            <a:ext cx="548640" cy="274320"/>
          </a:xfrm>
          <a:prstGeom prst="rect">
            <a:avLst/>
          </a:prstGeom>
          <a:noFill/>
          <a:ln/>
        </p:spPr>
        <p:txBody>
          <a:bodyPr wrap="square" rtlCol="0" anchor="ctr"/>
          <a:lstStyle/>
          <a:p>
            <a:pPr algn="ctr" indent="0" marL="0">
              <a:buNone/>
            </a:pPr>
            <a:r>
              <a:rPr lang="en-US" sz="1000" b="1" dirty="0">
                <a:solidFill>
                  <a:srgbClr val="0D2B55"/>
                </a:solidFill>
              </a:rPr>
              <a:t>[a, b]</a:t>
            </a:r>
            <a:endParaRPr lang="en-US" sz="1000" dirty="0"/>
          </a:p>
        </p:txBody>
      </p:sp>
      <p:sp>
        <p:nvSpPr>
          <p:cNvPr id="21" name="Text 19"/>
          <p:cNvSpPr/>
          <p:nvPr/>
        </p:nvSpPr>
        <p:spPr>
          <a:xfrm>
            <a:off x="1115568" y="3538728"/>
            <a:ext cx="3200400" cy="274320"/>
          </a:xfrm>
          <a:prstGeom prst="rect">
            <a:avLst/>
          </a:prstGeom>
          <a:noFill/>
          <a:ln/>
        </p:spPr>
        <p:txBody>
          <a:bodyPr wrap="square" rtlCol="0" anchor="ctr"/>
          <a:lstStyle/>
          <a:p>
            <a:pPr indent="0" marL="0">
              <a:buNone/>
            </a:pPr>
            <a:r>
              <a:rPr lang="en-US" sz="1000" dirty="0">
                <a:solidFill>
                  <a:srgbClr val="1E293B"/>
                </a:solidFill>
              </a:rPr>
              <a:t>Search interval ([40, 140] km/h)</a:t>
            </a:r>
            <a:endParaRPr lang="en-US" sz="1000" dirty="0"/>
          </a:p>
        </p:txBody>
      </p:sp>
      <p:sp>
        <p:nvSpPr>
          <p:cNvPr id="22" name="Shape 20"/>
          <p:cNvSpPr/>
          <p:nvPr/>
        </p:nvSpPr>
        <p:spPr>
          <a:xfrm>
            <a:off x="4663440" y="2103120"/>
            <a:ext cx="4114800" cy="1828800"/>
          </a:xfrm>
          <a:prstGeom prst="rect">
            <a:avLst/>
          </a:prstGeom>
          <a:solidFill>
            <a:srgbClr val="FFFFFF"/>
          </a:solidFill>
          <a:ln w="12700">
            <a:solidFill>
              <a:srgbClr val="D1D5DB"/>
            </a:solidFill>
            <a:prstDash val="solid"/>
          </a:ln>
          <a:effectLst>
            <a:outerShdw sx="100000" sy="100000" kx="0" ky="0" algn="bl" rotWithShape="0" blurRad="101600" dist="38100" dir="8100000">
              <a:srgbClr val="000000">
                <a:alpha val="12000"/>
              </a:srgbClr>
            </a:outerShdw>
          </a:effectLst>
        </p:spPr>
      </p:sp>
      <p:sp>
        <p:nvSpPr>
          <p:cNvPr id="23" name="Text 21"/>
          <p:cNvSpPr/>
          <p:nvPr/>
        </p:nvSpPr>
        <p:spPr>
          <a:xfrm>
            <a:off x="4800600" y="2176272"/>
            <a:ext cx="3840480" cy="347472"/>
          </a:xfrm>
          <a:prstGeom prst="rect">
            <a:avLst/>
          </a:prstGeom>
          <a:noFill/>
          <a:ln/>
        </p:spPr>
        <p:txBody>
          <a:bodyPr wrap="square" rtlCol="0" anchor="ctr"/>
          <a:lstStyle/>
          <a:p>
            <a:pPr indent="0" marL="0">
              <a:buNone/>
            </a:pPr>
            <a:r>
              <a:rPr lang="en-US" sz="1200" b="1" dirty="0">
                <a:solidFill>
                  <a:srgbClr val="1565C0"/>
                </a:solidFill>
              </a:rPr>
              <a:t>Optimization Objective</a:t>
            </a:r>
            <a:endParaRPr lang="en-US" sz="1200" dirty="0"/>
          </a:p>
        </p:txBody>
      </p:sp>
      <p:sp>
        <p:nvSpPr>
          <p:cNvPr id="24" name="Shape 22"/>
          <p:cNvSpPr/>
          <p:nvPr/>
        </p:nvSpPr>
        <p:spPr>
          <a:xfrm>
            <a:off x="4800600" y="2578608"/>
            <a:ext cx="3840480" cy="594360"/>
          </a:xfrm>
          <a:prstGeom prst="rect">
            <a:avLst/>
          </a:prstGeom>
          <a:solidFill>
            <a:srgbClr val="0D2B55">
              <a:alpha val="15000"/>
            </a:srgbClr>
          </a:solidFill>
          <a:ln w="15240">
            <a:solidFill>
              <a:srgbClr val="0D2B55"/>
            </a:solidFill>
            <a:prstDash val="solid"/>
          </a:ln>
        </p:spPr>
      </p:sp>
      <p:sp>
        <p:nvSpPr>
          <p:cNvPr id="25" name="Text 23"/>
          <p:cNvSpPr/>
          <p:nvPr/>
        </p:nvSpPr>
        <p:spPr>
          <a:xfrm>
            <a:off x="4800600" y="2578608"/>
            <a:ext cx="3840480" cy="594360"/>
          </a:xfrm>
          <a:prstGeom prst="rect">
            <a:avLst/>
          </a:prstGeom>
          <a:noFill/>
          <a:ln/>
        </p:spPr>
        <p:txBody>
          <a:bodyPr wrap="square" rtlCol="0" anchor="ctr"/>
          <a:lstStyle/>
          <a:p>
            <a:pPr algn="ctr" indent="0" marL="0">
              <a:buNone/>
            </a:pPr>
            <a:r>
              <a:rPr lang="en-US" sz="1800" b="1" dirty="0">
                <a:solidFill>
                  <a:srgbClr val="0D2B55"/>
                </a:solidFill>
                <a:latin typeface="Calibri" pitchFamily="34" charset="0"/>
                <a:ea typeface="Calibri" pitchFamily="34" charset="-122"/>
                <a:cs typeface="Calibri" pitchFamily="34" charset="-120"/>
              </a:rPr>
              <a:t>v* = arg min  f(v)</a:t>
            </a:r>
            <a:endParaRPr lang="en-US" sz="1800" dirty="0"/>
          </a:p>
        </p:txBody>
      </p:sp>
      <p:sp>
        <p:nvSpPr>
          <p:cNvPr id="26" name="Text 24"/>
          <p:cNvSpPr/>
          <p:nvPr/>
        </p:nvSpPr>
        <p:spPr>
          <a:xfrm>
            <a:off x="4800600" y="3246120"/>
            <a:ext cx="3840480" cy="274320"/>
          </a:xfrm>
          <a:prstGeom prst="rect">
            <a:avLst/>
          </a:prstGeom>
          <a:noFill/>
          <a:ln/>
        </p:spPr>
        <p:txBody>
          <a:bodyPr wrap="square" rtlCol="0" anchor="ctr"/>
          <a:lstStyle/>
          <a:p>
            <a:pPr indent="0" marL="0">
              <a:buNone/>
            </a:pPr>
            <a:r>
              <a:rPr lang="en-US" sz="1000" dirty="0">
                <a:solidFill>
                  <a:srgbClr val="1E293B"/>
                </a:solidFill>
              </a:rPr>
              <a:t>Subject to constraint:</a:t>
            </a:r>
            <a:endParaRPr lang="en-US" sz="1000" dirty="0"/>
          </a:p>
        </p:txBody>
      </p:sp>
      <p:sp>
        <p:nvSpPr>
          <p:cNvPr id="27" name="Shape 25"/>
          <p:cNvSpPr/>
          <p:nvPr/>
        </p:nvSpPr>
        <p:spPr>
          <a:xfrm>
            <a:off x="4800600" y="3520440"/>
            <a:ext cx="3840480" cy="347472"/>
          </a:xfrm>
          <a:prstGeom prst="rect">
            <a:avLst/>
          </a:prstGeom>
          <a:solidFill>
            <a:srgbClr val="0D9488">
              <a:alpha val="20000"/>
            </a:srgbClr>
          </a:solidFill>
          <a:ln w="12700">
            <a:solidFill>
              <a:srgbClr val="0D9488"/>
            </a:solidFill>
            <a:prstDash val="solid"/>
          </a:ln>
        </p:spPr>
      </p:sp>
      <p:sp>
        <p:nvSpPr>
          <p:cNvPr id="28" name="Text 26"/>
          <p:cNvSpPr/>
          <p:nvPr/>
        </p:nvSpPr>
        <p:spPr>
          <a:xfrm>
            <a:off x="4800600" y="3520440"/>
            <a:ext cx="3840480" cy="347472"/>
          </a:xfrm>
          <a:prstGeom prst="rect">
            <a:avLst/>
          </a:prstGeom>
          <a:noFill/>
          <a:ln/>
        </p:spPr>
        <p:txBody>
          <a:bodyPr wrap="square" rtlCol="0" anchor="ctr"/>
          <a:lstStyle/>
          <a:p>
            <a:pPr algn="ctr" indent="0" marL="0">
              <a:buNone/>
            </a:pPr>
            <a:r>
              <a:rPr lang="en-US" sz="1300" b="1" dirty="0">
                <a:solidFill>
                  <a:srgbClr val="0D9488"/>
                </a:solidFill>
              </a:rPr>
              <a:t>40 ≤ v ≤ 140  (km/h)</a:t>
            </a:r>
            <a:endParaRPr lang="en-US" sz="1300" dirty="0"/>
          </a:p>
        </p:txBody>
      </p:sp>
      <p:sp>
        <p:nvSpPr>
          <p:cNvPr id="29" name="Shape 27"/>
          <p:cNvSpPr/>
          <p:nvPr/>
        </p:nvSpPr>
        <p:spPr>
          <a:xfrm>
            <a:off x="365760" y="4041648"/>
            <a:ext cx="8412480" cy="731520"/>
          </a:xfrm>
          <a:prstGeom prst="rect">
            <a:avLst/>
          </a:prstGeom>
          <a:solidFill>
            <a:srgbClr val="F59E0B">
              <a:alpha val="20000"/>
            </a:srgbClr>
          </a:solidFill>
          <a:ln w="19050">
            <a:solidFill>
              <a:srgbClr val="F59E0B"/>
            </a:solidFill>
            <a:prstDash val="solid"/>
          </a:ln>
        </p:spPr>
      </p:sp>
      <p:sp>
        <p:nvSpPr>
          <p:cNvPr id="30" name="Text 28"/>
          <p:cNvSpPr/>
          <p:nvPr/>
        </p:nvSpPr>
        <p:spPr>
          <a:xfrm>
            <a:off x="502920" y="4087368"/>
            <a:ext cx="8229600" cy="640080"/>
          </a:xfrm>
          <a:prstGeom prst="rect">
            <a:avLst/>
          </a:prstGeom>
          <a:noFill/>
          <a:ln/>
        </p:spPr>
        <p:txBody>
          <a:bodyPr wrap="square" rtlCol="0" anchor="ctr"/>
          <a:lstStyle/>
          <a:p>
            <a:pPr indent="0" marL="0">
              <a:buNone/>
            </a:pPr>
            <a:r>
              <a:rPr lang="en-US" sz="1050" i="1" dirty="0">
                <a:solidFill>
                  <a:srgbClr val="1E293B"/>
                </a:solidFill>
              </a:rPr>
              <a:t>🔑  Practical speed range accounts for safety limits, traffic laws, and highway conditions. The mathematical minimum lies within this interval.</a:t>
            </a:r>
            <a:endParaRPr lang="en-US" sz="1050" dirty="0"/>
          </a:p>
        </p:txBody>
      </p:sp>
      <p:sp>
        <p:nvSpPr>
          <p:cNvPr id="31" name="Text 29"/>
          <p:cNvSpPr/>
          <p:nvPr/>
        </p:nvSpPr>
        <p:spPr>
          <a:xfrm>
            <a:off x="7955280" y="4846320"/>
            <a:ext cx="914400" cy="182880"/>
          </a:xfrm>
          <a:prstGeom prst="rect">
            <a:avLst/>
          </a:prstGeom>
          <a:noFill/>
          <a:ln/>
        </p:spPr>
        <p:txBody>
          <a:bodyPr wrap="square" rtlCol="0" anchor="ctr"/>
          <a:lstStyle/>
          <a:p>
            <a:pPr algn="r" indent="0" marL="0">
              <a:buNone/>
            </a:pPr>
            <a:r>
              <a:rPr lang="en-US" sz="800" dirty="0">
                <a:solidFill>
                  <a:srgbClr val="94A3B8"/>
                </a:solidFill>
              </a:rPr>
              <a:t>04 / 13</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164592"/>
            <a:ext cx="1645920" cy="292608"/>
          </a:xfrm>
          <a:prstGeom prst="roundRect">
            <a:avLst>
              <a:gd name="adj" fmla="val 25000"/>
            </a:avLst>
          </a:prstGeom>
          <a:solidFill>
            <a:srgbClr val="1565C0"/>
          </a:solidFill>
          <a:ln w="12700">
            <a:solidFill>
              <a:srgbClr val="1565C0"/>
            </a:solidFill>
            <a:prstDash val="solid"/>
          </a:ln>
        </p:spPr>
      </p:sp>
      <p:sp>
        <p:nvSpPr>
          <p:cNvPr id="3" name="Text 1"/>
          <p:cNvSpPr/>
          <p:nvPr/>
        </p:nvSpPr>
        <p:spPr>
          <a:xfrm>
            <a:off x="365760" y="164592"/>
            <a:ext cx="1645920" cy="292608"/>
          </a:xfrm>
          <a:prstGeom prst="rect">
            <a:avLst/>
          </a:prstGeom>
          <a:noFill/>
          <a:ln/>
        </p:spPr>
        <p:txBody>
          <a:bodyPr wrap="square" rtlCol="0" anchor="ctr"/>
          <a:lstStyle/>
          <a:p>
            <a:pPr algn="ctr" indent="0" marL="0">
              <a:buNone/>
            </a:pPr>
            <a:r>
              <a:rPr lang="en-US" sz="900" b="1" dirty="0">
                <a:solidFill>
                  <a:srgbClr val="0D2B55"/>
                </a:solidFill>
              </a:rPr>
              <a:t>MODELING</a:t>
            </a:r>
            <a:endParaRPr lang="en-US" sz="900" dirty="0"/>
          </a:p>
        </p:txBody>
      </p:sp>
      <p:sp>
        <p:nvSpPr>
          <p:cNvPr id="4" name="Text 2"/>
          <p:cNvSpPr/>
          <p:nvPr/>
        </p:nvSpPr>
        <p:spPr>
          <a:xfrm>
            <a:off x="365760" y="502920"/>
            <a:ext cx="8412480" cy="640080"/>
          </a:xfrm>
          <a:prstGeom prst="rect">
            <a:avLst/>
          </a:prstGeom>
          <a:noFill/>
          <a:ln/>
        </p:spPr>
        <p:txBody>
          <a:bodyPr wrap="square" rtlCol="0" anchor="ctr"/>
          <a:lstStyle/>
          <a:p>
            <a:pPr indent="0" marL="0">
              <a:buNone/>
            </a:pPr>
            <a:r>
              <a:rPr lang="en-US" sz="2600" b="1" dirty="0">
                <a:solidFill>
                  <a:srgbClr val="0D2B55"/>
                </a:solidFill>
                <a:latin typeface="Calibri" pitchFamily="34" charset="0"/>
                <a:ea typeface="Calibri" pitchFamily="34" charset="-122"/>
                <a:cs typeface="Calibri" pitchFamily="34" charset="-120"/>
              </a:rPr>
              <a:t>Mathematical Model of Fuel Consumption</a:t>
            </a:r>
            <a:endParaRPr lang="en-US" sz="2600" dirty="0"/>
          </a:p>
        </p:txBody>
      </p:sp>
      <p:sp>
        <p:nvSpPr>
          <p:cNvPr id="5" name="Text 3"/>
          <p:cNvSpPr/>
          <p:nvPr/>
        </p:nvSpPr>
        <p:spPr>
          <a:xfrm>
            <a:off x="365760" y="1097280"/>
            <a:ext cx="8412480" cy="320040"/>
          </a:xfrm>
          <a:prstGeom prst="rect">
            <a:avLst/>
          </a:prstGeom>
          <a:noFill/>
          <a:ln/>
        </p:spPr>
        <p:txBody>
          <a:bodyPr wrap="square" rtlCol="0" anchor="ctr"/>
          <a:lstStyle/>
          <a:p>
            <a:pPr indent="0" marL="0">
              <a:buNone/>
            </a:pPr>
            <a:r>
              <a:rPr lang="en-US" sz="1300" i="1" dirty="0">
                <a:solidFill>
                  <a:srgbClr val="1565C0"/>
                </a:solidFill>
                <a:latin typeface="Calibri" pitchFamily="34" charset="0"/>
                <a:ea typeface="Calibri" pitchFamily="34" charset="-122"/>
                <a:cs typeface="Calibri" pitchFamily="34" charset="-120"/>
              </a:rPr>
              <a:t>A convex, unimodal function with a unique global minimum</a:t>
            </a:r>
            <a:endParaRPr lang="en-US" sz="1300" dirty="0"/>
          </a:p>
        </p:txBody>
      </p:sp>
      <p:pic>
        <p:nvPicPr>
          <p:cNvPr id="6" name="Image 0" descr="preencoded.png">    </p:cNvPr>
          <p:cNvPicPr>
            <a:picLocks noChangeAspect="1"/>
          </p:cNvPicPr>
          <p:nvPr/>
        </p:nvPicPr>
        <p:blipFill>
          <a:blip r:embed="rId1"/>
          <a:stretch>
            <a:fillRect/>
          </a:stretch>
        </p:blipFill>
        <p:spPr>
          <a:xfrm>
            <a:off x="274320" y="1188720"/>
            <a:ext cx="5394960" cy="3017520"/>
          </a:xfrm>
          <a:prstGeom prst="rect">
            <a:avLst/>
          </a:prstGeom>
        </p:spPr>
      </p:pic>
      <p:sp>
        <p:nvSpPr>
          <p:cNvPr id="7" name="Shape 4"/>
          <p:cNvSpPr/>
          <p:nvPr/>
        </p:nvSpPr>
        <p:spPr>
          <a:xfrm>
            <a:off x="5852160" y="1188720"/>
            <a:ext cx="3017520" cy="822960"/>
          </a:xfrm>
          <a:prstGeom prst="rect">
            <a:avLst/>
          </a:prstGeom>
          <a:solidFill>
            <a:srgbClr val="0D2B55"/>
          </a:solidFill>
          <a:ln w="12700">
            <a:solidFill>
              <a:srgbClr val="0D2B55"/>
            </a:solidFill>
            <a:prstDash val="solid"/>
          </a:ln>
          <a:effectLst>
            <a:outerShdw sx="100000" sy="100000" kx="0" ky="0" algn="bl" rotWithShape="0" blurRad="101600" dist="38100" dir="8100000">
              <a:srgbClr val="000000">
                <a:alpha val="12000"/>
              </a:srgbClr>
            </a:outerShdw>
          </a:effectLst>
        </p:spPr>
      </p:sp>
      <p:sp>
        <p:nvSpPr>
          <p:cNvPr id="8" name="Text 5"/>
          <p:cNvSpPr/>
          <p:nvPr/>
        </p:nvSpPr>
        <p:spPr>
          <a:xfrm>
            <a:off x="5897880" y="1207008"/>
            <a:ext cx="2926080" cy="786384"/>
          </a:xfrm>
          <a:prstGeom prst="rect">
            <a:avLst/>
          </a:prstGeom>
          <a:noFill/>
          <a:ln/>
        </p:spPr>
        <p:txBody>
          <a:bodyPr wrap="square" rtlCol="0" anchor="ctr"/>
          <a:lstStyle/>
          <a:p>
            <a:pPr algn="ctr" indent="0" marL="0">
              <a:buNone/>
            </a:pPr>
            <a:r>
              <a:rPr lang="en-US" sz="1400" b="1" dirty="0">
                <a:solidFill>
                  <a:srgbClr val="F59E0B"/>
                </a:solidFill>
              </a:rPr>
              <a:t>f(v) = 0.005(v − 80)² + 6</a:t>
            </a:r>
            <a:endParaRPr lang="en-US" sz="1400" dirty="0"/>
          </a:p>
        </p:txBody>
      </p:sp>
      <p:sp>
        <p:nvSpPr>
          <p:cNvPr id="9" name="Shape 6"/>
          <p:cNvSpPr/>
          <p:nvPr/>
        </p:nvSpPr>
        <p:spPr>
          <a:xfrm>
            <a:off x="5852160" y="2084832"/>
            <a:ext cx="3017520" cy="594360"/>
          </a:xfrm>
          <a:prstGeom prst="rect">
            <a:avLst/>
          </a:prstGeom>
          <a:solidFill>
            <a:srgbClr val="F0F4F8"/>
          </a:solidFill>
          <a:ln w="12700">
            <a:solidFill>
              <a:srgbClr val="D1D5DB"/>
            </a:solidFill>
            <a:prstDash val="solid"/>
          </a:ln>
        </p:spPr>
      </p:sp>
      <p:sp>
        <p:nvSpPr>
          <p:cNvPr id="10" name="Text 7"/>
          <p:cNvSpPr/>
          <p:nvPr/>
        </p:nvSpPr>
        <p:spPr>
          <a:xfrm>
            <a:off x="5961888" y="2139696"/>
            <a:ext cx="1097280" cy="237744"/>
          </a:xfrm>
          <a:prstGeom prst="rect">
            <a:avLst/>
          </a:prstGeom>
          <a:noFill/>
          <a:ln/>
        </p:spPr>
        <p:txBody>
          <a:bodyPr wrap="square" rtlCol="0" anchor="ctr"/>
          <a:lstStyle/>
          <a:p>
            <a:pPr indent="0" marL="0">
              <a:buNone/>
            </a:pPr>
            <a:r>
              <a:rPr lang="en-US" sz="1000" b="1" dirty="0">
                <a:solidFill>
                  <a:srgbClr val="1565C0"/>
                </a:solidFill>
              </a:rPr>
              <a:t>📐  Shape: </a:t>
            </a:r>
            <a:endParaRPr lang="en-US" sz="1000" dirty="0"/>
          </a:p>
        </p:txBody>
      </p:sp>
      <p:sp>
        <p:nvSpPr>
          <p:cNvPr id="11" name="Text 8"/>
          <p:cNvSpPr/>
          <p:nvPr/>
        </p:nvSpPr>
        <p:spPr>
          <a:xfrm>
            <a:off x="5961888" y="2359152"/>
            <a:ext cx="2834640" cy="274320"/>
          </a:xfrm>
          <a:prstGeom prst="rect">
            <a:avLst/>
          </a:prstGeom>
          <a:noFill/>
          <a:ln/>
        </p:spPr>
        <p:txBody>
          <a:bodyPr wrap="square" rtlCol="0" anchor="ctr"/>
          <a:lstStyle/>
          <a:p>
            <a:pPr indent="0" marL="0">
              <a:buNone/>
            </a:pPr>
            <a:r>
              <a:rPr lang="en-US" sz="950" dirty="0">
                <a:solidFill>
                  <a:srgbClr val="1E293B"/>
                </a:solidFill>
              </a:rPr>
              <a:t>Parabola (convex quadratic) — opens upward</a:t>
            </a:r>
            <a:endParaRPr lang="en-US" sz="950" dirty="0"/>
          </a:p>
        </p:txBody>
      </p:sp>
      <p:sp>
        <p:nvSpPr>
          <p:cNvPr id="12" name="Shape 9"/>
          <p:cNvSpPr/>
          <p:nvPr/>
        </p:nvSpPr>
        <p:spPr>
          <a:xfrm>
            <a:off x="5852160" y="2770632"/>
            <a:ext cx="3017520" cy="594360"/>
          </a:xfrm>
          <a:prstGeom prst="rect">
            <a:avLst/>
          </a:prstGeom>
          <a:solidFill>
            <a:srgbClr val="F0F4F8"/>
          </a:solidFill>
          <a:ln w="12700">
            <a:solidFill>
              <a:srgbClr val="D1D5DB"/>
            </a:solidFill>
            <a:prstDash val="solid"/>
          </a:ln>
        </p:spPr>
      </p:sp>
      <p:sp>
        <p:nvSpPr>
          <p:cNvPr id="13" name="Text 10"/>
          <p:cNvSpPr/>
          <p:nvPr/>
        </p:nvSpPr>
        <p:spPr>
          <a:xfrm>
            <a:off x="5961888" y="2825496"/>
            <a:ext cx="1097280" cy="237744"/>
          </a:xfrm>
          <a:prstGeom prst="rect">
            <a:avLst/>
          </a:prstGeom>
          <a:noFill/>
          <a:ln/>
        </p:spPr>
        <p:txBody>
          <a:bodyPr wrap="square" rtlCol="0" anchor="ctr"/>
          <a:lstStyle/>
          <a:p>
            <a:pPr indent="0" marL="0">
              <a:buNone/>
            </a:pPr>
            <a:r>
              <a:rPr lang="en-US" sz="1000" b="1" dirty="0">
                <a:solidFill>
                  <a:srgbClr val="1565C0"/>
                </a:solidFill>
              </a:rPr>
              <a:t>🔵  Vertex: </a:t>
            </a:r>
            <a:endParaRPr lang="en-US" sz="1000" dirty="0"/>
          </a:p>
        </p:txBody>
      </p:sp>
      <p:sp>
        <p:nvSpPr>
          <p:cNvPr id="14" name="Text 11"/>
          <p:cNvSpPr/>
          <p:nvPr/>
        </p:nvSpPr>
        <p:spPr>
          <a:xfrm>
            <a:off x="5961888" y="3044952"/>
            <a:ext cx="2834640" cy="274320"/>
          </a:xfrm>
          <a:prstGeom prst="rect">
            <a:avLst/>
          </a:prstGeom>
          <a:noFill/>
          <a:ln/>
        </p:spPr>
        <p:txBody>
          <a:bodyPr wrap="square" rtlCol="0" anchor="ctr"/>
          <a:lstStyle/>
          <a:p>
            <a:pPr indent="0" marL="0">
              <a:buNone/>
            </a:pPr>
            <a:r>
              <a:rPr lang="en-US" sz="950" dirty="0">
                <a:solidFill>
                  <a:srgbClr val="1E293B"/>
                </a:solidFill>
              </a:rPr>
              <a:t>At v = 80 km/h → minimum = 6 L/100km</a:t>
            </a:r>
            <a:endParaRPr lang="en-US" sz="950" dirty="0"/>
          </a:p>
        </p:txBody>
      </p:sp>
      <p:sp>
        <p:nvSpPr>
          <p:cNvPr id="15" name="Shape 12"/>
          <p:cNvSpPr/>
          <p:nvPr/>
        </p:nvSpPr>
        <p:spPr>
          <a:xfrm>
            <a:off x="5852160" y="3456432"/>
            <a:ext cx="3017520" cy="594360"/>
          </a:xfrm>
          <a:prstGeom prst="rect">
            <a:avLst/>
          </a:prstGeom>
          <a:solidFill>
            <a:srgbClr val="F0F4F8"/>
          </a:solidFill>
          <a:ln w="12700">
            <a:solidFill>
              <a:srgbClr val="D1D5DB"/>
            </a:solidFill>
            <a:prstDash val="solid"/>
          </a:ln>
        </p:spPr>
      </p:sp>
      <p:sp>
        <p:nvSpPr>
          <p:cNvPr id="16" name="Text 13"/>
          <p:cNvSpPr/>
          <p:nvPr/>
        </p:nvSpPr>
        <p:spPr>
          <a:xfrm>
            <a:off x="5961888" y="3511296"/>
            <a:ext cx="1097280" cy="237744"/>
          </a:xfrm>
          <a:prstGeom prst="rect">
            <a:avLst/>
          </a:prstGeom>
          <a:noFill/>
          <a:ln/>
        </p:spPr>
        <p:txBody>
          <a:bodyPr wrap="square" rtlCol="0" anchor="ctr"/>
          <a:lstStyle/>
          <a:p>
            <a:pPr indent="0" marL="0">
              <a:buNone/>
            </a:pPr>
            <a:r>
              <a:rPr lang="en-US" sz="1000" b="1" dirty="0">
                <a:solidFill>
                  <a:srgbClr val="1565C0"/>
                </a:solidFill>
              </a:rPr>
              <a:t>📈  Unimodal: </a:t>
            </a:r>
            <a:endParaRPr lang="en-US" sz="1000" dirty="0"/>
          </a:p>
        </p:txBody>
      </p:sp>
      <p:sp>
        <p:nvSpPr>
          <p:cNvPr id="17" name="Text 14"/>
          <p:cNvSpPr/>
          <p:nvPr/>
        </p:nvSpPr>
        <p:spPr>
          <a:xfrm>
            <a:off x="5961888" y="3730752"/>
            <a:ext cx="2834640" cy="274320"/>
          </a:xfrm>
          <a:prstGeom prst="rect">
            <a:avLst/>
          </a:prstGeom>
          <a:noFill/>
          <a:ln/>
        </p:spPr>
        <p:txBody>
          <a:bodyPr wrap="square" rtlCol="0" anchor="ctr"/>
          <a:lstStyle/>
          <a:p>
            <a:pPr indent="0" marL="0">
              <a:buNone/>
            </a:pPr>
            <a:r>
              <a:rPr lang="en-US" sz="950" dirty="0">
                <a:solidFill>
                  <a:srgbClr val="1E293B"/>
                </a:solidFill>
              </a:rPr>
              <a:t>Exactly ONE minimum in [40, 140]</a:t>
            </a:r>
            <a:endParaRPr lang="en-US" sz="950" dirty="0"/>
          </a:p>
        </p:txBody>
      </p:sp>
      <p:sp>
        <p:nvSpPr>
          <p:cNvPr id="18" name="Shape 15"/>
          <p:cNvSpPr/>
          <p:nvPr/>
        </p:nvSpPr>
        <p:spPr>
          <a:xfrm>
            <a:off x="5852160" y="4142232"/>
            <a:ext cx="3017520" cy="594360"/>
          </a:xfrm>
          <a:prstGeom prst="rect">
            <a:avLst/>
          </a:prstGeom>
          <a:solidFill>
            <a:srgbClr val="F0F4F8"/>
          </a:solidFill>
          <a:ln w="12700">
            <a:solidFill>
              <a:srgbClr val="D1D5DB"/>
            </a:solidFill>
            <a:prstDash val="solid"/>
          </a:ln>
        </p:spPr>
      </p:sp>
      <p:sp>
        <p:nvSpPr>
          <p:cNvPr id="19" name="Text 16"/>
          <p:cNvSpPr/>
          <p:nvPr/>
        </p:nvSpPr>
        <p:spPr>
          <a:xfrm>
            <a:off x="5961888" y="4197096"/>
            <a:ext cx="1097280" cy="237744"/>
          </a:xfrm>
          <a:prstGeom prst="rect">
            <a:avLst/>
          </a:prstGeom>
          <a:noFill/>
          <a:ln/>
        </p:spPr>
        <p:txBody>
          <a:bodyPr wrap="square" rtlCol="0" anchor="ctr"/>
          <a:lstStyle/>
          <a:p>
            <a:pPr indent="0" marL="0">
              <a:buNone/>
            </a:pPr>
            <a:r>
              <a:rPr lang="en-US" sz="1000" b="1" dirty="0">
                <a:solidFill>
                  <a:srgbClr val="1565C0"/>
                </a:solidFill>
              </a:rPr>
              <a:t>✅  GSS-Ready: </a:t>
            </a:r>
            <a:endParaRPr lang="en-US" sz="1000" dirty="0"/>
          </a:p>
        </p:txBody>
      </p:sp>
      <p:sp>
        <p:nvSpPr>
          <p:cNvPr id="20" name="Text 17"/>
          <p:cNvSpPr/>
          <p:nvPr/>
        </p:nvSpPr>
        <p:spPr>
          <a:xfrm>
            <a:off x="5961888" y="4416552"/>
            <a:ext cx="2834640" cy="274320"/>
          </a:xfrm>
          <a:prstGeom prst="rect">
            <a:avLst/>
          </a:prstGeom>
          <a:noFill/>
          <a:ln/>
        </p:spPr>
        <p:txBody>
          <a:bodyPr wrap="square" rtlCol="0" anchor="ctr"/>
          <a:lstStyle/>
          <a:p>
            <a:pPr indent="0" marL="0">
              <a:buNone/>
            </a:pPr>
            <a:r>
              <a:rPr lang="en-US" sz="950" dirty="0">
                <a:solidFill>
                  <a:srgbClr val="1E293B"/>
                </a:solidFill>
              </a:rPr>
              <a:t>Unimodal → Golden Section Search is valid</a:t>
            </a:r>
            <a:endParaRPr lang="en-US" sz="950" dirty="0"/>
          </a:p>
        </p:txBody>
      </p:sp>
      <p:sp>
        <p:nvSpPr>
          <p:cNvPr id="21" name="Shape 18"/>
          <p:cNvSpPr/>
          <p:nvPr/>
        </p:nvSpPr>
        <p:spPr>
          <a:xfrm>
            <a:off x="274320" y="4251960"/>
            <a:ext cx="8595360" cy="594360"/>
          </a:xfrm>
          <a:prstGeom prst="rect">
            <a:avLst/>
          </a:prstGeom>
          <a:solidFill>
            <a:srgbClr val="0D2B55"/>
          </a:solidFill>
          <a:ln w="12700">
            <a:solidFill>
              <a:srgbClr val="0D2B55"/>
            </a:solidFill>
            <a:prstDash val="solid"/>
          </a:ln>
        </p:spPr>
      </p:sp>
      <p:sp>
        <p:nvSpPr>
          <p:cNvPr id="22" name="Text 19"/>
          <p:cNvSpPr/>
          <p:nvPr/>
        </p:nvSpPr>
        <p:spPr>
          <a:xfrm>
            <a:off x="411480" y="4279392"/>
            <a:ext cx="8412480" cy="530352"/>
          </a:xfrm>
          <a:prstGeom prst="rect">
            <a:avLst/>
          </a:prstGeom>
          <a:noFill/>
          <a:ln/>
        </p:spPr>
        <p:txBody>
          <a:bodyPr wrap="square" rtlCol="0" anchor="ctr"/>
          <a:lstStyle/>
          <a:p>
            <a:pPr indent="0" marL="0">
              <a:buNone/>
            </a:pPr>
            <a:r>
              <a:rPr lang="en-US" sz="1050" i="1" dirty="0">
                <a:solidFill>
                  <a:srgbClr val="FFFFFF"/>
                </a:solidFill>
              </a:rPr>
              <a:t>🔑  The function's unimodal (single-valley) shape guarantees that Golden Section Search will converge to the exact minimum efficiently.</a:t>
            </a:r>
            <a:endParaRPr lang="en-US" sz="1050" dirty="0"/>
          </a:p>
        </p:txBody>
      </p:sp>
      <p:sp>
        <p:nvSpPr>
          <p:cNvPr id="23" name="Text 20"/>
          <p:cNvSpPr/>
          <p:nvPr/>
        </p:nvSpPr>
        <p:spPr>
          <a:xfrm>
            <a:off x="7955280" y="4846320"/>
            <a:ext cx="914400" cy="182880"/>
          </a:xfrm>
          <a:prstGeom prst="rect">
            <a:avLst/>
          </a:prstGeom>
          <a:noFill/>
          <a:ln/>
        </p:spPr>
        <p:txBody>
          <a:bodyPr wrap="square" rtlCol="0" anchor="ctr"/>
          <a:lstStyle/>
          <a:p>
            <a:pPr algn="r" indent="0" marL="0">
              <a:buNone/>
            </a:pPr>
            <a:r>
              <a:rPr lang="en-US" sz="800" dirty="0">
                <a:solidFill>
                  <a:srgbClr val="94A3B8"/>
                </a:solidFill>
              </a:rPr>
              <a:t>05 / 13</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365760" y="164592"/>
            <a:ext cx="1645920" cy="292608"/>
          </a:xfrm>
          <a:prstGeom prst="roundRect">
            <a:avLst>
              <a:gd name="adj" fmla="val 25000"/>
            </a:avLst>
          </a:prstGeom>
          <a:solidFill>
            <a:srgbClr val="EF4444"/>
          </a:solidFill>
          <a:ln w="12700">
            <a:solidFill>
              <a:srgbClr val="EF4444"/>
            </a:solidFill>
            <a:prstDash val="solid"/>
          </a:ln>
        </p:spPr>
      </p:sp>
      <p:sp>
        <p:nvSpPr>
          <p:cNvPr id="3" name="Text 1"/>
          <p:cNvSpPr/>
          <p:nvPr/>
        </p:nvSpPr>
        <p:spPr>
          <a:xfrm>
            <a:off x="365760" y="164592"/>
            <a:ext cx="1645920" cy="292608"/>
          </a:xfrm>
          <a:prstGeom prst="rect">
            <a:avLst/>
          </a:prstGeom>
          <a:noFill/>
          <a:ln/>
        </p:spPr>
        <p:txBody>
          <a:bodyPr wrap="square" rtlCol="0" anchor="ctr"/>
          <a:lstStyle/>
          <a:p>
            <a:pPr algn="ctr" indent="0" marL="0">
              <a:buNone/>
            </a:pPr>
            <a:r>
              <a:rPr lang="en-US" sz="900" b="1" dirty="0">
                <a:solidFill>
                  <a:srgbClr val="0D2B55"/>
                </a:solidFill>
              </a:rPr>
              <a:t>MOTIVATION</a:t>
            </a:r>
            <a:endParaRPr lang="en-US" sz="900" dirty="0"/>
          </a:p>
        </p:txBody>
      </p:sp>
      <p:sp>
        <p:nvSpPr>
          <p:cNvPr id="4" name="Text 2"/>
          <p:cNvSpPr/>
          <p:nvPr/>
        </p:nvSpPr>
        <p:spPr>
          <a:xfrm>
            <a:off x="365760" y="502920"/>
            <a:ext cx="8412480" cy="640080"/>
          </a:xfrm>
          <a:prstGeom prst="rect">
            <a:avLst/>
          </a:prstGeom>
          <a:noFill/>
          <a:ln/>
        </p:spPr>
        <p:txBody>
          <a:bodyPr wrap="square" rtlCol="0" anchor="ctr"/>
          <a:lstStyle/>
          <a:p>
            <a:pPr indent="0" marL="0">
              <a:buNone/>
            </a:pPr>
            <a:r>
              <a:rPr lang="en-US" sz="2600" b="1" dirty="0">
                <a:solidFill>
                  <a:srgbClr val="0D2B55"/>
                </a:solidFill>
                <a:latin typeface="Calibri" pitchFamily="34" charset="0"/>
                <a:ea typeface="Calibri" pitchFamily="34" charset="-122"/>
                <a:cs typeface="Calibri" pitchFamily="34" charset="-120"/>
              </a:rPr>
              <a:t>Why Brute Force Search is Inefficient</a:t>
            </a:r>
            <a:endParaRPr lang="en-US" sz="2600" dirty="0"/>
          </a:p>
        </p:txBody>
      </p:sp>
      <p:sp>
        <p:nvSpPr>
          <p:cNvPr id="5" name="Text 3"/>
          <p:cNvSpPr/>
          <p:nvPr/>
        </p:nvSpPr>
        <p:spPr>
          <a:xfrm>
            <a:off x="365760" y="1097280"/>
            <a:ext cx="8412480" cy="320040"/>
          </a:xfrm>
          <a:prstGeom prst="rect">
            <a:avLst/>
          </a:prstGeom>
          <a:noFill/>
          <a:ln/>
        </p:spPr>
        <p:txBody>
          <a:bodyPr wrap="square" rtlCol="0" anchor="ctr"/>
          <a:lstStyle/>
          <a:p>
            <a:pPr indent="0" marL="0">
              <a:buNone/>
            </a:pPr>
            <a:r>
              <a:rPr lang="en-US" sz="1300" i="1" dirty="0">
                <a:solidFill>
                  <a:srgbClr val="1565C0"/>
                </a:solidFill>
                <a:latin typeface="Calibri" pitchFamily="34" charset="0"/>
                <a:ea typeface="Calibri" pitchFamily="34" charset="-122"/>
                <a:cs typeface="Calibri" pitchFamily="34" charset="-120"/>
              </a:rPr>
              <a:t>The cost of checking every possible value</a:t>
            </a:r>
            <a:endParaRPr lang="en-US" sz="1300" dirty="0"/>
          </a:p>
        </p:txBody>
      </p:sp>
      <p:sp>
        <p:nvSpPr>
          <p:cNvPr id="6" name="Shape 4"/>
          <p:cNvSpPr/>
          <p:nvPr/>
        </p:nvSpPr>
        <p:spPr>
          <a:xfrm>
            <a:off x="365760" y="1417320"/>
            <a:ext cx="3977640" cy="3108960"/>
          </a:xfrm>
          <a:prstGeom prst="rect">
            <a:avLst/>
          </a:prstGeom>
          <a:solidFill>
            <a:srgbClr val="FFF1F1"/>
          </a:solidFill>
          <a:ln w="25400">
            <a:solidFill>
              <a:srgbClr val="EF4444"/>
            </a:solidFill>
            <a:prstDash val="solid"/>
          </a:ln>
          <a:effectLst>
            <a:outerShdw sx="100000" sy="100000" kx="0" ky="0" algn="bl" rotWithShape="0" blurRad="101600" dist="38100" dir="8100000">
              <a:srgbClr val="000000">
                <a:alpha val="12000"/>
              </a:srgbClr>
            </a:outerShdw>
          </a:effectLst>
        </p:spPr>
      </p:sp>
      <p:sp>
        <p:nvSpPr>
          <p:cNvPr id="7" name="Text 5"/>
          <p:cNvSpPr/>
          <p:nvPr/>
        </p:nvSpPr>
        <p:spPr>
          <a:xfrm>
            <a:off x="502920" y="1481328"/>
            <a:ext cx="3749040" cy="411480"/>
          </a:xfrm>
          <a:prstGeom prst="rect">
            <a:avLst/>
          </a:prstGeom>
          <a:noFill/>
          <a:ln/>
        </p:spPr>
        <p:txBody>
          <a:bodyPr wrap="square" rtlCol="0" anchor="ctr"/>
          <a:lstStyle/>
          <a:p>
            <a:pPr indent="0" marL="0">
              <a:buNone/>
            </a:pPr>
            <a:r>
              <a:rPr lang="en-US" sz="1400" b="1" dirty="0">
                <a:solidFill>
                  <a:srgbClr val="EF4444"/>
                </a:solidFill>
              </a:rPr>
              <a:t>❌  Brute Force Search</a:t>
            </a:r>
            <a:endParaRPr lang="en-US" sz="1400" dirty="0"/>
          </a:p>
        </p:txBody>
      </p:sp>
      <p:sp>
        <p:nvSpPr>
          <p:cNvPr id="8" name="Text 6"/>
          <p:cNvSpPr/>
          <p:nvPr/>
        </p:nvSpPr>
        <p:spPr>
          <a:xfrm>
            <a:off x="502920" y="1965960"/>
            <a:ext cx="3749040" cy="347472"/>
          </a:xfrm>
          <a:prstGeom prst="rect">
            <a:avLst/>
          </a:prstGeom>
          <a:noFill/>
          <a:ln/>
        </p:spPr>
        <p:txBody>
          <a:bodyPr wrap="square" rtlCol="0" anchor="ctr"/>
          <a:lstStyle/>
          <a:p>
            <a:pPr indent="0" marL="0">
              <a:buNone/>
            </a:pPr>
            <a:r>
              <a:rPr lang="en-US" sz="1050" dirty="0">
                <a:solidFill>
                  <a:srgbClr val="1E293B"/>
                </a:solidFill>
              </a:rPr>
              <a:t>• Test every speed: 40, 41, 42, ..., 140</a:t>
            </a:r>
            <a:endParaRPr lang="en-US" sz="1050" dirty="0"/>
          </a:p>
        </p:txBody>
      </p:sp>
      <p:sp>
        <p:nvSpPr>
          <p:cNvPr id="9" name="Text 7"/>
          <p:cNvSpPr/>
          <p:nvPr/>
        </p:nvSpPr>
        <p:spPr>
          <a:xfrm>
            <a:off x="502920" y="2350008"/>
            <a:ext cx="3749040" cy="347472"/>
          </a:xfrm>
          <a:prstGeom prst="rect">
            <a:avLst/>
          </a:prstGeom>
          <a:noFill/>
          <a:ln/>
        </p:spPr>
        <p:txBody>
          <a:bodyPr wrap="square" rtlCol="0" anchor="ctr"/>
          <a:lstStyle/>
          <a:p>
            <a:pPr indent="0" marL="0">
              <a:buNone/>
            </a:pPr>
            <a:r>
              <a:rPr lang="en-US" sz="1050" dirty="0">
                <a:solidFill>
                  <a:srgbClr val="1E293B"/>
                </a:solidFill>
              </a:rPr>
              <a:t>• Resolution = 0.1 km/h → 1,000 evaluations</a:t>
            </a:r>
            <a:endParaRPr lang="en-US" sz="1050" dirty="0"/>
          </a:p>
        </p:txBody>
      </p:sp>
      <p:sp>
        <p:nvSpPr>
          <p:cNvPr id="10" name="Text 8"/>
          <p:cNvSpPr/>
          <p:nvPr/>
        </p:nvSpPr>
        <p:spPr>
          <a:xfrm>
            <a:off x="502920" y="2734056"/>
            <a:ext cx="3749040" cy="347472"/>
          </a:xfrm>
          <a:prstGeom prst="rect">
            <a:avLst/>
          </a:prstGeom>
          <a:noFill/>
          <a:ln/>
        </p:spPr>
        <p:txBody>
          <a:bodyPr wrap="square" rtlCol="0" anchor="ctr"/>
          <a:lstStyle/>
          <a:p>
            <a:pPr indent="0" marL="0">
              <a:buNone/>
            </a:pPr>
            <a:r>
              <a:rPr lang="en-US" sz="1050" dirty="0">
                <a:solidFill>
                  <a:srgbClr val="1E293B"/>
                </a:solidFill>
              </a:rPr>
              <a:t>• Resolution = 0.01 km/h → 10,000 eval.</a:t>
            </a:r>
            <a:endParaRPr lang="en-US" sz="1050" dirty="0"/>
          </a:p>
        </p:txBody>
      </p:sp>
      <p:sp>
        <p:nvSpPr>
          <p:cNvPr id="11" name="Text 9"/>
          <p:cNvSpPr/>
          <p:nvPr/>
        </p:nvSpPr>
        <p:spPr>
          <a:xfrm>
            <a:off x="502920" y="3118104"/>
            <a:ext cx="3749040" cy="347472"/>
          </a:xfrm>
          <a:prstGeom prst="rect">
            <a:avLst/>
          </a:prstGeom>
          <a:noFill/>
          <a:ln/>
        </p:spPr>
        <p:txBody>
          <a:bodyPr wrap="square" rtlCol="0" anchor="ctr"/>
          <a:lstStyle/>
          <a:p>
            <a:pPr indent="0" marL="0">
              <a:buNone/>
            </a:pPr>
            <a:r>
              <a:rPr lang="en-US" sz="1050" dirty="0">
                <a:solidFill>
                  <a:srgbClr val="1E293B"/>
                </a:solidFill>
              </a:rPr>
              <a:t>• Each f(v) call = computational cost</a:t>
            </a:r>
            <a:endParaRPr lang="en-US" sz="1050" dirty="0"/>
          </a:p>
        </p:txBody>
      </p:sp>
      <p:sp>
        <p:nvSpPr>
          <p:cNvPr id="12" name="Text 10"/>
          <p:cNvSpPr/>
          <p:nvPr/>
        </p:nvSpPr>
        <p:spPr>
          <a:xfrm>
            <a:off x="502920" y="3502152"/>
            <a:ext cx="3749040" cy="347472"/>
          </a:xfrm>
          <a:prstGeom prst="rect">
            <a:avLst/>
          </a:prstGeom>
          <a:noFill/>
          <a:ln/>
        </p:spPr>
        <p:txBody>
          <a:bodyPr wrap="square" rtlCol="0" anchor="ctr"/>
          <a:lstStyle/>
          <a:p>
            <a:pPr indent="0" marL="0">
              <a:buNone/>
            </a:pPr>
            <a:r>
              <a:rPr lang="en-US" sz="1050" dirty="0">
                <a:solidFill>
                  <a:srgbClr val="1E293B"/>
                </a:solidFill>
              </a:rPr>
              <a:t>• No intelligence — no learning from results</a:t>
            </a:r>
            <a:endParaRPr lang="en-US" sz="1050" dirty="0"/>
          </a:p>
        </p:txBody>
      </p:sp>
      <p:sp>
        <p:nvSpPr>
          <p:cNvPr id="13" name="Text 11"/>
          <p:cNvSpPr/>
          <p:nvPr/>
        </p:nvSpPr>
        <p:spPr>
          <a:xfrm>
            <a:off x="502920" y="3886200"/>
            <a:ext cx="3749040" cy="347472"/>
          </a:xfrm>
          <a:prstGeom prst="rect">
            <a:avLst/>
          </a:prstGeom>
          <a:noFill/>
          <a:ln/>
        </p:spPr>
        <p:txBody>
          <a:bodyPr wrap="square" rtlCol="0" anchor="ctr"/>
          <a:lstStyle/>
          <a:p>
            <a:pPr indent="0" marL="0">
              <a:buNone/>
            </a:pPr>
            <a:r>
              <a:rPr lang="en-US" sz="1050" dirty="0">
                <a:solidFill>
                  <a:srgbClr val="1E293B"/>
                </a:solidFill>
              </a:rPr>
              <a:t>• Slow for high-dimensional problems</a:t>
            </a:r>
            <a:endParaRPr lang="en-US" sz="1050" dirty="0"/>
          </a:p>
        </p:txBody>
      </p:sp>
      <p:sp>
        <p:nvSpPr>
          <p:cNvPr id="14" name="Shape 12"/>
          <p:cNvSpPr/>
          <p:nvPr/>
        </p:nvSpPr>
        <p:spPr>
          <a:xfrm>
            <a:off x="502920" y="3840480"/>
            <a:ext cx="3749040" cy="548640"/>
          </a:xfrm>
          <a:prstGeom prst="rect">
            <a:avLst/>
          </a:prstGeom>
          <a:solidFill>
            <a:srgbClr val="EF4444">
              <a:alpha val="20000"/>
            </a:srgbClr>
          </a:solidFill>
          <a:ln w="12700">
            <a:solidFill>
              <a:srgbClr val="EF4444"/>
            </a:solidFill>
            <a:prstDash val="solid"/>
          </a:ln>
        </p:spPr>
      </p:sp>
      <p:sp>
        <p:nvSpPr>
          <p:cNvPr id="15" name="Text 13"/>
          <p:cNvSpPr/>
          <p:nvPr/>
        </p:nvSpPr>
        <p:spPr>
          <a:xfrm>
            <a:off x="502920" y="3840480"/>
            <a:ext cx="3749040" cy="548640"/>
          </a:xfrm>
          <a:prstGeom prst="rect">
            <a:avLst/>
          </a:prstGeom>
          <a:noFill/>
          <a:ln/>
        </p:spPr>
        <p:txBody>
          <a:bodyPr wrap="square" rtlCol="0" anchor="ctr"/>
          <a:lstStyle/>
          <a:p>
            <a:pPr algn="ctr" indent="0" marL="0">
              <a:buNone/>
            </a:pPr>
            <a:r>
              <a:rPr lang="en-US" sz="1150" b="1" dirty="0">
                <a:solidFill>
                  <a:srgbClr val="EF4444"/>
                </a:solidFill>
              </a:rPr>
              <a:t>Up to 10,000+ function evaluations!</a:t>
            </a:r>
            <a:endParaRPr lang="en-US" sz="1150" dirty="0"/>
          </a:p>
        </p:txBody>
      </p:sp>
      <p:sp>
        <p:nvSpPr>
          <p:cNvPr id="16" name="Shape 14"/>
          <p:cNvSpPr/>
          <p:nvPr/>
        </p:nvSpPr>
        <p:spPr>
          <a:xfrm>
            <a:off x="4572000" y="1417320"/>
            <a:ext cx="4206240" cy="3108960"/>
          </a:xfrm>
          <a:prstGeom prst="rect">
            <a:avLst/>
          </a:prstGeom>
          <a:solidFill>
            <a:srgbClr val="F0FDF4"/>
          </a:solidFill>
          <a:ln w="25400">
            <a:solidFill>
              <a:srgbClr val="10B981"/>
            </a:solidFill>
            <a:prstDash val="solid"/>
          </a:ln>
          <a:effectLst>
            <a:outerShdw sx="100000" sy="100000" kx="0" ky="0" algn="bl" rotWithShape="0" blurRad="101600" dist="38100" dir="8100000">
              <a:srgbClr val="000000">
                <a:alpha val="12000"/>
              </a:srgbClr>
            </a:outerShdw>
          </a:effectLst>
        </p:spPr>
      </p:sp>
      <p:sp>
        <p:nvSpPr>
          <p:cNvPr id="17" name="Text 15"/>
          <p:cNvSpPr/>
          <p:nvPr/>
        </p:nvSpPr>
        <p:spPr>
          <a:xfrm>
            <a:off x="4709160" y="1481328"/>
            <a:ext cx="3931920" cy="411480"/>
          </a:xfrm>
          <a:prstGeom prst="rect">
            <a:avLst/>
          </a:prstGeom>
          <a:noFill/>
          <a:ln/>
        </p:spPr>
        <p:txBody>
          <a:bodyPr wrap="square" rtlCol="0" anchor="ctr"/>
          <a:lstStyle/>
          <a:p>
            <a:pPr indent="0" marL="0">
              <a:buNone/>
            </a:pPr>
            <a:r>
              <a:rPr lang="en-US" sz="1400" b="1" dirty="0">
                <a:solidFill>
                  <a:srgbClr val="10B981"/>
                </a:solidFill>
              </a:rPr>
              <a:t>✅  Golden Section Search</a:t>
            </a:r>
            <a:endParaRPr lang="en-US" sz="1400" dirty="0"/>
          </a:p>
        </p:txBody>
      </p:sp>
      <p:sp>
        <p:nvSpPr>
          <p:cNvPr id="18" name="Text 16"/>
          <p:cNvSpPr/>
          <p:nvPr/>
        </p:nvSpPr>
        <p:spPr>
          <a:xfrm>
            <a:off x="4709160" y="1965960"/>
            <a:ext cx="3931920" cy="347472"/>
          </a:xfrm>
          <a:prstGeom prst="rect">
            <a:avLst/>
          </a:prstGeom>
          <a:noFill/>
          <a:ln/>
        </p:spPr>
        <p:txBody>
          <a:bodyPr wrap="square" rtlCol="0" anchor="ctr"/>
          <a:lstStyle/>
          <a:p>
            <a:pPr indent="0" marL="0">
              <a:buNone/>
            </a:pPr>
            <a:r>
              <a:rPr lang="en-US" sz="1050" dirty="0">
                <a:solidFill>
                  <a:srgbClr val="1E293B"/>
                </a:solidFill>
              </a:rPr>
              <a:t>• Intelligently narrows the interval</a:t>
            </a:r>
            <a:endParaRPr lang="en-US" sz="1050" dirty="0"/>
          </a:p>
        </p:txBody>
      </p:sp>
      <p:sp>
        <p:nvSpPr>
          <p:cNvPr id="19" name="Text 17"/>
          <p:cNvSpPr/>
          <p:nvPr/>
        </p:nvSpPr>
        <p:spPr>
          <a:xfrm>
            <a:off x="4709160" y="2350008"/>
            <a:ext cx="3931920" cy="347472"/>
          </a:xfrm>
          <a:prstGeom prst="rect">
            <a:avLst/>
          </a:prstGeom>
          <a:noFill/>
          <a:ln/>
        </p:spPr>
        <p:txBody>
          <a:bodyPr wrap="square" rtlCol="0" anchor="ctr"/>
          <a:lstStyle/>
          <a:p>
            <a:pPr indent="0" marL="0">
              <a:buNone/>
            </a:pPr>
            <a:r>
              <a:rPr lang="en-US" sz="1050" dirty="0">
                <a:solidFill>
                  <a:srgbClr val="1E293B"/>
                </a:solidFill>
              </a:rPr>
              <a:t>• Each step eliminates 38.2% of range</a:t>
            </a:r>
            <a:endParaRPr lang="en-US" sz="1050" dirty="0"/>
          </a:p>
        </p:txBody>
      </p:sp>
      <p:sp>
        <p:nvSpPr>
          <p:cNvPr id="20" name="Text 18"/>
          <p:cNvSpPr/>
          <p:nvPr/>
        </p:nvSpPr>
        <p:spPr>
          <a:xfrm>
            <a:off x="4709160" y="2734056"/>
            <a:ext cx="3931920" cy="347472"/>
          </a:xfrm>
          <a:prstGeom prst="rect">
            <a:avLst/>
          </a:prstGeom>
          <a:noFill/>
          <a:ln/>
        </p:spPr>
        <p:txBody>
          <a:bodyPr wrap="square" rtlCol="0" anchor="ctr"/>
          <a:lstStyle/>
          <a:p>
            <a:pPr indent="0" marL="0">
              <a:buNone/>
            </a:pPr>
            <a:r>
              <a:rPr lang="en-US" sz="1050" dirty="0">
                <a:solidFill>
                  <a:srgbClr val="1E293B"/>
                </a:solidFill>
              </a:rPr>
              <a:t>• Converges in only ~25–35 iterations</a:t>
            </a:r>
            <a:endParaRPr lang="en-US" sz="1050" dirty="0"/>
          </a:p>
        </p:txBody>
      </p:sp>
      <p:sp>
        <p:nvSpPr>
          <p:cNvPr id="21" name="Text 19"/>
          <p:cNvSpPr/>
          <p:nvPr/>
        </p:nvSpPr>
        <p:spPr>
          <a:xfrm>
            <a:off x="4709160" y="3118104"/>
            <a:ext cx="3931920" cy="347472"/>
          </a:xfrm>
          <a:prstGeom prst="rect">
            <a:avLst/>
          </a:prstGeom>
          <a:noFill/>
          <a:ln/>
        </p:spPr>
        <p:txBody>
          <a:bodyPr wrap="square" rtlCol="0" anchor="ctr"/>
          <a:lstStyle/>
          <a:p>
            <a:pPr indent="0" marL="0">
              <a:buNone/>
            </a:pPr>
            <a:r>
              <a:rPr lang="en-US" sz="1050" dirty="0">
                <a:solidFill>
                  <a:srgbClr val="1E293B"/>
                </a:solidFill>
              </a:rPr>
              <a:t>• Works without computing derivatives</a:t>
            </a:r>
            <a:endParaRPr lang="en-US" sz="1050" dirty="0"/>
          </a:p>
        </p:txBody>
      </p:sp>
      <p:sp>
        <p:nvSpPr>
          <p:cNvPr id="22" name="Text 20"/>
          <p:cNvSpPr/>
          <p:nvPr/>
        </p:nvSpPr>
        <p:spPr>
          <a:xfrm>
            <a:off x="4709160" y="3502152"/>
            <a:ext cx="3931920" cy="347472"/>
          </a:xfrm>
          <a:prstGeom prst="rect">
            <a:avLst/>
          </a:prstGeom>
          <a:noFill/>
          <a:ln/>
        </p:spPr>
        <p:txBody>
          <a:bodyPr wrap="square" rtlCol="0" anchor="ctr"/>
          <a:lstStyle/>
          <a:p>
            <a:pPr indent="0" marL="0">
              <a:buNone/>
            </a:pPr>
            <a:r>
              <a:rPr lang="en-US" sz="1050" dirty="0">
                <a:solidFill>
                  <a:srgbClr val="1E293B"/>
                </a:solidFill>
              </a:rPr>
              <a:t>• Mathematically guaranteed convergence</a:t>
            </a:r>
            <a:endParaRPr lang="en-US" sz="1050" dirty="0"/>
          </a:p>
        </p:txBody>
      </p:sp>
      <p:sp>
        <p:nvSpPr>
          <p:cNvPr id="23" name="Text 21"/>
          <p:cNvSpPr/>
          <p:nvPr/>
        </p:nvSpPr>
        <p:spPr>
          <a:xfrm>
            <a:off x="4709160" y="3886200"/>
            <a:ext cx="3931920" cy="347472"/>
          </a:xfrm>
          <a:prstGeom prst="rect">
            <a:avLst/>
          </a:prstGeom>
          <a:noFill/>
          <a:ln/>
        </p:spPr>
        <p:txBody>
          <a:bodyPr wrap="square" rtlCol="0" anchor="ctr"/>
          <a:lstStyle/>
          <a:p>
            <a:pPr indent="0" marL="0">
              <a:buNone/>
            </a:pPr>
            <a:r>
              <a:rPr lang="en-US" sz="1050" dirty="0">
                <a:solidFill>
                  <a:srgbClr val="1E293B"/>
                </a:solidFill>
              </a:rPr>
              <a:t>• Efficiency scales to complex problems</a:t>
            </a:r>
            <a:endParaRPr lang="en-US" sz="1050" dirty="0"/>
          </a:p>
        </p:txBody>
      </p:sp>
      <p:sp>
        <p:nvSpPr>
          <p:cNvPr id="24" name="Shape 22"/>
          <p:cNvSpPr/>
          <p:nvPr/>
        </p:nvSpPr>
        <p:spPr>
          <a:xfrm>
            <a:off x="4709160" y="3840480"/>
            <a:ext cx="3931920" cy="548640"/>
          </a:xfrm>
          <a:prstGeom prst="rect">
            <a:avLst/>
          </a:prstGeom>
          <a:solidFill>
            <a:srgbClr val="10B981">
              <a:alpha val="20000"/>
            </a:srgbClr>
          </a:solidFill>
          <a:ln w="12700">
            <a:solidFill>
              <a:srgbClr val="10B981"/>
            </a:solidFill>
            <a:prstDash val="solid"/>
          </a:ln>
        </p:spPr>
      </p:sp>
      <p:sp>
        <p:nvSpPr>
          <p:cNvPr id="25" name="Text 23"/>
          <p:cNvSpPr/>
          <p:nvPr/>
        </p:nvSpPr>
        <p:spPr>
          <a:xfrm>
            <a:off x="4709160" y="3840480"/>
            <a:ext cx="3931920" cy="548640"/>
          </a:xfrm>
          <a:prstGeom prst="rect">
            <a:avLst/>
          </a:prstGeom>
          <a:noFill/>
          <a:ln/>
        </p:spPr>
        <p:txBody>
          <a:bodyPr wrap="square" rtlCol="0" anchor="ctr"/>
          <a:lstStyle/>
          <a:p>
            <a:pPr algn="ctr" indent="0" marL="0">
              <a:buNone/>
            </a:pPr>
            <a:r>
              <a:rPr lang="en-US" sz="1150" b="1" dirty="0">
                <a:solidFill>
                  <a:srgbClr val="10B981"/>
                </a:solidFill>
              </a:rPr>
              <a:t>Only ~25 evaluations needed!</a:t>
            </a:r>
            <a:endParaRPr lang="en-US" sz="1150" dirty="0"/>
          </a:p>
        </p:txBody>
      </p:sp>
      <p:sp>
        <p:nvSpPr>
          <p:cNvPr id="26" name="Shape 24"/>
          <p:cNvSpPr/>
          <p:nvPr/>
        </p:nvSpPr>
        <p:spPr>
          <a:xfrm>
            <a:off x="4114800" y="2468880"/>
            <a:ext cx="640080" cy="640080"/>
          </a:xfrm>
          <a:prstGeom prst="ellipse">
            <a:avLst/>
          </a:prstGeom>
          <a:solidFill>
            <a:srgbClr val="F59E0B"/>
          </a:solidFill>
          <a:ln w="12700">
            <a:solidFill>
              <a:srgbClr val="F59E0B"/>
            </a:solidFill>
            <a:prstDash val="solid"/>
          </a:ln>
          <a:effectLst>
            <a:outerShdw sx="100000" sy="100000" kx="0" ky="0" algn="bl" rotWithShape="0" blurRad="101600" dist="38100" dir="8100000">
              <a:srgbClr val="000000">
                <a:alpha val="12000"/>
              </a:srgbClr>
            </a:outerShdw>
          </a:effectLst>
        </p:spPr>
      </p:sp>
      <p:sp>
        <p:nvSpPr>
          <p:cNvPr id="27" name="Text 25"/>
          <p:cNvSpPr/>
          <p:nvPr/>
        </p:nvSpPr>
        <p:spPr>
          <a:xfrm>
            <a:off x="4114800" y="2468880"/>
            <a:ext cx="640080" cy="640080"/>
          </a:xfrm>
          <a:prstGeom prst="rect">
            <a:avLst/>
          </a:prstGeom>
          <a:noFill/>
          <a:ln/>
        </p:spPr>
        <p:txBody>
          <a:bodyPr wrap="square" rtlCol="0" anchor="ctr"/>
          <a:lstStyle/>
          <a:p>
            <a:pPr algn="ctr" indent="0" marL="0">
              <a:buNone/>
            </a:pPr>
            <a:r>
              <a:rPr lang="en-US" sz="1300" b="1" dirty="0">
                <a:solidFill>
                  <a:srgbClr val="0D2B55"/>
                </a:solidFill>
              </a:rPr>
              <a:t>VS</a:t>
            </a:r>
            <a:endParaRPr lang="en-US" sz="1300" dirty="0"/>
          </a:p>
        </p:txBody>
      </p:sp>
      <p:sp>
        <p:nvSpPr>
          <p:cNvPr id="28" name="Text 26"/>
          <p:cNvSpPr/>
          <p:nvPr/>
        </p:nvSpPr>
        <p:spPr>
          <a:xfrm>
            <a:off x="7955280" y="4846320"/>
            <a:ext cx="914400" cy="182880"/>
          </a:xfrm>
          <a:prstGeom prst="rect">
            <a:avLst/>
          </a:prstGeom>
          <a:noFill/>
          <a:ln/>
        </p:spPr>
        <p:txBody>
          <a:bodyPr wrap="square" rtlCol="0" anchor="ctr"/>
          <a:lstStyle/>
          <a:p>
            <a:pPr algn="r" indent="0" marL="0">
              <a:buNone/>
            </a:pPr>
            <a:r>
              <a:rPr lang="en-US" sz="800" dirty="0">
                <a:solidFill>
                  <a:srgbClr val="94A3B8"/>
                </a:solidFill>
              </a:rPr>
              <a:t>05 / 13</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164592"/>
            <a:ext cx="1645920" cy="292608"/>
          </a:xfrm>
          <a:prstGeom prst="roundRect">
            <a:avLst>
              <a:gd name="adj" fmla="val 25000"/>
            </a:avLst>
          </a:prstGeom>
          <a:solidFill>
            <a:srgbClr val="F59E0B"/>
          </a:solidFill>
          <a:ln w="12700">
            <a:solidFill>
              <a:srgbClr val="F59E0B"/>
            </a:solidFill>
            <a:prstDash val="solid"/>
          </a:ln>
        </p:spPr>
      </p:sp>
      <p:sp>
        <p:nvSpPr>
          <p:cNvPr id="3" name="Text 1"/>
          <p:cNvSpPr/>
          <p:nvPr/>
        </p:nvSpPr>
        <p:spPr>
          <a:xfrm>
            <a:off x="365760" y="164592"/>
            <a:ext cx="1645920" cy="292608"/>
          </a:xfrm>
          <a:prstGeom prst="rect">
            <a:avLst/>
          </a:prstGeom>
          <a:noFill/>
          <a:ln/>
        </p:spPr>
        <p:txBody>
          <a:bodyPr wrap="square" rtlCol="0" anchor="ctr"/>
          <a:lstStyle/>
          <a:p>
            <a:pPr algn="ctr" indent="0" marL="0">
              <a:buNone/>
            </a:pPr>
            <a:r>
              <a:rPr lang="en-US" sz="900" b="1" dirty="0">
                <a:solidFill>
                  <a:srgbClr val="0D2B55"/>
                </a:solidFill>
              </a:rPr>
              <a:t>ALGORITHM</a:t>
            </a:r>
            <a:endParaRPr lang="en-US" sz="900" dirty="0"/>
          </a:p>
        </p:txBody>
      </p:sp>
      <p:sp>
        <p:nvSpPr>
          <p:cNvPr id="4" name="Text 2"/>
          <p:cNvSpPr/>
          <p:nvPr/>
        </p:nvSpPr>
        <p:spPr>
          <a:xfrm>
            <a:off x="365760" y="502920"/>
            <a:ext cx="8412480" cy="640080"/>
          </a:xfrm>
          <a:prstGeom prst="rect">
            <a:avLst/>
          </a:prstGeom>
          <a:noFill/>
          <a:ln/>
        </p:spPr>
        <p:txBody>
          <a:bodyPr wrap="square" rtlCol="0" anchor="ctr"/>
          <a:lstStyle/>
          <a:p>
            <a:pPr indent="0" marL="0">
              <a:buNone/>
            </a:pPr>
            <a:r>
              <a:rPr lang="en-US" sz="2600" b="1" dirty="0">
                <a:solidFill>
                  <a:srgbClr val="0D2B55"/>
                </a:solidFill>
                <a:latin typeface="Calibri" pitchFamily="34" charset="0"/>
                <a:ea typeface="Calibri" pitchFamily="34" charset="-122"/>
                <a:cs typeface="Calibri" pitchFamily="34" charset="-120"/>
              </a:rPr>
              <a:t>Golden Section Search</a:t>
            </a:r>
            <a:endParaRPr lang="en-US" sz="2600" dirty="0"/>
          </a:p>
        </p:txBody>
      </p:sp>
      <p:sp>
        <p:nvSpPr>
          <p:cNvPr id="5" name="Text 3"/>
          <p:cNvSpPr/>
          <p:nvPr/>
        </p:nvSpPr>
        <p:spPr>
          <a:xfrm>
            <a:off x="365760" y="1097280"/>
            <a:ext cx="8412480" cy="320040"/>
          </a:xfrm>
          <a:prstGeom prst="rect">
            <a:avLst/>
          </a:prstGeom>
          <a:noFill/>
          <a:ln/>
        </p:spPr>
        <p:txBody>
          <a:bodyPr wrap="square" rtlCol="0" anchor="ctr"/>
          <a:lstStyle/>
          <a:p>
            <a:pPr indent="0" marL="0">
              <a:buNone/>
            </a:pPr>
            <a:r>
              <a:rPr lang="en-US" sz="1300" i="1" dirty="0">
                <a:solidFill>
                  <a:srgbClr val="1565C0"/>
                </a:solidFill>
                <a:latin typeface="Calibri" pitchFamily="34" charset="0"/>
                <a:ea typeface="Calibri" pitchFamily="34" charset="-122"/>
                <a:cs typeface="Calibri" pitchFamily="34" charset="-120"/>
              </a:rPr>
              <a:t>A derivative-free optimization method based on the golden ratio</a:t>
            </a:r>
            <a:endParaRPr lang="en-US" sz="1300" dirty="0"/>
          </a:p>
        </p:txBody>
      </p:sp>
      <p:sp>
        <p:nvSpPr>
          <p:cNvPr id="6" name="Shape 4"/>
          <p:cNvSpPr/>
          <p:nvPr/>
        </p:nvSpPr>
        <p:spPr>
          <a:xfrm>
            <a:off x="365760" y="1417320"/>
            <a:ext cx="4389120" cy="1280160"/>
          </a:xfrm>
          <a:prstGeom prst="rect">
            <a:avLst/>
          </a:prstGeom>
          <a:solidFill>
            <a:srgbClr val="0D2B55"/>
          </a:solidFill>
          <a:ln w="12700">
            <a:solidFill>
              <a:srgbClr val="0D2B55"/>
            </a:solidFill>
            <a:prstDash val="solid"/>
          </a:ln>
          <a:effectLst>
            <a:outerShdw sx="100000" sy="100000" kx="0" ky="0" algn="bl" rotWithShape="0" blurRad="101600" dist="38100" dir="8100000">
              <a:srgbClr val="000000">
                <a:alpha val="12000"/>
              </a:srgbClr>
            </a:outerShdw>
          </a:effectLst>
        </p:spPr>
      </p:sp>
      <p:sp>
        <p:nvSpPr>
          <p:cNvPr id="7" name="Text 5"/>
          <p:cNvSpPr/>
          <p:nvPr/>
        </p:nvSpPr>
        <p:spPr>
          <a:xfrm>
            <a:off x="502920" y="1463040"/>
            <a:ext cx="4114800" cy="365760"/>
          </a:xfrm>
          <a:prstGeom prst="rect">
            <a:avLst/>
          </a:prstGeom>
          <a:noFill/>
          <a:ln/>
        </p:spPr>
        <p:txBody>
          <a:bodyPr wrap="square" rtlCol="0" anchor="ctr"/>
          <a:lstStyle/>
          <a:p>
            <a:pPr indent="0" marL="0">
              <a:buNone/>
            </a:pPr>
            <a:r>
              <a:rPr lang="en-US" sz="1250" b="1" dirty="0">
                <a:solidFill>
                  <a:srgbClr val="F59E0B"/>
                </a:solidFill>
              </a:rPr>
              <a:t>What is Golden Section Search?</a:t>
            </a:r>
            <a:endParaRPr lang="en-US" sz="1250" dirty="0"/>
          </a:p>
        </p:txBody>
      </p:sp>
      <p:sp>
        <p:nvSpPr>
          <p:cNvPr id="8" name="Text 6"/>
          <p:cNvSpPr/>
          <p:nvPr/>
        </p:nvSpPr>
        <p:spPr>
          <a:xfrm>
            <a:off x="502920" y="1847088"/>
            <a:ext cx="4114800" cy="804672"/>
          </a:xfrm>
          <a:prstGeom prst="rect">
            <a:avLst/>
          </a:prstGeom>
          <a:noFill/>
          <a:ln/>
        </p:spPr>
        <p:txBody>
          <a:bodyPr wrap="square" rtlCol="0" anchor="ctr"/>
          <a:lstStyle/>
          <a:p>
            <a:pPr indent="0" marL="0">
              <a:buNone/>
            </a:pPr>
            <a:r>
              <a:rPr lang="en-US" sz="1050" dirty="0">
                <a:solidFill>
                  <a:srgbClr val="FFFFFF"/>
                </a:solidFill>
              </a:rPr>
              <a:t>An iterative numerical method that finds the minimum (or maximum) of a unimodal function over a bounded interval, without needing derivatives.</a:t>
            </a:r>
            <a:endParaRPr lang="en-US" sz="1050" dirty="0"/>
          </a:p>
        </p:txBody>
      </p:sp>
      <p:sp>
        <p:nvSpPr>
          <p:cNvPr id="9" name="Shape 7"/>
          <p:cNvSpPr/>
          <p:nvPr/>
        </p:nvSpPr>
        <p:spPr>
          <a:xfrm>
            <a:off x="365760" y="2788920"/>
            <a:ext cx="4389120" cy="566928"/>
          </a:xfrm>
          <a:prstGeom prst="rect">
            <a:avLst/>
          </a:prstGeom>
          <a:solidFill>
            <a:srgbClr val="FEF3C7"/>
          </a:solidFill>
          <a:ln w="15240">
            <a:solidFill>
              <a:srgbClr val="F59E0B"/>
            </a:solidFill>
            <a:prstDash val="solid"/>
          </a:ln>
        </p:spPr>
      </p:sp>
      <p:sp>
        <p:nvSpPr>
          <p:cNvPr id="10" name="Text 8"/>
          <p:cNvSpPr/>
          <p:nvPr/>
        </p:nvSpPr>
        <p:spPr>
          <a:xfrm>
            <a:off x="502920" y="2862072"/>
            <a:ext cx="1737360" cy="274320"/>
          </a:xfrm>
          <a:prstGeom prst="rect">
            <a:avLst/>
          </a:prstGeom>
          <a:noFill/>
          <a:ln/>
        </p:spPr>
        <p:txBody>
          <a:bodyPr wrap="square" rtlCol="0" anchor="ctr"/>
          <a:lstStyle/>
          <a:p>
            <a:pPr indent="0" marL="0">
              <a:buNone/>
            </a:pPr>
            <a:r>
              <a:rPr lang="en-US" sz="1050" b="1" dirty="0">
                <a:solidFill>
                  <a:srgbClr val="0D2B55"/>
                </a:solidFill>
              </a:rPr>
              <a:t>Derivative-Free:</a:t>
            </a:r>
            <a:endParaRPr lang="en-US" sz="1050" dirty="0"/>
          </a:p>
        </p:txBody>
      </p:sp>
      <p:sp>
        <p:nvSpPr>
          <p:cNvPr id="11" name="Text 9"/>
          <p:cNvSpPr/>
          <p:nvPr/>
        </p:nvSpPr>
        <p:spPr>
          <a:xfrm>
            <a:off x="502920" y="3099816"/>
            <a:ext cx="4114800" cy="219456"/>
          </a:xfrm>
          <a:prstGeom prst="rect">
            <a:avLst/>
          </a:prstGeom>
          <a:noFill/>
          <a:ln/>
        </p:spPr>
        <p:txBody>
          <a:bodyPr wrap="square" rtlCol="0" anchor="ctr"/>
          <a:lstStyle/>
          <a:p>
            <a:pPr indent="0" marL="0">
              <a:buNone/>
            </a:pPr>
            <a:r>
              <a:rPr lang="en-US" sz="950" dirty="0">
                <a:solidFill>
                  <a:srgbClr val="1E293B"/>
                </a:solidFill>
              </a:rPr>
              <a:t>Works on non-differentiable or black-box functions</a:t>
            </a:r>
            <a:endParaRPr lang="en-US" sz="950" dirty="0"/>
          </a:p>
        </p:txBody>
      </p:sp>
      <p:sp>
        <p:nvSpPr>
          <p:cNvPr id="12" name="Shape 10"/>
          <p:cNvSpPr/>
          <p:nvPr/>
        </p:nvSpPr>
        <p:spPr>
          <a:xfrm>
            <a:off x="365760" y="3429000"/>
            <a:ext cx="4389120" cy="566928"/>
          </a:xfrm>
          <a:prstGeom prst="rect">
            <a:avLst/>
          </a:prstGeom>
          <a:solidFill>
            <a:srgbClr val="EFF6FF"/>
          </a:solidFill>
          <a:ln w="15240">
            <a:solidFill>
              <a:srgbClr val="2196F3"/>
            </a:solidFill>
            <a:prstDash val="solid"/>
          </a:ln>
        </p:spPr>
      </p:sp>
      <p:sp>
        <p:nvSpPr>
          <p:cNvPr id="13" name="Text 11"/>
          <p:cNvSpPr/>
          <p:nvPr/>
        </p:nvSpPr>
        <p:spPr>
          <a:xfrm>
            <a:off x="502920" y="3502152"/>
            <a:ext cx="1737360" cy="274320"/>
          </a:xfrm>
          <a:prstGeom prst="rect">
            <a:avLst/>
          </a:prstGeom>
          <a:noFill/>
          <a:ln/>
        </p:spPr>
        <p:txBody>
          <a:bodyPr wrap="square" rtlCol="0" anchor="ctr"/>
          <a:lstStyle/>
          <a:p>
            <a:pPr indent="0" marL="0">
              <a:buNone/>
            </a:pPr>
            <a:r>
              <a:rPr lang="en-US" sz="1050" b="1" dirty="0">
                <a:solidFill>
                  <a:srgbClr val="0D2B55"/>
                </a:solidFill>
              </a:rPr>
              <a:t>Interval-Based:</a:t>
            </a:r>
            <a:endParaRPr lang="en-US" sz="1050" dirty="0"/>
          </a:p>
        </p:txBody>
      </p:sp>
      <p:sp>
        <p:nvSpPr>
          <p:cNvPr id="14" name="Text 12"/>
          <p:cNvSpPr/>
          <p:nvPr/>
        </p:nvSpPr>
        <p:spPr>
          <a:xfrm>
            <a:off x="502920" y="3739896"/>
            <a:ext cx="4114800" cy="219456"/>
          </a:xfrm>
          <a:prstGeom prst="rect">
            <a:avLst/>
          </a:prstGeom>
          <a:noFill/>
          <a:ln/>
        </p:spPr>
        <p:txBody>
          <a:bodyPr wrap="square" rtlCol="0" anchor="ctr"/>
          <a:lstStyle/>
          <a:p>
            <a:pPr indent="0" marL="0">
              <a:buNone/>
            </a:pPr>
            <a:r>
              <a:rPr lang="en-US" sz="950" dirty="0">
                <a:solidFill>
                  <a:srgbClr val="1E293B"/>
                </a:solidFill>
              </a:rPr>
              <a:t>Progressively shrinks the search range</a:t>
            </a:r>
            <a:endParaRPr lang="en-US" sz="950" dirty="0"/>
          </a:p>
        </p:txBody>
      </p:sp>
      <p:sp>
        <p:nvSpPr>
          <p:cNvPr id="15" name="Shape 13"/>
          <p:cNvSpPr/>
          <p:nvPr/>
        </p:nvSpPr>
        <p:spPr>
          <a:xfrm>
            <a:off x="365760" y="4069080"/>
            <a:ext cx="4389120" cy="566928"/>
          </a:xfrm>
          <a:prstGeom prst="rect">
            <a:avLst/>
          </a:prstGeom>
          <a:solidFill>
            <a:srgbClr val="F0FDF4"/>
          </a:solidFill>
          <a:ln w="15240">
            <a:solidFill>
              <a:srgbClr val="10B981"/>
            </a:solidFill>
            <a:prstDash val="solid"/>
          </a:ln>
        </p:spPr>
      </p:sp>
      <p:sp>
        <p:nvSpPr>
          <p:cNvPr id="16" name="Text 14"/>
          <p:cNvSpPr/>
          <p:nvPr/>
        </p:nvSpPr>
        <p:spPr>
          <a:xfrm>
            <a:off x="502920" y="4142232"/>
            <a:ext cx="1737360" cy="274320"/>
          </a:xfrm>
          <a:prstGeom prst="rect">
            <a:avLst/>
          </a:prstGeom>
          <a:noFill/>
          <a:ln/>
        </p:spPr>
        <p:txBody>
          <a:bodyPr wrap="square" rtlCol="0" anchor="ctr"/>
          <a:lstStyle/>
          <a:p>
            <a:pPr indent="0" marL="0">
              <a:buNone/>
            </a:pPr>
            <a:r>
              <a:rPr lang="en-US" sz="1050" b="1" dirty="0">
                <a:solidFill>
                  <a:srgbClr val="0D2B55"/>
                </a:solidFill>
              </a:rPr>
              <a:t>Guaranteed Convergence:</a:t>
            </a:r>
            <a:endParaRPr lang="en-US" sz="1050" dirty="0"/>
          </a:p>
        </p:txBody>
      </p:sp>
      <p:sp>
        <p:nvSpPr>
          <p:cNvPr id="17" name="Text 15"/>
          <p:cNvSpPr/>
          <p:nvPr/>
        </p:nvSpPr>
        <p:spPr>
          <a:xfrm>
            <a:off x="502920" y="4379976"/>
            <a:ext cx="4114800" cy="219456"/>
          </a:xfrm>
          <a:prstGeom prst="rect">
            <a:avLst/>
          </a:prstGeom>
          <a:noFill/>
          <a:ln/>
        </p:spPr>
        <p:txBody>
          <a:bodyPr wrap="square" rtlCol="0" anchor="ctr"/>
          <a:lstStyle/>
          <a:p>
            <a:pPr indent="0" marL="0">
              <a:buNone/>
            </a:pPr>
            <a:r>
              <a:rPr lang="en-US" sz="950" dirty="0">
                <a:solidFill>
                  <a:srgbClr val="1E293B"/>
                </a:solidFill>
              </a:rPr>
              <a:t>Always finds the minimum for unimodal f(v)</a:t>
            </a:r>
            <a:endParaRPr lang="en-US" sz="950" dirty="0"/>
          </a:p>
        </p:txBody>
      </p:sp>
      <p:sp>
        <p:nvSpPr>
          <p:cNvPr id="18" name="Shape 16"/>
          <p:cNvSpPr/>
          <p:nvPr/>
        </p:nvSpPr>
        <p:spPr>
          <a:xfrm>
            <a:off x="5029200" y="1417320"/>
            <a:ext cx="3749040" cy="2971800"/>
          </a:xfrm>
          <a:prstGeom prst="rect">
            <a:avLst/>
          </a:prstGeom>
          <a:solidFill>
            <a:srgbClr val="F0F4F8"/>
          </a:solidFill>
          <a:ln w="12700">
            <a:solidFill>
              <a:srgbClr val="D1D5DB"/>
            </a:solidFill>
            <a:prstDash val="solid"/>
          </a:ln>
          <a:effectLst>
            <a:outerShdw sx="100000" sy="100000" kx="0" ky="0" algn="bl" rotWithShape="0" blurRad="101600" dist="38100" dir="8100000">
              <a:srgbClr val="000000">
                <a:alpha val="12000"/>
              </a:srgbClr>
            </a:outerShdw>
          </a:effectLst>
        </p:spPr>
      </p:sp>
      <p:sp>
        <p:nvSpPr>
          <p:cNvPr id="19" name="Text 17"/>
          <p:cNvSpPr/>
          <p:nvPr/>
        </p:nvSpPr>
        <p:spPr>
          <a:xfrm>
            <a:off x="5166360" y="1481328"/>
            <a:ext cx="3474720" cy="384048"/>
          </a:xfrm>
          <a:prstGeom prst="rect">
            <a:avLst/>
          </a:prstGeom>
          <a:noFill/>
          <a:ln/>
        </p:spPr>
        <p:txBody>
          <a:bodyPr wrap="square" rtlCol="0" anchor="ctr"/>
          <a:lstStyle/>
          <a:p>
            <a:pPr algn="ctr" indent="0" marL="0">
              <a:buNone/>
            </a:pPr>
            <a:r>
              <a:rPr lang="en-US" sz="1200" b="1" dirty="0">
                <a:solidFill>
                  <a:srgbClr val="0D2B55"/>
                </a:solidFill>
              </a:rPr>
              <a:t>The Golden Ratio  φ = 0.618</a:t>
            </a:r>
            <a:endParaRPr lang="en-US" sz="1200" dirty="0"/>
          </a:p>
        </p:txBody>
      </p:sp>
      <p:sp>
        <p:nvSpPr>
          <p:cNvPr id="20" name="Shape 18"/>
          <p:cNvSpPr/>
          <p:nvPr/>
        </p:nvSpPr>
        <p:spPr>
          <a:xfrm>
            <a:off x="5166360" y="1920240"/>
            <a:ext cx="3474720" cy="658368"/>
          </a:xfrm>
          <a:prstGeom prst="rect">
            <a:avLst/>
          </a:prstGeom>
          <a:solidFill>
            <a:srgbClr val="0D2B55"/>
          </a:solidFill>
          <a:ln w="12700">
            <a:solidFill>
              <a:srgbClr val="0D2B55"/>
            </a:solidFill>
            <a:prstDash val="solid"/>
          </a:ln>
        </p:spPr>
      </p:sp>
      <p:sp>
        <p:nvSpPr>
          <p:cNvPr id="21" name="Text 19"/>
          <p:cNvSpPr/>
          <p:nvPr/>
        </p:nvSpPr>
        <p:spPr>
          <a:xfrm>
            <a:off x="5166360" y="1920240"/>
            <a:ext cx="3474720" cy="658368"/>
          </a:xfrm>
          <a:prstGeom prst="rect">
            <a:avLst/>
          </a:prstGeom>
          <a:noFill/>
          <a:ln/>
        </p:spPr>
        <p:txBody>
          <a:bodyPr wrap="square" rtlCol="0" anchor="ctr"/>
          <a:lstStyle/>
          <a:p>
            <a:pPr algn="ctr" indent="0" marL="0">
              <a:buNone/>
            </a:pPr>
            <a:r>
              <a:rPr lang="en-US" sz="1500" b="1" dirty="0">
                <a:solidFill>
                  <a:srgbClr val="F59E0B"/>
                </a:solidFill>
              </a:rPr>
              <a:t>φ = (√5 − 1) / 2 = 0.6180...</a:t>
            </a:r>
            <a:endParaRPr lang="en-US" sz="1500" dirty="0"/>
          </a:p>
        </p:txBody>
      </p:sp>
      <p:sp>
        <p:nvSpPr>
          <p:cNvPr id="22" name="Text 20"/>
          <p:cNvSpPr/>
          <p:nvPr/>
        </p:nvSpPr>
        <p:spPr>
          <a:xfrm>
            <a:off x="5166360" y="2651760"/>
            <a:ext cx="3474720" cy="320040"/>
          </a:xfrm>
          <a:prstGeom prst="rect">
            <a:avLst/>
          </a:prstGeom>
          <a:noFill/>
          <a:ln/>
        </p:spPr>
        <p:txBody>
          <a:bodyPr wrap="square" rtlCol="0" anchor="ctr"/>
          <a:lstStyle/>
          <a:p>
            <a:pPr algn="ctr" indent="0" marL="0">
              <a:buNone/>
            </a:pPr>
            <a:r>
              <a:rPr lang="en-US" sz="1000" dirty="0">
                <a:solidFill>
                  <a:srgbClr val="1E293B"/>
                </a:solidFill>
              </a:rPr>
              <a:t>At every iteration, one subinterval has length:</a:t>
            </a:r>
            <a:endParaRPr lang="en-US" sz="1000" dirty="0"/>
          </a:p>
        </p:txBody>
      </p:sp>
      <p:sp>
        <p:nvSpPr>
          <p:cNvPr id="23" name="Shape 21"/>
          <p:cNvSpPr/>
          <p:nvPr/>
        </p:nvSpPr>
        <p:spPr>
          <a:xfrm>
            <a:off x="5166360" y="3017520"/>
            <a:ext cx="3474720" cy="411480"/>
          </a:xfrm>
          <a:prstGeom prst="rect">
            <a:avLst/>
          </a:prstGeom>
          <a:solidFill>
            <a:srgbClr val="F59E0B">
              <a:alpha val="30000"/>
            </a:srgbClr>
          </a:solidFill>
          <a:ln w="12700">
            <a:solidFill>
              <a:srgbClr val="F59E0B"/>
            </a:solidFill>
            <a:prstDash val="solid"/>
          </a:ln>
        </p:spPr>
      </p:sp>
      <p:sp>
        <p:nvSpPr>
          <p:cNvPr id="24" name="Text 22"/>
          <p:cNvSpPr/>
          <p:nvPr/>
        </p:nvSpPr>
        <p:spPr>
          <a:xfrm>
            <a:off x="5166360" y="3017520"/>
            <a:ext cx="3474720" cy="411480"/>
          </a:xfrm>
          <a:prstGeom prst="rect">
            <a:avLst/>
          </a:prstGeom>
          <a:noFill/>
          <a:ln/>
        </p:spPr>
        <p:txBody>
          <a:bodyPr wrap="square" rtlCol="0" anchor="ctr"/>
          <a:lstStyle/>
          <a:p>
            <a:pPr algn="ctr" indent="0" marL="0">
              <a:buNone/>
            </a:pPr>
            <a:r>
              <a:rPr lang="en-US" sz="1200" b="1" dirty="0">
                <a:solidFill>
                  <a:srgbClr val="0D2B55"/>
                </a:solidFill>
              </a:rPr>
              <a:t>0.618 × (b − a)   [kept]</a:t>
            </a:r>
            <a:endParaRPr lang="en-US" sz="1200" dirty="0"/>
          </a:p>
        </p:txBody>
      </p:sp>
      <p:sp>
        <p:nvSpPr>
          <p:cNvPr id="25" name="Shape 23"/>
          <p:cNvSpPr/>
          <p:nvPr/>
        </p:nvSpPr>
        <p:spPr>
          <a:xfrm>
            <a:off x="5166360" y="3493008"/>
            <a:ext cx="3474720" cy="411480"/>
          </a:xfrm>
          <a:prstGeom prst="rect">
            <a:avLst/>
          </a:prstGeom>
          <a:solidFill>
            <a:srgbClr val="EF4444">
              <a:alpha val="20000"/>
            </a:srgbClr>
          </a:solidFill>
          <a:ln w="12700">
            <a:solidFill>
              <a:srgbClr val="EF4444"/>
            </a:solidFill>
            <a:prstDash val="solid"/>
          </a:ln>
        </p:spPr>
      </p:sp>
      <p:sp>
        <p:nvSpPr>
          <p:cNvPr id="26" name="Text 24"/>
          <p:cNvSpPr/>
          <p:nvPr/>
        </p:nvSpPr>
        <p:spPr>
          <a:xfrm>
            <a:off x="5166360" y="3493008"/>
            <a:ext cx="3474720" cy="411480"/>
          </a:xfrm>
          <a:prstGeom prst="rect">
            <a:avLst/>
          </a:prstGeom>
          <a:noFill/>
          <a:ln/>
        </p:spPr>
        <p:txBody>
          <a:bodyPr wrap="square" rtlCol="0" anchor="ctr"/>
          <a:lstStyle/>
          <a:p>
            <a:pPr algn="ctr" indent="0" marL="0">
              <a:buNone/>
            </a:pPr>
            <a:r>
              <a:rPr lang="en-US" sz="1200" b="1" dirty="0">
                <a:solidFill>
                  <a:srgbClr val="EF4444"/>
                </a:solidFill>
              </a:rPr>
              <a:t>0.382 × (b − a)   [eliminated]</a:t>
            </a:r>
            <a:endParaRPr lang="en-US" sz="1200" dirty="0"/>
          </a:p>
        </p:txBody>
      </p:sp>
      <p:sp>
        <p:nvSpPr>
          <p:cNvPr id="27" name="Shape 25"/>
          <p:cNvSpPr/>
          <p:nvPr/>
        </p:nvSpPr>
        <p:spPr>
          <a:xfrm>
            <a:off x="365760" y="4480560"/>
            <a:ext cx="8412480" cy="411480"/>
          </a:xfrm>
          <a:prstGeom prst="rect">
            <a:avLst/>
          </a:prstGeom>
          <a:solidFill>
            <a:srgbClr val="0D2B55">
              <a:alpha val="15000"/>
            </a:srgbClr>
          </a:solidFill>
          <a:ln w="12700">
            <a:solidFill>
              <a:srgbClr val="0D2B55"/>
            </a:solidFill>
            <a:prstDash val="solid"/>
          </a:ln>
        </p:spPr>
      </p:sp>
      <p:sp>
        <p:nvSpPr>
          <p:cNvPr id="28" name="Text 26"/>
          <p:cNvSpPr/>
          <p:nvPr/>
        </p:nvSpPr>
        <p:spPr>
          <a:xfrm>
            <a:off x="502920" y="4480560"/>
            <a:ext cx="8229600" cy="384048"/>
          </a:xfrm>
          <a:prstGeom prst="rect">
            <a:avLst/>
          </a:prstGeom>
          <a:noFill/>
          <a:ln/>
        </p:spPr>
        <p:txBody>
          <a:bodyPr wrap="square" rtlCol="0" anchor="ctr"/>
          <a:lstStyle/>
          <a:p>
            <a:pPr indent="0" marL="0">
              <a:buNone/>
            </a:pPr>
            <a:r>
              <a:rPr lang="en-US" sz="1050" i="1" dirty="0">
                <a:solidFill>
                  <a:srgbClr val="0D2B55"/>
                </a:solidFill>
              </a:rPr>
              <a:t>🔑  Every iteration eliminates 38.2% of the search space — this is the mathematical power of φ = 0.618.</a:t>
            </a:r>
            <a:endParaRPr lang="en-US" sz="1050" dirty="0"/>
          </a:p>
        </p:txBody>
      </p:sp>
      <p:sp>
        <p:nvSpPr>
          <p:cNvPr id="29" name="Text 27"/>
          <p:cNvSpPr/>
          <p:nvPr/>
        </p:nvSpPr>
        <p:spPr>
          <a:xfrm>
            <a:off x="7955280" y="4846320"/>
            <a:ext cx="914400" cy="182880"/>
          </a:xfrm>
          <a:prstGeom prst="rect">
            <a:avLst/>
          </a:prstGeom>
          <a:noFill/>
          <a:ln/>
        </p:spPr>
        <p:txBody>
          <a:bodyPr wrap="square" rtlCol="0" anchor="ctr"/>
          <a:lstStyle/>
          <a:p>
            <a:pPr algn="r" indent="0" marL="0">
              <a:buNone/>
            </a:pPr>
            <a:r>
              <a:rPr lang="en-US" sz="800" dirty="0">
                <a:solidFill>
                  <a:srgbClr val="94A3B8"/>
                </a:solidFill>
              </a:rPr>
              <a:t>07 / 13</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365760" y="164592"/>
            <a:ext cx="1645920" cy="292608"/>
          </a:xfrm>
          <a:prstGeom prst="roundRect">
            <a:avLst>
              <a:gd name="adj" fmla="val 25000"/>
            </a:avLst>
          </a:prstGeom>
          <a:solidFill>
            <a:srgbClr val="1565C0"/>
          </a:solidFill>
          <a:ln w="12700">
            <a:solidFill>
              <a:srgbClr val="1565C0"/>
            </a:solidFill>
            <a:prstDash val="solid"/>
          </a:ln>
        </p:spPr>
      </p:sp>
      <p:sp>
        <p:nvSpPr>
          <p:cNvPr id="3" name="Text 1"/>
          <p:cNvSpPr/>
          <p:nvPr/>
        </p:nvSpPr>
        <p:spPr>
          <a:xfrm>
            <a:off x="365760" y="164592"/>
            <a:ext cx="1645920" cy="292608"/>
          </a:xfrm>
          <a:prstGeom prst="rect">
            <a:avLst/>
          </a:prstGeom>
          <a:noFill/>
          <a:ln/>
        </p:spPr>
        <p:txBody>
          <a:bodyPr wrap="square" rtlCol="0" anchor="ctr"/>
          <a:lstStyle/>
          <a:p>
            <a:pPr algn="ctr" indent="0" marL="0">
              <a:buNone/>
            </a:pPr>
            <a:r>
              <a:rPr lang="en-US" sz="900" b="1" dirty="0">
                <a:solidFill>
                  <a:srgbClr val="0D2B55"/>
                </a:solidFill>
              </a:rPr>
              <a:t>ALGORITHM</a:t>
            </a:r>
            <a:endParaRPr lang="en-US" sz="900" dirty="0"/>
          </a:p>
        </p:txBody>
      </p:sp>
      <p:sp>
        <p:nvSpPr>
          <p:cNvPr id="4" name="Text 2"/>
          <p:cNvSpPr/>
          <p:nvPr/>
        </p:nvSpPr>
        <p:spPr>
          <a:xfrm>
            <a:off x="365760" y="502920"/>
            <a:ext cx="8412480" cy="640080"/>
          </a:xfrm>
          <a:prstGeom prst="rect">
            <a:avLst/>
          </a:prstGeom>
          <a:noFill/>
          <a:ln/>
        </p:spPr>
        <p:txBody>
          <a:bodyPr wrap="square" rtlCol="0" anchor="ctr"/>
          <a:lstStyle/>
          <a:p>
            <a:pPr indent="0" marL="0">
              <a:buNone/>
            </a:pPr>
            <a:r>
              <a:rPr lang="en-US" sz="2600" b="1" dirty="0">
                <a:solidFill>
                  <a:srgbClr val="0D2B55"/>
                </a:solidFill>
                <a:latin typeface="Calibri" pitchFamily="34" charset="0"/>
                <a:ea typeface="Calibri" pitchFamily="34" charset="-122"/>
                <a:cs typeface="Calibri" pitchFamily="34" charset="-120"/>
              </a:rPr>
              <a:t>Golden Section Search Algorithm</a:t>
            </a:r>
            <a:endParaRPr lang="en-US" sz="2600" dirty="0"/>
          </a:p>
        </p:txBody>
      </p:sp>
      <p:sp>
        <p:nvSpPr>
          <p:cNvPr id="5" name="Text 3"/>
          <p:cNvSpPr/>
          <p:nvPr/>
        </p:nvSpPr>
        <p:spPr>
          <a:xfrm>
            <a:off x="365760" y="1097280"/>
            <a:ext cx="8412480" cy="320040"/>
          </a:xfrm>
          <a:prstGeom prst="rect">
            <a:avLst/>
          </a:prstGeom>
          <a:noFill/>
          <a:ln/>
        </p:spPr>
        <p:txBody>
          <a:bodyPr wrap="square" rtlCol="0" anchor="ctr"/>
          <a:lstStyle/>
          <a:p>
            <a:pPr indent="0" marL="0">
              <a:buNone/>
            </a:pPr>
            <a:r>
              <a:rPr lang="en-US" sz="1300" i="1" dirty="0">
                <a:solidFill>
                  <a:srgbClr val="1565C0"/>
                </a:solidFill>
                <a:latin typeface="Calibri" pitchFamily="34" charset="0"/>
                <a:ea typeface="Calibri" pitchFamily="34" charset="-122"/>
                <a:cs typeface="Calibri" pitchFamily="34" charset="-120"/>
              </a:rPr>
              <a:t>Step-by-step iterative procedure for minimization</a:t>
            </a:r>
            <a:endParaRPr lang="en-US" sz="1300" dirty="0"/>
          </a:p>
        </p:txBody>
      </p:sp>
      <p:sp>
        <p:nvSpPr>
          <p:cNvPr id="6" name="Shape 4"/>
          <p:cNvSpPr/>
          <p:nvPr/>
        </p:nvSpPr>
        <p:spPr>
          <a:xfrm>
            <a:off x="320040" y="1417320"/>
            <a:ext cx="411480" cy="411480"/>
          </a:xfrm>
          <a:prstGeom prst="ellipse">
            <a:avLst/>
          </a:prstGeom>
          <a:solidFill>
            <a:srgbClr val="0D2B55"/>
          </a:solidFill>
          <a:ln w="12700">
            <a:solidFill>
              <a:srgbClr val="0D2B55"/>
            </a:solidFill>
            <a:prstDash val="solid"/>
          </a:ln>
        </p:spPr>
      </p:sp>
      <p:sp>
        <p:nvSpPr>
          <p:cNvPr id="7" name="Text 5"/>
          <p:cNvSpPr/>
          <p:nvPr/>
        </p:nvSpPr>
        <p:spPr>
          <a:xfrm>
            <a:off x="320040" y="1417320"/>
            <a:ext cx="411480" cy="411480"/>
          </a:xfrm>
          <a:prstGeom prst="rect">
            <a:avLst/>
          </a:prstGeom>
          <a:noFill/>
          <a:ln/>
        </p:spPr>
        <p:txBody>
          <a:bodyPr wrap="square" rtlCol="0" anchor="ctr"/>
          <a:lstStyle/>
          <a:p>
            <a:pPr algn="ctr" indent="0" marL="0">
              <a:buNone/>
            </a:pPr>
            <a:r>
              <a:rPr lang="en-US" sz="1100" b="1" dirty="0">
                <a:solidFill>
                  <a:srgbClr val="FFFFFF"/>
                </a:solidFill>
              </a:rPr>
              <a:t>1</a:t>
            </a:r>
            <a:endParaRPr lang="en-US" sz="1100" dirty="0"/>
          </a:p>
        </p:txBody>
      </p:sp>
      <p:sp>
        <p:nvSpPr>
          <p:cNvPr id="8" name="Shape 6"/>
          <p:cNvSpPr/>
          <p:nvPr/>
        </p:nvSpPr>
        <p:spPr>
          <a:xfrm>
            <a:off x="822960" y="1371600"/>
            <a:ext cx="4572000" cy="512064"/>
          </a:xfrm>
          <a:prstGeom prst="rect">
            <a:avLst/>
          </a:prstGeom>
          <a:solidFill>
            <a:srgbClr val="FFFFFF"/>
          </a:solidFill>
          <a:ln w="12700">
            <a:solidFill>
              <a:srgbClr val="D1D5DB"/>
            </a:solidFill>
            <a:prstDash val="solid"/>
          </a:ln>
        </p:spPr>
      </p:sp>
      <p:sp>
        <p:nvSpPr>
          <p:cNvPr id="9" name="Text 7"/>
          <p:cNvSpPr/>
          <p:nvPr/>
        </p:nvSpPr>
        <p:spPr>
          <a:xfrm>
            <a:off x="914400" y="1408176"/>
            <a:ext cx="1371600" cy="237744"/>
          </a:xfrm>
          <a:prstGeom prst="rect">
            <a:avLst/>
          </a:prstGeom>
          <a:noFill/>
          <a:ln/>
        </p:spPr>
        <p:txBody>
          <a:bodyPr wrap="square" rtlCol="0" anchor="ctr"/>
          <a:lstStyle/>
          <a:p>
            <a:pPr indent="0" marL="0">
              <a:buNone/>
            </a:pPr>
            <a:r>
              <a:rPr lang="en-US" sz="1050" b="1" dirty="0">
                <a:solidFill>
                  <a:srgbClr val="1565C0"/>
                </a:solidFill>
              </a:rPr>
              <a:t>Initialize:</a:t>
            </a:r>
            <a:endParaRPr lang="en-US" sz="1050" dirty="0"/>
          </a:p>
        </p:txBody>
      </p:sp>
      <p:sp>
        <p:nvSpPr>
          <p:cNvPr id="10" name="Text 8"/>
          <p:cNvSpPr/>
          <p:nvPr/>
        </p:nvSpPr>
        <p:spPr>
          <a:xfrm>
            <a:off x="914400" y="1627632"/>
            <a:ext cx="4389120" cy="237744"/>
          </a:xfrm>
          <a:prstGeom prst="rect">
            <a:avLst/>
          </a:prstGeom>
          <a:noFill/>
          <a:ln/>
        </p:spPr>
        <p:txBody>
          <a:bodyPr wrap="square" rtlCol="0" anchor="ctr"/>
          <a:lstStyle/>
          <a:p>
            <a:pPr indent="0" marL="0">
              <a:buNone/>
            </a:pPr>
            <a:r>
              <a:rPr lang="en-US" sz="950" dirty="0">
                <a:solidFill>
                  <a:srgbClr val="1E293B"/>
                </a:solidFill>
              </a:rPr>
              <a:t>Set search bounds:  a = 40,  b = 140 km/h</a:t>
            </a:r>
            <a:endParaRPr lang="en-US" sz="950" dirty="0"/>
          </a:p>
        </p:txBody>
      </p:sp>
      <p:sp>
        <p:nvSpPr>
          <p:cNvPr id="11" name="Shape 9"/>
          <p:cNvSpPr/>
          <p:nvPr/>
        </p:nvSpPr>
        <p:spPr>
          <a:xfrm>
            <a:off x="525780" y="1828800"/>
            <a:ext cx="0" cy="118872"/>
          </a:xfrm>
          <a:prstGeom prst="line">
            <a:avLst/>
          </a:prstGeom>
          <a:noFill/>
          <a:ln w="12700">
            <a:solidFill>
              <a:srgbClr val="94A3B8"/>
            </a:solidFill>
            <a:prstDash val="dash"/>
          </a:ln>
        </p:spPr>
      </p:sp>
      <p:sp>
        <p:nvSpPr>
          <p:cNvPr id="12" name="Shape 10"/>
          <p:cNvSpPr/>
          <p:nvPr/>
        </p:nvSpPr>
        <p:spPr>
          <a:xfrm>
            <a:off x="320040" y="1993392"/>
            <a:ext cx="411480" cy="411480"/>
          </a:xfrm>
          <a:prstGeom prst="ellipse">
            <a:avLst/>
          </a:prstGeom>
          <a:solidFill>
            <a:srgbClr val="0D2B55"/>
          </a:solidFill>
          <a:ln w="12700">
            <a:solidFill>
              <a:srgbClr val="0D2B55"/>
            </a:solidFill>
            <a:prstDash val="solid"/>
          </a:ln>
        </p:spPr>
      </p:sp>
      <p:sp>
        <p:nvSpPr>
          <p:cNvPr id="13" name="Text 11"/>
          <p:cNvSpPr/>
          <p:nvPr/>
        </p:nvSpPr>
        <p:spPr>
          <a:xfrm>
            <a:off x="320040" y="1993392"/>
            <a:ext cx="411480" cy="411480"/>
          </a:xfrm>
          <a:prstGeom prst="rect">
            <a:avLst/>
          </a:prstGeom>
          <a:noFill/>
          <a:ln/>
        </p:spPr>
        <p:txBody>
          <a:bodyPr wrap="square" rtlCol="0" anchor="ctr"/>
          <a:lstStyle/>
          <a:p>
            <a:pPr algn="ctr" indent="0" marL="0">
              <a:buNone/>
            </a:pPr>
            <a:r>
              <a:rPr lang="en-US" sz="1100" b="1" dirty="0">
                <a:solidFill>
                  <a:srgbClr val="FFFFFF"/>
                </a:solidFill>
              </a:rPr>
              <a:t>2</a:t>
            </a:r>
            <a:endParaRPr lang="en-US" sz="1100" dirty="0"/>
          </a:p>
        </p:txBody>
      </p:sp>
      <p:sp>
        <p:nvSpPr>
          <p:cNvPr id="14" name="Shape 12"/>
          <p:cNvSpPr/>
          <p:nvPr/>
        </p:nvSpPr>
        <p:spPr>
          <a:xfrm>
            <a:off x="822960" y="1947672"/>
            <a:ext cx="4572000" cy="512064"/>
          </a:xfrm>
          <a:prstGeom prst="rect">
            <a:avLst/>
          </a:prstGeom>
          <a:solidFill>
            <a:srgbClr val="FFFFFF"/>
          </a:solidFill>
          <a:ln w="12700">
            <a:solidFill>
              <a:srgbClr val="D1D5DB"/>
            </a:solidFill>
            <a:prstDash val="solid"/>
          </a:ln>
        </p:spPr>
      </p:sp>
      <p:sp>
        <p:nvSpPr>
          <p:cNvPr id="15" name="Text 13"/>
          <p:cNvSpPr/>
          <p:nvPr/>
        </p:nvSpPr>
        <p:spPr>
          <a:xfrm>
            <a:off x="914400" y="1984248"/>
            <a:ext cx="1371600" cy="237744"/>
          </a:xfrm>
          <a:prstGeom prst="rect">
            <a:avLst/>
          </a:prstGeom>
          <a:noFill/>
          <a:ln/>
        </p:spPr>
        <p:txBody>
          <a:bodyPr wrap="square" rtlCol="0" anchor="ctr"/>
          <a:lstStyle/>
          <a:p>
            <a:pPr indent="0" marL="0">
              <a:buNone/>
            </a:pPr>
            <a:r>
              <a:rPr lang="en-US" sz="1050" b="1" dirty="0">
                <a:solidFill>
                  <a:srgbClr val="1565C0"/>
                </a:solidFill>
              </a:rPr>
              <a:t>Compute Interior Points:</a:t>
            </a:r>
            <a:endParaRPr lang="en-US" sz="1050" dirty="0"/>
          </a:p>
        </p:txBody>
      </p:sp>
      <p:sp>
        <p:nvSpPr>
          <p:cNvPr id="16" name="Text 14"/>
          <p:cNvSpPr/>
          <p:nvPr/>
        </p:nvSpPr>
        <p:spPr>
          <a:xfrm>
            <a:off x="914400" y="2203704"/>
            <a:ext cx="4389120" cy="237744"/>
          </a:xfrm>
          <a:prstGeom prst="rect">
            <a:avLst/>
          </a:prstGeom>
          <a:noFill/>
          <a:ln/>
        </p:spPr>
        <p:txBody>
          <a:bodyPr wrap="square" rtlCol="0" anchor="ctr"/>
          <a:lstStyle/>
          <a:p>
            <a:pPr indent="0" marL="0">
              <a:buNone/>
            </a:pPr>
            <a:r>
              <a:rPr lang="en-US" sz="950" dirty="0">
                <a:solidFill>
                  <a:srgbClr val="1E293B"/>
                </a:solidFill>
              </a:rPr>
              <a:t>x₁ = b − 0.618(b−a)     x₂ = a + 0.618(b−a)</a:t>
            </a:r>
            <a:endParaRPr lang="en-US" sz="950" dirty="0"/>
          </a:p>
        </p:txBody>
      </p:sp>
      <p:sp>
        <p:nvSpPr>
          <p:cNvPr id="17" name="Shape 15"/>
          <p:cNvSpPr/>
          <p:nvPr/>
        </p:nvSpPr>
        <p:spPr>
          <a:xfrm>
            <a:off x="525780" y="2404872"/>
            <a:ext cx="0" cy="118872"/>
          </a:xfrm>
          <a:prstGeom prst="line">
            <a:avLst/>
          </a:prstGeom>
          <a:noFill/>
          <a:ln w="12700">
            <a:solidFill>
              <a:srgbClr val="94A3B8"/>
            </a:solidFill>
            <a:prstDash val="dash"/>
          </a:ln>
        </p:spPr>
      </p:sp>
      <p:sp>
        <p:nvSpPr>
          <p:cNvPr id="18" name="Shape 16"/>
          <p:cNvSpPr/>
          <p:nvPr/>
        </p:nvSpPr>
        <p:spPr>
          <a:xfrm>
            <a:off x="320040" y="2569464"/>
            <a:ext cx="411480" cy="411480"/>
          </a:xfrm>
          <a:prstGeom prst="ellipse">
            <a:avLst/>
          </a:prstGeom>
          <a:solidFill>
            <a:srgbClr val="0D2B55"/>
          </a:solidFill>
          <a:ln w="12700">
            <a:solidFill>
              <a:srgbClr val="0D2B55"/>
            </a:solidFill>
            <a:prstDash val="solid"/>
          </a:ln>
        </p:spPr>
      </p:sp>
      <p:sp>
        <p:nvSpPr>
          <p:cNvPr id="19" name="Text 17"/>
          <p:cNvSpPr/>
          <p:nvPr/>
        </p:nvSpPr>
        <p:spPr>
          <a:xfrm>
            <a:off x="320040" y="2569464"/>
            <a:ext cx="411480" cy="411480"/>
          </a:xfrm>
          <a:prstGeom prst="rect">
            <a:avLst/>
          </a:prstGeom>
          <a:noFill/>
          <a:ln/>
        </p:spPr>
        <p:txBody>
          <a:bodyPr wrap="square" rtlCol="0" anchor="ctr"/>
          <a:lstStyle/>
          <a:p>
            <a:pPr algn="ctr" indent="0" marL="0">
              <a:buNone/>
            </a:pPr>
            <a:r>
              <a:rPr lang="en-US" sz="1100" b="1" dirty="0">
                <a:solidFill>
                  <a:srgbClr val="FFFFFF"/>
                </a:solidFill>
              </a:rPr>
              <a:t>3</a:t>
            </a:r>
            <a:endParaRPr lang="en-US" sz="1100" dirty="0"/>
          </a:p>
        </p:txBody>
      </p:sp>
      <p:sp>
        <p:nvSpPr>
          <p:cNvPr id="20" name="Shape 18"/>
          <p:cNvSpPr/>
          <p:nvPr/>
        </p:nvSpPr>
        <p:spPr>
          <a:xfrm>
            <a:off x="822960" y="2523744"/>
            <a:ext cx="4572000" cy="512064"/>
          </a:xfrm>
          <a:prstGeom prst="rect">
            <a:avLst/>
          </a:prstGeom>
          <a:solidFill>
            <a:srgbClr val="FFFFFF"/>
          </a:solidFill>
          <a:ln w="12700">
            <a:solidFill>
              <a:srgbClr val="D1D5DB"/>
            </a:solidFill>
            <a:prstDash val="solid"/>
          </a:ln>
        </p:spPr>
      </p:sp>
      <p:sp>
        <p:nvSpPr>
          <p:cNvPr id="21" name="Text 19"/>
          <p:cNvSpPr/>
          <p:nvPr/>
        </p:nvSpPr>
        <p:spPr>
          <a:xfrm>
            <a:off x="914400" y="2560320"/>
            <a:ext cx="1371600" cy="237744"/>
          </a:xfrm>
          <a:prstGeom prst="rect">
            <a:avLst/>
          </a:prstGeom>
          <a:noFill/>
          <a:ln/>
        </p:spPr>
        <p:txBody>
          <a:bodyPr wrap="square" rtlCol="0" anchor="ctr"/>
          <a:lstStyle/>
          <a:p>
            <a:pPr indent="0" marL="0">
              <a:buNone/>
            </a:pPr>
            <a:r>
              <a:rPr lang="en-US" sz="1050" b="1" dirty="0">
                <a:solidFill>
                  <a:srgbClr val="1565C0"/>
                </a:solidFill>
              </a:rPr>
              <a:t>Evaluate Function:</a:t>
            </a:r>
            <a:endParaRPr lang="en-US" sz="1050" dirty="0"/>
          </a:p>
        </p:txBody>
      </p:sp>
      <p:sp>
        <p:nvSpPr>
          <p:cNvPr id="22" name="Text 20"/>
          <p:cNvSpPr/>
          <p:nvPr/>
        </p:nvSpPr>
        <p:spPr>
          <a:xfrm>
            <a:off x="914400" y="2779776"/>
            <a:ext cx="4389120" cy="237744"/>
          </a:xfrm>
          <a:prstGeom prst="rect">
            <a:avLst/>
          </a:prstGeom>
          <a:noFill/>
          <a:ln/>
        </p:spPr>
        <p:txBody>
          <a:bodyPr wrap="square" rtlCol="0" anchor="ctr"/>
          <a:lstStyle/>
          <a:p>
            <a:pPr indent="0" marL="0">
              <a:buNone/>
            </a:pPr>
            <a:r>
              <a:rPr lang="en-US" sz="950" dirty="0">
                <a:solidFill>
                  <a:srgbClr val="1E293B"/>
                </a:solidFill>
              </a:rPr>
              <a:t>Compute  f(x₁)  and  f(x₂)</a:t>
            </a:r>
            <a:endParaRPr lang="en-US" sz="950" dirty="0"/>
          </a:p>
        </p:txBody>
      </p:sp>
      <p:sp>
        <p:nvSpPr>
          <p:cNvPr id="23" name="Shape 21"/>
          <p:cNvSpPr/>
          <p:nvPr/>
        </p:nvSpPr>
        <p:spPr>
          <a:xfrm>
            <a:off x="525780" y="2980944"/>
            <a:ext cx="0" cy="118872"/>
          </a:xfrm>
          <a:prstGeom prst="line">
            <a:avLst/>
          </a:prstGeom>
          <a:noFill/>
          <a:ln w="12700">
            <a:solidFill>
              <a:srgbClr val="94A3B8"/>
            </a:solidFill>
            <a:prstDash val="dash"/>
          </a:ln>
        </p:spPr>
      </p:sp>
      <p:sp>
        <p:nvSpPr>
          <p:cNvPr id="24" name="Shape 22"/>
          <p:cNvSpPr/>
          <p:nvPr/>
        </p:nvSpPr>
        <p:spPr>
          <a:xfrm>
            <a:off x="320040" y="3145536"/>
            <a:ext cx="411480" cy="411480"/>
          </a:xfrm>
          <a:prstGeom prst="ellipse">
            <a:avLst/>
          </a:prstGeom>
          <a:solidFill>
            <a:srgbClr val="0D2B55"/>
          </a:solidFill>
          <a:ln w="12700">
            <a:solidFill>
              <a:srgbClr val="0D2B55"/>
            </a:solidFill>
            <a:prstDash val="solid"/>
          </a:ln>
        </p:spPr>
      </p:sp>
      <p:sp>
        <p:nvSpPr>
          <p:cNvPr id="25" name="Text 23"/>
          <p:cNvSpPr/>
          <p:nvPr/>
        </p:nvSpPr>
        <p:spPr>
          <a:xfrm>
            <a:off x="320040" y="3145536"/>
            <a:ext cx="411480" cy="411480"/>
          </a:xfrm>
          <a:prstGeom prst="rect">
            <a:avLst/>
          </a:prstGeom>
          <a:noFill/>
          <a:ln/>
        </p:spPr>
        <p:txBody>
          <a:bodyPr wrap="square" rtlCol="0" anchor="ctr"/>
          <a:lstStyle/>
          <a:p>
            <a:pPr algn="ctr" indent="0" marL="0">
              <a:buNone/>
            </a:pPr>
            <a:r>
              <a:rPr lang="en-US" sz="1100" b="1" dirty="0">
                <a:solidFill>
                  <a:srgbClr val="FFFFFF"/>
                </a:solidFill>
              </a:rPr>
              <a:t>4</a:t>
            </a:r>
            <a:endParaRPr lang="en-US" sz="1100" dirty="0"/>
          </a:p>
        </p:txBody>
      </p:sp>
      <p:sp>
        <p:nvSpPr>
          <p:cNvPr id="26" name="Shape 24"/>
          <p:cNvSpPr/>
          <p:nvPr/>
        </p:nvSpPr>
        <p:spPr>
          <a:xfrm>
            <a:off x="822960" y="3099816"/>
            <a:ext cx="4572000" cy="512064"/>
          </a:xfrm>
          <a:prstGeom prst="rect">
            <a:avLst/>
          </a:prstGeom>
          <a:solidFill>
            <a:srgbClr val="FFFFFF"/>
          </a:solidFill>
          <a:ln w="12700">
            <a:solidFill>
              <a:srgbClr val="D1D5DB"/>
            </a:solidFill>
            <a:prstDash val="solid"/>
          </a:ln>
        </p:spPr>
      </p:sp>
      <p:sp>
        <p:nvSpPr>
          <p:cNvPr id="27" name="Text 25"/>
          <p:cNvSpPr/>
          <p:nvPr/>
        </p:nvSpPr>
        <p:spPr>
          <a:xfrm>
            <a:off x="914400" y="3136392"/>
            <a:ext cx="1371600" cy="237744"/>
          </a:xfrm>
          <a:prstGeom prst="rect">
            <a:avLst/>
          </a:prstGeom>
          <a:noFill/>
          <a:ln/>
        </p:spPr>
        <p:txBody>
          <a:bodyPr wrap="square" rtlCol="0" anchor="ctr"/>
          <a:lstStyle/>
          <a:p>
            <a:pPr indent="0" marL="0">
              <a:buNone/>
            </a:pPr>
            <a:r>
              <a:rPr lang="en-US" sz="1050" b="1" dirty="0">
                <a:solidFill>
                  <a:srgbClr val="1565C0"/>
                </a:solidFill>
              </a:rPr>
              <a:t>Eliminate Subinterval:</a:t>
            </a:r>
            <a:endParaRPr lang="en-US" sz="1050" dirty="0"/>
          </a:p>
        </p:txBody>
      </p:sp>
      <p:sp>
        <p:nvSpPr>
          <p:cNvPr id="28" name="Text 26"/>
          <p:cNvSpPr/>
          <p:nvPr/>
        </p:nvSpPr>
        <p:spPr>
          <a:xfrm>
            <a:off x="914400" y="3355848"/>
            <a:ext cx="4389120" cy="237744"/>
          </a:xfrm>
          <a:prstGeom prst="rect">
            <a:avLst/>
          </a:prstGeom>
          <a:noFill/>
          <a:ln/>
        </p:spPr>
        <p:txBody>
          <a:bodyPr wrap="square" rtlCol="0" anchor="ctr"/>
          <a:lstStyle/>
          <a:p>
            <a:pPr indent="0" marL="0">
              <a:buNone/>
            </a:pPr>
            <a:r>
              <a:rPr lang="en-US" sz="950" dirty="0">
                <a:solidFill>
                  <a:srgbClr val="1E293B"/>
                </a:solidFill>
              </a:rPr>
              <a:t>If f(x₁) &lt; f(x₂) → set b = x₂     Else → set a = x₁</a:t>
            </a:r>
            <a:endParaRPr lang="en-US" sz="950" dirty="0"/>
          </a:p>
        </p:txBody>
      </p:sp>
      <p:sp>
        <p:nvSpPr>
          <p:cNvPr id="29" name="Shape 27"/>
          <p:cNvSpPr/>
          <p:nvPr/>
        </p:nvSpPr>
        <p:spPr>
          <a:xfrm>
            <a:off x="525780" y="3557016"/>
            <a:ext cx="0" cy="118872"/>
          </a:xfrm>
          <a:prstGeom prst="line">
            <a:avLst/>
          </a:prstGeom>
          <a:noFill/>
          <a:ln w="12700">
            <a:solidFill>
              <a:srgbClr val="94A3B8"/>
            </a:solidFill>
            <a:prstDash val="dash"/>
          </a:ln>
        </p:spPr>
      </p:sp>
      <p:sp>
        <p:nvSpPr>
          <p:cNvPr id="30" name="Shape 28"/>
          <p:cNvSpPr/>
          <p:nvPr/>
        </p:nvSpPr>
        <p:spPr>
          <a:xfrm>
            <a:off x="320040" y="3721608"/>
            <a:ext cx="411480" cy="411480"/>
          </a:xfrm>
          <a:prstGeom prst="ellipse">
            <a:avLst/>
          </a:prstGeom>
          <a:solidFill>
            <a:srgbClr val="0D2B55"/>
          </a:solidFill>
          <a:ln w="12700">
            <a:solidFill>
              <a:srgbClr val="0D2B55"/>
            </a:solidFill>
            <a:prstDash val="solid"/>
          </a:ln>
        </p:spPr>
      </p:sp>
      <p:sp>
        <p:nvSpPr>
          <p:cNvPr id="31" name="Text 29"/>
          <p:cNvSpPr/>
          <p:nvPr/>
        </p:nvSpPr>
        <p:spPr>
          <a:xfrm>
            <a:off x="320040" y="3721608"/>
            <a:ext cx="411480" cy="411480"/>
          </a:xfrm>
          <a:prstGeom prst="rect">
            <a:avLst/>
          </a:prstGeom>
          <a:noFill/>
          <a:ln/>
        </p:spPr>
        <p:txBody>
          <a:bodyPr wrap="square" rtlCol="0" anchor="ctr"/>
          <a:lstStyle/>
          <a:p>
            <a:pPr algn="ctr" indent="0" marL="0">
              <a:buNone/>
            </a:pPr>
            <a:r>
              <a:rPr lang="en-US" sz="1100" b="1" dirty="0">
                <a:solidFill>
                  <a:srgbClr val="FFFFFF"/>
                </a:solidFill>
              </a:rPr>
              <a:t>5</a:t>
            </a:r>
            <a:endParaRPr lang="en-US" sz="1100" dirty="0"/>
          </a:p>
        </p:txBody>
      </p:sp>
      <p:sp>
        <p:nvSpPr>
          <p:cNvPr id="32" name="Shape 30"/>
          <p:cNvSpPr/>
          <p:nvPr/>
        </p:nvSpPr>
        <p:spPr>
          <a:xfrm>
            <a:off x="822960" y="3675888"/>
            <a:ext cx="4572000" cy="512064"/>
          </a:xfrm>
          <a:prstGeom prst="rect">
            <a:avLst/>
          </a:prstGeom>
          <a:solidFill>
            <a:srgbClr val="FFFFFF"/>
          </a:solidFill>
          <a:ln w="12700">
            <a:solidFill>
              <a:srgbClr val="D1D5DB"/>
            </a:solidFill>
            <a:prstDash val="solid"/>
          </a:ln>
        </p:spPr>
      </p:sp>
      <p:sp>
        <p:nvSpPr>
          <p:cNvPr id="33" name="Text 31"/>
          <p:cNvSpPr/>
          <p:nvPr/>
        </p:nvSpPr>
        <p:spPr>
          <a:xfrm>
            <a:off x="914400" y="3712464"/>
            <a:ext cx="1371600" cy="237744"/>
          </a:xfrm>
          <a:prstGeom prst="rect">
            <a:avLst/>
          </a:prstGeom>
          <a:noFill/>
          <a:ln/>
        </p:spPr>
        <p:txBody>
          <a:bodyPr wrap="square" rtlCol="0" anchor="ctr"/>
          <a:lstStyle/>
          <a:p>
            <a:pPr indent="0" marL="0">
              <a:buNone/>
            </a:pPr>
            <a:r>
              <a:rPr lang="en-US" sz="1050" b="1" dirty="0">
                <a:solidFill>
                  <a:srgbClr val="1565C0"/>
                </a:solidFill>
              </a:rPr>
              <a:t>Check Convergence:</a:t>
            </a:r>
            <a:endParaRPr lang="en-US" sz="1050" dirty="0"/>
          </a:p>
        </p:txBody>
      </p:sp>
      <p:sp>
        <p:nvSpPr>
          <p:cNvPr id="34" name="Text 32"/>
          <p:cNvSpPr/>
          <p:nvPr/>
        </p:nvSpPr>
        <p:spPr>
          <a:xfrm>
            <a:off x="914400" y="3931920"/>
            <a:ext cx="4389120" cy="237744"/>
          </a:xfrm>
          <a:prstGeom prst="rect">
            <a:avLst/>
          </a:prstGeom>
          <a:noFill/>
          <a:ln/>
        </p:spPr>
        <p:txBody>
          <a:bodyPr wrap="square" rtlCol="0" anchor="ctr"/>
          <a:lstStyle/>
          <a:p>
            <a:pPr indent="0" marL="0">
              <a:buNone/>
            </a:pPr>
            <a:r>
              <a:rPr lang="en-US" sz="950" dirty="0">
                <a:solidFill>
                  <a:srgbClr val="1E293B"/>
                </a:solidFill>
              </a:rPr>
              <a:t>If (b − a) &lt; ε → stop and report  v* = (a+b)/2</a:t>
            </a:r>
            <a:endParaRPr lang="en-US" sz="950" dirty="0"/>
          </a:p>
        </p:txBody>
      </p:sp>
      <p:sp>
        <p:nvSpPr>
          <p:cNvPr id="35" name="Shape 33"/>
          <p:cNvSpPr/>
          <p:nvPr/>
        </p:nvSpPr>
        <p:spPr>
          <a:xfrm>
            <a:off x="525780" y="4133088"/>
            <a:ext cx="0" cy="118872"/>
          </a:xfrm>
          <a:prstGeom prst="line">
            <a:avLst/>
          </a:prstGeom>
          <a:noFill/>
          <a:ln w="12700">
            <a:solidFill>
              <a:srgbClr val="94A3B8"/>
            </a:solidFill>
            <a:prstDash val="dash"/>
          </a:ln>
        </p:spPr>
      </p:sp>
      <p:sp>
        <p:nvSpPr>
          <p:cNvPr id="36" name="Shape 34"/>
          <p:cNvSpPr/>
          <p:nvPr/>
        </p:nvSpPr>
        <p:spPr>
          <a:xfrm>
            <a:off x="320040" y="4297680"/>
            <a:ext cx="411480" cy="411480"/>
          </a:xfrm>
          <a:prstGeom prst="ellipse">
            <a:avLst/>
          </a:prstGeom>
          <a:solidFill>
            <a:srgbClr val="0D2B55"/>
          </a:solidFill>
          <a:ln w="12700">
            <a:solidFill>
              <a:srgbClr val="0D2B55"/>
            </a:solidFill>
            <a:prstDash val="solid"/>
          </a:ln>
        </p:spPr>
      </p:sp>
      <p:sp>
        <p:nvSpPr>
          <p:cNvPr id="37" name="Text 35"/>
          <p:cNvSpPr/>
          <p:nvPr/>
        </p:nvSpPr>
        <p:spPr>
          <a:xfrm>
            <a:off x="320040" y="4297680"/>
            <a:ext cx="411480" cy="411480"/>
          </a:xfrm>
          <a:prstGeom prst="rect">
            <a:avLst/>
          </a:prstGeom>
          <a:noFill/>
          <a:ln/>
        </p:spPr>
        <p:txBody>
          <a:bodyPr wrap="square" rtlCol="0" anchor="ctr"/>
          <a:lstStyle/>
          <a:p>
            <a:pPr algn="ctr" indent="0" marL="0">
              <a:buNone/>
            </a:pPr>
            <a:r>
              <a:rPr lang="en-US" sz="1100" b="1" dirty="0">
                <a:solidFill>
                  <a:srgbClr val="FFFFFF"/>
                </a:solidFill>
              </a:rPr>
              <a:t>6</a:t>
            </a:r>
            <a:endParaRPr lang="en-US" sz="1100" dirty="0"/>
          </a:p>
        </p:txBody>
      </p:sp>
      <p:sp>
        <p:nvSpPr>
          <p:cNvPr id="38" name="Shape 36"/>
          <p:cNvSpPr/>
          <p:nvPr/>
        </p:nvSpPr>
        <p:spPr>
          <a:xfrm>
            <a:off x="822960" y="4251960"/>
            <a:ext cx="4572000" cy="512064"/>
          </a:xfrm>
          <a:prstGeom prst="rect">
            <a:avLst/>
          </a:prstGeom>
          <a:solidFill>
            <a:srgbClr val="FFFFFF"/>
          </a:solidFill>
          <a:ln w="12700">
            <a:solidFill>
              <a:srgbClr val="D1D5DB"/>
            </a:solidFill>
            <a:prstDash val="solid"/>
          </a:ln>
        </p:spPr>
      </p:sp>
      <p:sp>
        <p:nvSpPr>
          <p:cNvPr id="39" name="Text 37"/>
          <p:cNvSpPr/>
          <p:nvPr/>
        </p:nvSpPr>
        <p:spPr>
          <a:xfrm>
            <a:off x="914400" y="4288536"/>
            <a:ext cx="1371600" cy="237744"/>
          </a:xfrm>
          <a:prstGeom prst="rect">
            <a:avLst/>
          </a:prstGeom>
          <a:noFill/>
          <a:ln/>
        </p:spPr>
        <p:txBody>
          <a:bodyPr wrap="square" rtlCol="0" anchor="ctr"/>
          <a:lstStyle/>
          <a:p>
            <a:pPr indent="0" marL="0">
              <a:buNone/>
            </a:pPr>
            <a:r>
              <a:rPr lang="en-US" sz="1050" b="1" dirty="0">
                <a:solidFill>
                  <a:srgbClr val="1565C0"/>
                </a:solidFill>
              </a:rPr>
              <a:t>Repeat:</a:t>
            </a:r>
            <a:endParaRPr lang="en-US" sz="1050" dirty="0"/>
          </a:p>
        </p:txBody>
      </p:sp>
      <p:sp>
        <p:nvSpPr>
          <p:cNvPr id="40" name="Text 38"/>
          <p:cNvSpPr/>
          <p:nvPr/>
        </p:nvSpPr>
        <p:spPr>
          <a:xfrm>
            <a:off x="914400" y="4507992"/>
            <a:ext cx="4389120" cy="237744"/>
          </a:xfrm>
          <a:prstGeom prst="rect">
            <a:avLst/>
          </a:prstGeom>
          <a:noFill/>
          <a:ln/>
        </p:spPr>
        <p:txBody>
          <a:bodyPr wrap="square" rtlCol="0" anchor="ctr"/>
          <a:lstStyle/>
          <a:p>
            <a:pPr indent="0" marL="0">
              <a:buNone/>
            </a:pPr>
            <a:r>
              <a:rPr lang="en-US" sz="950" dirty="0">
                <a:solidFill>
                  <a:srgbClr val="1E293B"/>
                </a:solidFill>
              </a:rPr>
              <a:t>Reuse the remaining point and go to Step 2</a:t>
            </a:r>
            <a:endParaRPr lang="en-US" sz="950" dirty="0"/>
          </a:p>
        </p:txBody>
      </p:sp>
      <p:sp>
        <p:nvSpPr>
          <p:cNvPr id="41" name="Shape 39"/>
          <p:cNvSpPr/>
          <p:nvPr/>
        </p:nvSpPr>
        <p:spPr>
          <a:xfrm>
            <a:off x="5623560" y="1188720"/>
            <a:ext cx="3200400" cy="384048"/>
          </a:xfrm>
          <a:prstGeom prst="rect">
            <a:avLst/>
          </a:prstGeom>
          <a:solidFill>
            <a:srgbClr val="0D2B55"/>
          </a:solidFill>
          <a:ln w="12700">
            <a:solidFill>
              <a:srgbClr val="0D2B55"/>
            </a:solidFill>
            <a:prstDash val="solid"/>
          </a:ln>
        </p:spPr>
      </p:sp>
      <p:sp>
        <p:nvSpPr>
          <p:cNvPr id="42" name="Text 40"/>
          <p:cNvSpPr/>
          <p:nvPr/>
        </p:nvSpPr>
        <p:spPr>
          <a:xfrm>
            <a:off x="5623560" y="1188720"/>
            <a:ext cx="3200400" cy="384048"/>
          </a:xfrm>
          <a:prstGeom prst="rect">
            <a:avLst/>
          </a:prstGeom>
          <a:noFill/>
          <a:ln/>
        </p:spPr>
        <p:txBody>
          <a:bodyPr wrap="square" rtlCol="0" anchor="ctr"/>
          <a:lstStyle/>
          <a:p>
            <a:pPr algn="ctr" indent="0" marL="0">
              <a:buNone/>
            </a:pPr>
            <a:r>
              <a:rPr lang="en-US" sz="1100" b="1" dirty="0">
                <a:solidFill>
                  <a:srgbClr val="F59E0B"/>
                </a:solidFill>
              </a:rPr>
              <a:t>Interval Reduction Visual</a:t>
            </a:r>
            <a:endParaRPr lang="en-US" sz="1100" dirty="0"/>
          </a:p>
        </p:txBody>
      </p:sp>
      <p:pic>
        <p:nvPicPr>
          <p:cNvPr id="43" name="Image 0" descr="preencoded.png">    </p:cNvPr>
          <p:cNvPicPr>
            <a:picLocks noChangeAspect="1"/>
          </p:cNvPicPr>
          <p:nvPr/>
        </p:nvPicPr>
        <p:blipFill>
          <a:blip r:embed="rId1"/>
          <a:stretch>
            <a:fillRect/>
          </a:stretch>
        </p:blipFill>
        <p:spPr>
          <a:xfrm>
            <a:off x="5623560" y="1572768"/>
            <a:ext cx="3200400" cy="2331720"/>
          </a:xfrm>
          <a:prstGeom prst="rect">
            <a:avLst/>
          </a:prstGeom>
        </p:spPr>
      </p:pic>
      <p:sp>
        <p:nvSpPr>
          <p:cNvPr id="44" name="Shape 41"/>
          <p:cNvSpPr/>
          <p:nvPr/>
        </p:nvSpPr>
        <p:spPr>
          <a:xfrm>
            <a:off x="5623560" y="3931920"/>
            <a:ext cx="3200400" cy="822960"/>
          </a:xfrm>
          <a:prstGeom prst="rect">
            <a:avLst/>
          </a:prstGeom>
          <a:solidFill>
            <a:srgbClr val="0D2B55">
              <a:alpha val="15000"/>
            </a:srgbClr>
          </a:solidFill>
          <a:ln w="19050">
            <a:solidFill>
              <a:srgbClr val="0D2B55"/>
            </a:solidFill>
            <a:prstDash val="solid"/>
          </a:ln>
        </p:spPr>
      </p:sp>
      <p:sp>
        <p:nvSpPr>
          <p:cNvPr id="45" name="Text 42"/>
          <p:cNvSpPr/>
          <p:nvPr/>
        </p:nvSpPr>
        <p:spPr>
          <a:xfrm>
            <a:off x="5669280" y="3959352"/>
            <a:ext cx="3090672" cy="768096"/>
          </a:xfrm>
          <a:prstGeom prst="rect">
            <a:avLst/>
          </a:prstGeom>
          <a:noFill/>
          <a:ln/>
        </p:spPr>
        <p:txBody>
          <a:bodyPr wrap="square" rtlCol="0" anchor="ctr"/>
          <a:lstStyle/>
          <a:p>
            <a:pPr algn="ctr" indent="0" marL="0">
              <a:buNone/>
            </a:pPr>
            <a:r>
              <a:rPr lang="en-US" sz="1200" b="1" dirty="0">
                <a:solidFill>
                  <a:srgbClr val="0D2B55"/>
                </a:solidFill>
              </a:rPr>
              <a:t>x₁ = b − 0.618(b−a)</a:t>
            </a:r>
            <a:endParaRPr lang="en-US" sz="1200" dirty="0"/>
          </a:p>
          <a:p>
            <a:pPr algn="ctr" indent="0" marL="0">
              <a:buNone/>
            </a:pPr>
            <a:r>
              <a:rPr lang="en-US" sz="1200" b="1" dirty="0">
                <a:solidFill>
                  <a:srgbClr val="0D2B55"/>
                </a:solidFill>
              </a:rPr>
              <a:t>x₂ = a + 0.618(b−a)</a:t>
            </a:r>
            <a:endParaRPr lang="en-US" sz="1200" dirty="0"/>
          </a:p>
        </p:txBody>
      </p:sp>
      <p:sp>
        <p:nvSpPr>
          <p:cNvPr id="46" name="Text 43"/>
          <p:cNvSpPr/>
          <p:nvPr/>
        </p:nvSpPr>
        <p:spPr>
          <a:xfrm>
            <a:off x="7955280" y="4846320"/>
            <a:ext cx="914400" cy="182880"/>
          </a:xfrm>
          <a:prstGeom prst="rect">
            <a:avLst/>
          </a:prstGeom>
          <a:noFill/>
          <a:ln/>
        </p:spPr>
        <p:txBody>
          <a:bodyPr wrap="square" rtlCol="0" anchor="ctr"/>
          <a:lstStyle/>
          <a:p>
            <a:pPr algn="r" indent="0" marL="0">
              <a:buNone/>
            </a:pPr>
            <a:r>
              <a:rPr lang="en-US" sz="800" dirty="0">
                <a:solidFill>
                  <a:srgbClr val="94A3B8"/>
                </a:solidFill>
              </a:rPr>
              <a:t>08 / 13</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164592"/>
            <a:ext cx="1645920" cy="292608"/>
          </a:xfrm>
          <a:prstGeom prst="roundRect">
            <a:avLst>
              <a:gd name="adj" fmla="val 25000"/>
            </a:avLst>
          </a:prstGeom>
          <a:solidFill>
            <a:srgbClr val="10B981"/>
          </a:solidFill>
          <a:ln w="12700">
            <a:solidFill>
              <a:srgbClr val="10B981"/>
            </a:solidFill>
            <a:prstDash val="solid"/>
          </a:ln>
        </p:spPr>
      </p:sp>
      <p:sp>
        <p:nvSpPr>
          <p:cNvPr id="3" name="Text 1"/>
          <p:cNvSpPr/>
          <p:nvPr/>
        </p:nvSpPr>
        <p:spPr>
          <a:xfrm>
            <a:off x="365760" y="164592"/>
            <a:ext cx="1645920" cy="292608"/>
          </a:xfrm>
          <a:prstGeom prst="rect">
            <a:avLst/>
          </a:prstGeom>
          <a:noFill/>
          <a:ln/>
        </p:spPr>
        <p:txBody>
          <a:bodyPr wrap="square" rtlCol="0" anchor="ctr"/>
          <a:lstStyle/>
          <a:p>
            <a:pPr algn="ctr" indent="0" marL="0">
              <a:buNone/>
            </a:pPr>
            <a:r>
              <a:rPr lang="en-US" sz="900" b="1" dirty="0">
                <a:solidFill>
                  <a:srgbClr val="0D2B55"/>
                </a:solidFill>
              </a:rPr>
              <a:t>EXAMPLE</a:t>
            </a:r>
            <a:endParaRPr lang="en-US" sz="900" dirty="0"/>
          </a:p>
        </p:txBody>
      </p:sp>
      <p:sp>
        <p:nvSpPr>
          <p:cNvPr id="4" name="Text 2"/>
          <p:cNvSpPr/>
          <p:nvPr/>
        </p:nvSpPr>
        <p:spPr>
          <a:xfrm>
            <a:off x="365760" y="502920"/>
            <a:ext cx="8412480" cy="640080"/>
          </a:xfrm>
          <a:prstGeom prst="rect">
            <a:avLst/>
          </a:prstGeom>
          <a:noFill/>
          <a:ln/>
        </p:spPr>
        <p:txBody>
          <a:bodyPr wrap="square" rtlCol="0" anchor="ctr"/>
          <a:lstStyle/>
          <a:p>
            <a:pPr indent="0" marL="0">
              <a:buNone/>
            </a:pPr>
            <a:r>
              <a:rPr lang="en-US" sz="2600" b="1" dirty="0">
                <a:solidFill>
                  <a:srgbClr val="0D2B55"/>
                </a:solidFill>
                <a:latin typeface="Calibri" pitchFamily="34" charset="0"/>
                <a:ea typeface="Calibri" pitchFamily="34" charset="-122"/>
                <a:cs typeface="Calibri" pitchFamily="34" charset="-120"/>
              </a:rPr>
              <a:t>Numerical Example — Iteration 1</a:t>
            </a:r>
            <a:endParaRPr lang="en-US" sz="2600" dirty="0"/>
          </a:p>
        </p:txBody>
      </p:sp>
      <p:sp>
        <p:nvSpPr>
          <p:cNvPr id="5" name="Text 3"/>
          <p:cNvSpPr/>
          <p:nvPr/>
        </p:nvSpPr>
        <p:spPr>
          <a:xfrm>
            <a:off x="365760" y="1097280"/>
            <a:ext cx="8412480" cy="320040"/>
          </a:xfrm>
          <a:prstGeom prst="rect">
            <a:avLst/>
          </a:prstGeom>
          <a:noFill/>
          <a:ln/>
        </p:spPr>
        <p:txBody>
          <a:bodyPr wrap="square" rtlCol="0" anchor="ctr"/>
          <a:lstStyle/>
          <a:p>
            <a:pPr indent="0" marL="0">
              <a:buNone/>
            </a:pPr>
            <a:r>
              <a:rPr lang="en-US" sz="1300" i="1" dirty="0">
                <a:solidFill>
                  <a:srgbClr val="1565C0"/>
                </a:solidFill>
                <a:latin typeface="Calibri" pitchFamily="34" charset="0"/>
                <a:ea typeface="Calibri" pitchFamily="34" charset="-122"/>
                <a:cs typeface="Calibri" pitchFamily="34" charset="-120"/>
              </a:rPr>
              <a:t>Applying Golden Section Search to [40, 140] km/h</a:t>
            </a:r>
            <a:endParaRPr lang="en-US" sz="1300" dirty="0"/>
          </a:p>
        </p:txBody>
      </p:sp>
      <p:pic>
        <p:nvPicPr>
          <p:cNvPr id="6" name="Image 0" descr="preencoded.png">    </p:cNvPr>
          <p:cNvPicPr>
            <a:picLocks noChangeAspect="1"/>
          </p:cNvPicPr>
          <p:nvPr/>
        </p:nvPicPr>
        <p:blipFill>
          <a:blip r:embed="rId1"/>
          <a:stretch>
            <a:fillRect/>
          </a:stretch>
        </p:blipFill>
        <p:spPr>
          <a:xfrm>
            <a:off x="4617720" y="1188720"/>
            <a:ext cx="4297680" cy="3017520"/>
          </a:xfrm>
          <a:prstGeom prst="rect">
            <a:avLst/>
          </a:prstGeom>
        </p:spPr>
      </p:pic>
      <p:sp>
        <p:nvSpPr>
          <p:cNvPr id="7" name="Shape 4"/>
          <p:cNvSpPr/>
          <p:nvPr/>
        </p:nvSpPr>
        <p:spPr>
          <a:xfrm>
            <a:off x="274320" y="1371600"/>
            <a:ext cx="4206240" cy="438912"/>
          </a:xfrm>
          <a:prstGeom prst="rect">
            <a:avLst/>
          </a:prstGeom>
          <a:solidFill>
            <a:srgbClr val="F0F4F8"/>
          </a:solidFill>
          <a:ln w="12700">
            <a:solidFill>
              <a:srgbClr val="D1D5DB"/>
            </a:solidFill>
            <a:prstDash val="solid"/>
          </a:ln>
        </p:spPr>
      </p:sp>
      <p:sp>
        <p:nvSpPr>
          <p:cNvPr id="8" name="Text 5"/>
          <p:cNvSpPr/>
          <p:nvPr/>
        </p:nvSpPr>
        <p:spPr>
          <a:xfrm>
            <a:off x="384048" y="1408176"/>
            <a:ext cx="3931920" cy="201168"/>
          </a:xfrm>
          <a:prstGeom prst="rect">
            <a:avLst/>
          </a:prstGeom>
          <a:noFill/>
          <a:ln/>
        </p:spPr>
        <p:txBody>
          <a:bodyPr wrap="square" rtlCol="0" anchor="ctr"/>
          <a:lstStyle/>
          <a:p>
            <a:pPr indent="0" marL="0">
              <a:buNone/>
            </a:pPr>
            <a:r>
              <a:rPr lang="en-US" sz="950" b="1" dirty="0">
                <a:solidFill>
                  <a:srgbClr val="0D2B55"/>
                </a:solidFill>
              </a:rPr>
              <a:t>Initial Interval:</a:t>
            </a:r>
            <a:endParaRPr lang="en-US" sz="950" dirty="0"/>
          </a:p>
        </p:txBody>
      </p:sp>
      <p:sp>
        <p:nvSpPr>
          <p:cNvPr id="9" name="Text 6"/>
          <p:cNvSpPr/>
          <p:nvPr/>
        </p:nvSpPr>
        <p:spPr>
          <a:xfrm>
            <a:off x="384048" y="1591056"/>
            <a:ext cx="3931920" cy="201168"/>
          </a:xfrm>
          <a:prstGeom prst="rect">
            <a:avLst/>
          </a:prstGeom>
          <a:noFill/>
          <a:ln/>
        </p:spPr>
        <p:txBody>
          <a:bodyPr wrap="square" rtlCol="0" anchor="ctr"/>
          <a:lstStyle/>
          <a:p>
            <a:pPr indent="0" marL="0">
              <a:buNone/>
            </a:pPr>
            <a:r>
              <a:rPr lang="en-US" sz="950" dirty="0">
                <a:solidFill>
                  <a:srgbClr val="1E293B"/>
                </a:solidFill>
              </a:rPr>
              <a:t>a = 40,   b = 140   →   (b−a) = 100</a:t>
            </a:r>
            <a:endParaRPr lang="en-US" sz="950" dirty="0"/>
          </a:p>
        </p:txBody>
      </p:sp>
      <p:sp>
        <p:nvSpPr>
          <p:cNvPr id="10" name="Shape 7"/>
          <p:cNvSpPr/>
          <p:nvPr/>
        </p:nvSpPr>
        <p:spPr>
          <a:xfrm>
            <a:off x="274320" y="1865376"/>
            <a:ext cx="4206240" cy="438912"/>
          </a:xfrm>
          <a:prstGeom prst="rect">
            <a:avLst/>
          </a:prstGeom>
          <a:solidFill>
            <a:srgbClr val="FFF8E7"/>
          </a:solidFill>
          <a:ln w="12700">
            <a:solidFill>
              <a:srgbClr val="F59E0B"/>
            </a:solidFill>
            <a:prstDash val="solid"/>
          </a:ln>
        </p:spPr>
      </p:sp>
      <p:sp>
        <p:nvSpPr>
          <p:cNvPr id="11" name="Text 8"/>
          <p:cNvSpPr/>
          <p:nvPr/>
        </p:nvSpPr>
        <p:spPr>
          <a:xfrm>
            <a:off x="384048" y="1901952"/>
            <a:ext cx="3931920" cy="201168"/>
          </a:xfrm>
          <a:prstGeom prst="rect">
            <a:avLst/>
          </a:prstGeom>
          <a:noFill/>
          <a:ln/>
        </p:spPr>
        <p:txBody>
          <a:bodyPr wrap="square" rtlCol="0" anchor="ctr"/>
          <a:lstStyle/>
          <a:p>
            <a:pPr indent="0" marL="0">
              <a:buNone/>
            </a:pPr>
            <a:r>
              <a:rPr lang="en-US" sz="950" b="1" dirty="0">
                <a:solidFill>
                  <a:srgbClr val="0D2B55"/>
                </a:solidFill>
              </a:rPr>
              <a:t>x₁ = b − 0.618(b−a):</a:t>
            </a:r>
            <a:endParaRPr lang="en-US" sz="950" dirty="0"/>
          </a:p>
        </p:txBody>
      </p:sp>
      <p:sp>
        <p:nvSpPr>
          <p:cNvPr id="12" name="Text 9"/>
          <p:cNvSpPr/>
          <p:nvPr/>
        </p:nvSpPr>
        <p:spPr>
          <a:xfrm>
            <a:off x="384048" y="2084832"/>
            <a:ext cx="3931920" cy="201168"/>
          </a:xfrm>
          <a:prstGeom prst="rect">
            <a:avLst/>
          </a:prstGeom>
          <a:noFill/>
          <a:ln/>
        </p:spPr>
        <p:txBody>
          <a:bodyPr wrap="square" rtlCol="0" anchor="ctr"/>
          <a:lstStyle/>
          <a:p>
            <a:pPr indent="0" marL="0">
              <a:buNone/>
            </a:pPr>
            <a:r>
              <a:rPr lang="en-US" sz="950" dirty="0">
                <a:solidFill>
                  <a:srgbClr val="1E293B"/>
                </a:solidFill>
              </a:rPr>
              <a:t>= 140 − 0.618 × 100 = 78.2 km/h</a:t>
            </a:r>
            <a:endParaRPr lang="en-US" sz="950" dirty="0"/>
          </a:p>
        </p:txBody>
      </p:sp>
      <p:sp>
        <p:nvSpPr>
          <p:cNvPr id="13" name="Shape 10"/>
          <p:cNvSpPr/>
          <p:nvPr/>
        </p:nvSpPr>
        <p:spPr>
          <a:xfrm>
            <a:off x="274320" y="2359152"/>
            <a:ext cx="4206240" cy="438912"/>
          </a:xfrm>
          <a:prstGeom prst="rect">
            <a:avLst/>
          </a:prstGeom>
          <a:solidFill>
            <a:srgbClr val="FFF8E7"/>
          </a:solidFill>
          <a:ln w="12700">
            <a:solidFill>
              <a:srgbClr val="F59E0B"/>
            </a:solidFill>
            <a:prstDash val="solid"/>
          </a:ln>
        </p:spPr>
      </p:sp>
      <p:sp>
        <p:nvSpPr>
          <p:cNvPr id="14" name="Text 11"/>
          <p:cNvSpPr/>
          <p:nvPr/>
        </p:nvSpPr>
        <p:spPr>
          <a:xfrm>
            <a:off x="384048" y="2395728"/>
            <a:ext cx="3931920" cy="201168"/>
          </a:xfrm>
          <a:prstGeom prst="rect">
            <a:avLst/>
          </a:prstGeom>
          <a:noFill/>
          <a:ln/>
        </p:spPr>
        <p:txBody>
          <a:bodyPr wrap="square" rtlCol="0" anchor="ctr"/>
          <a:lstStyle/>
          <a:p>
            <a:pPr indent="0" marL="0">
              <a:buNone/>
            </a:pPr>
            <a:r>
              <a:rPr lang="en-US" sz="950" b="1" dirty="0">
                <a:solidFill>
                  <a:srgbClr val="0D2B55"/>
                </a:solidFill>
              </a:rPr>
              <a:t>x₂ = a + 0.618(b−a):</a:t>
            </a:r>
            <a:endParaRPr lang="en-US" sz="950" dirty="0"/>
          </a:p>
        </p:txBody>
      </p:sp>
      <p:sp>
        <p:nvSpPr>
          <p:cNvPr id="15" name="Text 12"/>
          <p:cNvSpPr/>
          <p:nvPr/>
        </p:nvSpPr>
        <p:spPr>
          <a:xfrm>
            <a:off x="384048" y="2578608"/>
            <a:ext cx="3931920" cy="201168"/>
          </a:xfrm>
          <a:prstGeom prst="rect">
            <a:avLst/>
          </a:prstGeom>
          <a:noFill/>
          <a:ln/>
        </p:spPr>
        <p:txBody>
          <a:bodyPr wrap="square" rtlCol="0" anchor="ctr"/>
          <a:lstStyle/>
          <a:p>
            <a:pPr indent="0" marL="0">
              <a:buNone/>
            </a:pPr>
            <a:r>
              <a:rPr lang="en-US" sz="950" dirty="0">
                <a:solidFill>
                  <a:srgbClr val="1E293B"/>
                </a:solidFill>
              </a:rPr>
              <a:t>= 40 + 0.618 × 100 = 101.8 km/h</a:t>
            </a:r>
            <a:endParaRPr lang="en-US" sz="950" dirty="0"/>
          </a:p>
        </p:txBody>
      </p:sp>
      <p:sp>
        <p:nvSpPr>
          <p:cNvPr id="16" name="Shape 13"/>
          <p:cNvSpPr/>
          <p:nvPr/>
        </p:nvSpPr>
        <p:spPr>
          <a:xfrm>
            <a:off x="274320" y="2852928"/>
            <a:ext cx="4206240" cy="438912"/>
          </a:xfrm>
          <a:prstGeom prst="rect">
            <a:avLst/>
          </a:prstGeom>
          <a:solidFill>
            <a:srgbClr val="F0FDF4"/>
          </a:solidFill>
          <a:ln w="12700">
            <a:solidFill>
              <a:srgbClr val="10B981"/>
            </a:solidFill>
            <a:prstDash val="solid"/>
          </a:ln>
        </p:spPr>
      </p:sp>
      <p:sp>
        <p:nvSpPr>
          <p:cNvPr id="17" name="Text 14"/>
          <p:cNvSpPr/>
          <p:nvPr/>
        </p:nvSpPr>
        <p:spPr>
          <a:xfrm>
            <a:off x="384048" y="2889504"/>
            <a:ext cx="3931920" cy="201168"/>
          </a:xfrm>
          <a:prstGeom prst="rect">
            <a:avLst/>
          </a:prstGeom>
          <a:noFill/>
          <a:ln/>
        </p:spPr>
        <p:txBody>
          <a:bodyPr wrap="square" rtlCol="0" anchor="ctr"/>
          <a:lstStyle/>
          <a:p>
            <a:pPr indent="0" marL="0">
              <a:buNone/>
            </a:pPr>
            <a:r>
              <a:rPr lang="en-US" sz="950" b="1" dirty="0">
                <a:solidFill>
                  <a:srgbClr val="0D2B55"/>
                </a:solidFill>
              </a:rPr>
              <a:t>f(x₁) = f(78.2):</a:t>
            </a:r>
            <a:endParaRPr lang="en-US" sz="950" dirty="0"/>
          </a:p>
        </p:txBody>
      </p:sp>
      <p:sp>
        <p:nvSpPr>
          <p:cNvPr id="18" name="Text 15"/>
          <p:cNvSpPr/>
          <p:nvPr/>
        </p:nvSpPr>
        <p:spPr>
          <a:xfrm>
            <a:off x="384048" y="3072384"/>
            <a:ext cx="3931920" cy="201168"/>
          </a:xfrm>
          <a:prstGeom prst="rect">
            <a:avLst/>
          </a:prstGeom>
          <a:noFill/>
          <a:ln/>
        </p:spPr>
        <p:txBody>
          <a:bodyPr wrap="square" rtlCol="0" anchor="ctr"/>
          <a:lstStyle/>
          <a:p>
            <a:pPr indent="0" marL="0">
              <a:buNone/>
            </a:pPr>
            <a:r>
              <a:rPr lang="en-US" sz="950" dirty="0">
                <a:solidFill>
                  <a:srgbClr val="1E293B"/>
                </a:solidFill>
              </a:rPr>
              <a:t>= 0.005×(78.2−80)² + 6 = 6.016 L/100km</a:t>
            </a:r>
            <a:endParaRPr lang="en-US" sz="950" dirty="0"/>
          </a:p>
        </p:txBody>
      </p:sp>
      <p:sp>
        <p:nvSpPr>
          <p:cNvPr id="19" name="Shape 16"/>
          <p:cNvSpPr/>
          <p:nvPr/>
        </p:nvSpPr>
        <p:spPr>
          <a:xfrm>
            <a:off x="274320" y="3346704"/>
            <a:ext cx="4206240" cy="438912"/>
          </a:xfrm>
          <a:prstGeom prst="rect">
            <a:avLst/>
          </a:prstGeom>
          <a:solidFill>
            <a:srgbClr val="FEF2F2"/>
          </a:solidFill>
          <a:ln w="12700">
            <a:solidFill>
              <a:srgbClr val="EF4444"/>
            </a:solidFill>
            <a:prstDash val="solid"/>
          </a:ln>
        </p:spPr>
      </p:sp>
      <p:sp>
        <p:nvSpPr>
          <p:cNvPr id="20" name="Text 17"/>
          <p:cNvSpPr/>
          <p:nvPr/>
        </p:nvSpPr>
        <p:spPr>
          <a:xfrm>
            <a:off x="384048" y="3383280"/>
            <a:ext cx="3931920" cy="201168"/>
          </a:xfrm>
          <a:prstGeom prst="rect">
            <a:avLst/>
          </a:prstGeom>
          <a:noFill/>
          <a:ln/>
        </p:spPr>
        <p:txBody>
          <a:bodyPr wrap="square" rtlCol="0" anchor="ctr"/>
          <a:lstStyle/>
          <a:p>
            <a:pPr indent="0" marL="0">
              <a:buNone/>
            </a:pPr>
            <a:r>
              <a:rPr lang="en-US" sz="950" b="1" dirty="0">
                <a:solidFill>
                  <a:srgbClr val="0D2B55"/>
                </a:solidFill>
              </a:rPr>
              <a:t>f(x₂) = f(101.8):</a:t>
            </a:r>
            <a:endParaRPr lang="en-US" sz="950" dirty="0"/>
          </a:p>
        </p:txBody>
      </p:sp>
      <p:sp>
        <p:nvSpPr>
          <p:cNvPr id="21" name="Text 18"/>
          <p:cNvSpPr/>
          <p:nvPr/>
        </p:nvSpPr>
        <p:spPr>
          <a:xfrm>
            <a:off x="384048" y="3566160"/>
            <a:ext cx="3931920" cy="201168"/>
          </a:xfrm>
          <a:prstGeom prst="rect">
            <a:avLst/>
          </a:prstGeom>
          <a:noFill/>
          <a:ln/>
        </p:spPr>
        <p:txBody>
          <a:bodyPr wrap="square" rtlCol="0" anchor="ctr"/>
          <a:lstStyle/>
          <a:p>
            <a:pPr indent="0" marL="0">
              <a:buNone/>
            </a:pPr>
            <a:r>
              <a:rPr lang="en-US" sz="950" dirty="0">
                <a:solidFill>
                  <a:srgbClr val="1E293B"/>
                </a:solidFill>
              </a:rPr>
              <a:t>= 0.005×(101.8−80)² + 6 = 8.376 L/100km</a:t>
            </a:r>
            <a:endParaRPr lang="en-US" sz="950" dirty="0"/>
          </a:p>
        </p:txBody>
      </p:sp>
      <p:sp>
        <p:nvSpPr>
          <p:cNvPr id="22" name="Shape 19"/>
          <p:cNvSpPr/>
          <p:nvPr/>
        </p:nvSpPr>
        <p:spPr>
          <a:xfrm>
            <a:off x="274320" y="3840480"/>
            <a:ext cx="4206240" cy="438912"/>
          </a:xfrm>
          <a:prstGeom prst="rect">
            <a:avLst/>
          </a:prstGeom>
          <a:solidFill>
            <a:srgbClr val="EFF6FF"/>
          </a:solidFill>
          <a:ln w="12700">
            <a:solidFill>
              <a:srgbClr val="2196F3"/>
            </a:solidFill>
            <a:prstDash val="solid"/>
          </a:ln>
        </p:spPr>
      </p:sp>
      <p:sp>
        <p:nvSpPr>
          <p:cNvPr id="23" name="Text 20"/>
          <p:cNvSpPr/>
          <p:nvPr/>
        </p:nvSpPr>
        <p:spPr>
          <a:xfrm>
            <a:off x="384048" y="3877056"/>
            <a:ext cx="3931920" cy="201168"/>
          </a:xfrm>
          <a:prstGeom prst="rect">
            <a:avLst/>
          </a:prstGeom>
          <a:noFill/>
          <a:ln/>
        </p:spPr>
        <p:txBody>
          <a:bodyPr wrap="square" rtlCol="0" anchor="ctr"/>
          <a:lstStyle/>
          <a:p>
            <a:pPr indent="0" marL="0">
              <a:buNone/>
            </a:pPr>
            <a:r>
              <a:rPr lang="en-US" sz="950" b="1" dirty="0">
                <a:solidFill>
                  <a:srgbClr val="0D2B55"/>
                </a:solidFill>
              </a:rPr>
              <a:t>Decision: f(x₁) &lt; f(x₂):</a:t>
            </a:r>
            <a:endParaRPr lang="en-US" sz="950" dirty="0"/>
          </a:p>
        </p:txBody>
      </p:sp>
      <p:sp>
        <p:nvSpPr>
          <p:cNvPr id="24" name="Text 21"/>
          <p:cNvSpPr/>
          <p:nvPr/>
        </p:nvSpPr>
        <p:spPr>
          <a:xfrm>
            <a:off x="384048" y="4059936"/>
            <a:ext cx="3931920" cy="201168"/>
          </a:xfrm>
          <a:prstGeom prst="rect">
            <a:avLst/>
          </a:prstGeom>
          <a:noFill/>
          <a:ln/>
        </p:spPr>
        <p:txBody>
          <a:bodyPr wrap="square" rtlCol="0" anchor="ctr"/>
          <a:lstStyle/>
          <a:p>
            <a:pPr indent="0" marL="0">
              <a:buNone/>
            </a:pPr>
            <a:r>
              <a:rPr lang="en-US" sz="950" dirty="0">
                <a:solidFill>
                  <a:srgbClr val="1E293B"/>
                </a:solidFill>
              </a:rPr>
              <a:t>Eliminate right side → new b = x₂ = 101.8</a:t>
            </a:r>
            <a:endParaRPr lang="en-US" sz="950" dirty="0"/>
          </a:p>
        </p:txBody>
      </p:sp>
      <p:sp>
        <p:nvSpPr>
          <p:cNvPr id="25" name="Shape 22"/>
          <p:cNvSpPr/>
          <p:nvPr/>
        </p:nvSpPr>
        <p:spPr>
          <a:xfrm>
            <a:off x="274320" y="4334256"/>
            <a:ext cx="4206240" cy="438912"/>
          </a:xfrm>
          <a:prstGeom prst="rect">
            <a:avLst/>
          </a:prstGeom>
          <a:solidFill>
            <a:srgbClr val="F0FDF4"/>
          </a:solidFill>
          <a:ln w="12700">
            <a:solidFill>
              <a:srgbClr val="10B981"/>
            </a:solidFill>
            <a:prstDash val="solid"/>
          </a:ln>
        </p:spPr>
      </p:sp>
      <p:sp>
        <p:nvSpPr>
          <p:cNvPr id="26" name="Text 23"/>
          <p:cNvSpPr/>
          <p:nvPr/>
        </p:nvSpPr>
        <p:spPr>
          <a:xfrm>
            <a:off x="384048" y="4370832"/>
            <a:ext cx="3931920" cy="201168"/>
          </a:xfrm>
          <a:prstGeom prst="rect">
            <a:avLst/>
          </a:prstGeom>
          <a:noFill/>
          <a:ln/>
        </p:spPr>
        <p:txBody>
          <a:bodyPr wrap="square" rtlCol="0" anchor="ctr"/>
          <a:lstStyle/>
          <a:p>
            <a:pPr indent="0" marL="0">
              <a:buNone/>
            </a:pPr>
            <a:r>
              <a:rPr lang="en-US" sz="950" b="1" dirty="0">
                <a:solidFill>
                  <a:srgbClr val="0D2B55"/>
                </a:solidFill>
              </a:rPr>
              <a:t>New Interval:</a:t>
            </a:r>
            <a:endParaRPr lang="en-US" sz="950" dirty="0"/>
          </a:p>
        </p:txBody>
      </p:sp>
      <p:sp>
        <p:nvSpPr>
          <p:cNvPr id="27" name="Text 24"/>
          <p:cNvSpPr/>
          <p:nvPr/>
        </p:nvSpPr>
        <p:spPr>
          <a:xfrm>
            <a:off x="384048" y="4553712"/>
            <a:ext cx="3931920" cy="201168"/>
          </a:xfrm>
          <a:prstGeom prst="rect">
            <a:avLst/>
          </a:prstGeom>
          <a:noFill/>
          <a:ln/>
        </p:spPr>
        <p:txBody>
          <a:bodyPr wrap="square" rtlCol="0" anchor="ctr"/>
          <a:lstStyle/>
          <a:p>
            <a:pPr indent="0" marL="0">
              <a:buNone/>
            </a:pPr>
            <a:r>
              <a:rPr lang="en-US" sz="950" dirty="0">
                <a:solidFill>
                  <a:srgbClr val="1E293B"/>
                </a:solidFill>
              </a:rPr>
              <a:t>[40, 101.8]   →   size = 61.8 km/h (−38.2%)</a:t>
            </a:r>
            <a:endParaRPr lang="en-US" sz="950" dirty="0"/>
          </a:p>
        </p:txBody>
      </p:sp>
      <p:sp>
        <p:nvSpPr>
          <p:cNvPr id="28" name="Shape 25"/>
          <p:cNvSpPr/>
          <p:nvPr/>
        </p:nvSpPr>
        <p:spPr>
          <a:xfrm>
            <a:off x="274320" y="4572000"/>
            <a:ext cx="8595360" cy="347472"/>
          </a:xfrm>
          <a:prstGeom prst="rect">
            <a:avLst/>
          </a:prstGeom>
          <a:solidFill>
            <a:srgbClr val="0D2B55"/>
          </a:solidFill>
          <a:ln w="12700">
            <a:solidFill>
              <a:srgbClr val="0D2B55"/>
            </a:solidFill>
            <a:prstDash val="solid"/>
          </a:ln>
        </p:spPr>
      </p:sp>
      <p:sp>
        <p:nvSpPr>
          <p:cNvPr id="29" name="Text 26"/>
          <p:cNvSpPr/>
          <p:nvPr/>
        </p:nvSpPr>
        <p:spPr>
          <a:xfrm>
            <a:off x="411480" y="4599432"/>
            <a:ext cx="8412480" cy="292608"/>
          </a:xfrm>
          <a:prstGeom prst="rect">
            <a:avLst/>
          </a:prstGeom>
          <a:noFill/>
          <a:ln/>
        </p:spPr>
        <p:txBody>
          <a:bodyPr wrap="square" rtlCol="0" anchor="ctr"/>
          <a:lstStyle/>
          <a:p>
            <a:pPr indent="0" marL="0">
              <a:buNone/>
            </a:pPr>
            <a:r>
              <a:rPr lang="en-US" sz="1000" i="1" dirty="0">
                <a:solidFill>
                  <a:srgbClr val="FFFFFF"/>
                </a:solidFill>
              </a:rPr>
              <a:t>🔑  One iteration → interval shrinks from 100 to 61.8 km/h. Only 2 function evaluations used!</a:t>
            </a:r>
            <a:endParaRPr lang="en-US" sz="1000" dirty="0"/>
          </a:p>
        </p:txBody>
      </p:sp>
      <p:sp>
        <p:nvSpPr>
          <p:cNvPr id="30" name="Text 27"/>
          <p:cNvSpPr/>
          <p:nvPr/>
        </p:nvSpPr>
        <p:spPr>
          <a:xfrm>
            <a:off x="7955280" y="4846320"/>
            <a:ext cx="914400" cy="182880"/>
          </a:xfrm>
          <a:prstGeom prst="rect">
            <a:avLst/>
          </a:prstGeom>
          <a:noFill/>
          <a:ln/>
        </p:spPr>
        <p:txBody>
          <a:bodyPr wrap="square" rtlCol="0" anchor="ctr"/>
          <a:lstStyle/>
          <a:p>
            <a:pPr algn="r" indent="0" marL="0">
              <a:buNone/>
            </a:pPr>
            <a:r>
              <a:rPr lang="en-US" sz="800" dirty="0">
                <a:solidFill>
                  <a:srgbClr val="94A3B8"/>
                </a:solidFill>
              </a:rPr>
              <a:t>09 / 13</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365760" y="164592"/>
            <a:ext cx="1645920" cy="292608"/>
          </a:xfrm>
          <a:prstGeom prst="roundRect">
            <a:avLst>
              <a:gd name="adj" fmla="val 25000"/>
            </a:avLst>
          </a:prstGeom>
          <a:solidFill>
            <a:srgbClr val="0D9488"/>
          </a:solidFill>
          <a:ln w="12700">
            <a:solidFill>
              <a:srgbClr val="0D9488"/>
            </a:solidFill>
            <a:prstDash val="solid"/>
          </a:ln>
        </p:spPr>
      </p:sp>
      <p:sp>
        <p:nvSpPr>
          <p:cNvPr id="3" name="Text 1"/>
          <p:cNvSpPr/>
          <p:nvPr/>
        </p:nvSpPr>
        <p:spPr>
          <a:xfrm>
            <a:off x="365760" y="164592"/>
            <a:ext cx="1645920" cy="292608"/>
          </a:xfrm>
          <a:prstGeom prst="rect">
            <a:avLst/>
          </a:prstGeom>
          <a:noFill/>
          <a:ln/>
        </p:spPr>
        <p:txBody>
          <a:bodyPr wrap="square" rtlCol="0" anchor="ctr"/>
          <a:lstStyle/>
          <a:p>
            <a:pPr algn="ctr" indent="0" marL="0">
              <a:buNone/>
            </a:pPr>
            <a:r>
              <a:rPr lang="en-US" sz="900" b="1" dirty="0">
                <a:solidFill>
                  <a:srgbClr val="0D2B55"/>
                </a:solidFill>
              </a:rPr>
              <a:t>CONVERGENCE</a:t>
            </a:r>
            <a:endParaRPr lang="en-US" sz="900" dirty="0"/>
          </a:p>
        </p:txBody>
      </p:sp>
      <p:sp>
        <p:nvSpPr>
          <p:cNvPr id="4" name="Text 2"/>
          <p:cNvSpPr/>
          <p:nvPr/>
        </p:nvSpPr>
        <p:spPr>
          <a:xfrm>
            <a:off x="365760" y="502920"/>
            <a:ext cx="8412480" cy="640080"/>
          </a:xfrm>
          <a:prstGeom prst="rect">
            <a:avLst/>
          </a:prstGeom>
          <a:noFill/>
          <a:ln/>
        </p:spPr>
        <p:txBody>
          <a:bodyPr wrap="square" rtlCol="0" anchor="ctr"/>
          <a:lstStyle/>
          <a:p>
            <a:pPr indent="0" marL="0">
              <a:buNone/>
            </a:pPr>
            <a:r>
              <a:rPr lang="en-US" sz="2600" b="1" dirty="0">
                <a:solidFill>
                  <a:srgbClr val="0D2B55"/>
                </a:solidFill>
                <a:latin typeface="Calibri" pitchFamily="34" charset="0"/>
                <a:ea typeface="Calibri" pitchFamily="34" charset="-122"/>
                <a:cs typeface="Calibri" pitchFamily="34" charset="-120"/>
              </a:rPr>
              <a:t>Iteration Table &amp; Convergence</a:t>
            </a:r>
            <a:endParaRPr lang="en-US" sz="2600" dirty="0"/>
          </a:p>
        </p:txBody>
      </p:sp>
      <p:sp>
        <p:nvSpPr>
          <p:cNvPr id="5" name="Text 3"/>
          <p:cNvSpPr/>
          <p:nvPr/>
        </p:nvSpPr>
        <p:spPr>
          <a:xfrm>
            <a:off x="365760" y="1097280"/>
            <a:ext cx="8412480" cy="320040"/>
          </a:xfrm>
          <a:prstGeom prst="rect">
            <a:avLst/>
          </a:prstGeom>
          <a:noFill/>
          <a:ln/>
        </p:spPr>
        <p:txBody>
          <a:bodyPr wrap="square" rtlCol="0" anchor="ctr"/>
          <a:lstStyle/>
          <a:p>
            <a:pPr indent="0" marL="0">
              <a:buNone/>
            </a:pPr>
            <a:r>
              <a:rPr lang="en-US" sz="1300" i="1" dirty="0">
                <a:solidFill>
                  <a:srgbClr val="1565C0"/>
                </a:solidFill>
                <a:latin typeface="Calibri" pitchFamily="34" charset="0"/>
                <a:ea typeface="Calibri" pitchFamily="34" charset="-122"/>
                <a:cs typeface="Calibri" pitchFamily="34" charset="-120"/>
              </a:rPr>
              <a:t>The search interval shrinks toward v* = 80 km/h with every step</a:t>
            </a:r>
            <a:endParaRPr lang="en-US" sz="13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320040" y="1325880"/>
          <a:ext cx="8503920" cy="2514600"/>
        </p:xfrm>
        <a:graphic>
          <a:graphicData uri="http://schemas.openxmlformats.org/drawingml/2006/table">
            <a:tbl>
              <a:tblPr/>
              <a:tblGrid>
                <a:gridCol w="457200"/>
                <a:gridCol w="868680"/>
                <a:gridCol w="868680"/>
                <a:gridCol w="822960"/>
                <a:gridCol w="822960"/>
                <a:gridCol w="822960"/>
                <a:gridCol w="822960"/>
                <a:gridCol w="731520"/>
              </a:tblGrid>
              <a:tr h="359229">
                <a:tc>
                  <a:txBody>
                    <a:bodyPr/>
                    <a:lstStyle/>
                    <a:p>
                      <a:pPr algn="ctr" indent="0" marL="0">
                        <a:buNone/>
                      </a:pPr>
                      <a:r>
                        <a:rPr lang="en-US" sz="1000" b="1" dirty="0">
                          <a:solidFill>
                            <a:srgbClr val="FFFFFF"/>
                          </a:solidFill>
                        </a:rPr>
                        <a:t>Iter.</a:t>
                      </a:r>
                      <a:endParaRPr lang="en-US" sz="1000" dirty="0"/>
                    </a:p>
                  </a:txBody>
                  <a:tcPr marL="91440" marR="91440" marT="45720" marB="45720">
                    <a:lnL w="10160" cap="flat" cmpd="sng" algn="ctr">
                      <a:solidFill>
                        <a:srgbClr val="D1D5DB"/>
                      </a:solidFill>
                      <a:prstDash val="solid"/>
                      <a:round/>
                      <a:headEnd type="none" w="med" len="med"/>
                      <a:tailEnd type="none" w="med" len="med"/>
                    </a:lnL>
                    <a:lnR w="10160" cap="flat" cmpd="sng" algn="ctr">
                      <a:solidFill>
                        <a:srgbClr val="D1D5DB"/>
                      </a:solidFill>
                      <a:prstDash val="solid"/>
                      <a:round/>
                      <a:headEnd type="none" w="med" len="med"/>
                      <a:tailEnd type="none" w="med" len="med"/>
                    </a:lnR>
                    <a:lnT w="10160" cap="flat" cmpd="sng" algn="ctr">
                      <a:solidFill>
                        <a:srgbClr val="D1D5DB"/>
                      </a:solidFill>
                      <a:prstDash val="solid"/>
                      <a:round/>
                      <a:headEnd type="none" w="med" len="med"/>
                      <a:tailEnd type="none" w="med" len="med"/>
                    </a:lnT>
                    <a:lnB w="10160" cap="flat" cmpd="sng" algn="ctr">
                      <a:solidFill>
                        <a:srgbClr val="D1D5DB"/>
                      </a:solidFill>
                      <a:prstDash val="solid"/>
                      <a:round/>
                      <a:headEnd type="none" w="med" len="med"/>
                      <a:tailEnd type="none" w="med" len="med"/>
                    </a:lnB>
                    <a:solidFill>
                      <a:srgbClr val="0D2B55"/>
                    </a:solidFill>
                  </a:tcPr>
                </a:tc>
                <a:tc>
                  <a:txBody>
                    <a:bodyPr/>
                    <a:lstStyle/>
                    <a:p>
                      <a:pPr algn="ctr" indent="0" marL="0">
                        <a:buNone/>
                      </a:pPr>
                      <a:r>
                        <a:rPr lang="en-US" sz="1000" b="1" dirty="0">
                          <a:solidFill>
                            <a:srgbClr val="FFFFFF"/>
                          </a:solidFill>
                        </a:rPr>
                        <a:t>a (km/h)</a:t>
                      </a:r>
                      <a:endParaRPr lang="en-US" sz="1000" dirty="0"/>
                    </a:p>
                  </a:txBody>
                  <a:tcPr marL="91440" marR="91440" marT="45720" marB="45720">
                    <a:lnL w="10160" cap="flat" cmpd="sng" algn="ctr">
                      <a:solidFill>
                        <a:srgbClr val="D1D5DB"/>
                      </a:solidFill>
                      <a:prstDash val="solid"/>
                      <a:round/>
                      <a:headEnd type="none" w="med" len="med"/>
                      <a:tailEnd type="none" w="med" len="med"/>
                    </a:lnL>
                    <a:lnR w="10160" cap="flat" cmpd="sng" algn="ctr">
                      <a:solidFill>
                        <a:srgbClr val="D1D5DB"/>
                      </a:solidFill>
                      <a:prstDash val="solid"/>
                      <a:round/>
                      <a:headEnd type="none" w="med" len="med"/>
                      <a:tailEnd type="none" w="med" len="med"/>
                    </a:lnR>
                    <a:lnT w="10160" cap="flat" cmpd="sng" algn="ctr">
                      <a:solidFill>
                        <a:srgbClr val="D1D5DB"/>
                      </a:solidFill>
                      <a:prstDash val="solid"/>
                      <a:round/>
                      <a:headEnd type="none" w="med" len="med"/>
                      <a:tailEnd type="none" w="med" len="med"/>
                    </a:lnT>
                    <a:lnB w="10160" cap="flat" cmpd="sng" algn="ctr">
                      <a:solidFill>
                        <a:srgbClr val="D1D5DB"/>
                      </a:solidFill>
                      <a:prstDash val="solid"/>
                      <a:round/>
                      <a:headEnd type="none" w="med" len="med"/>
                      <a:tailEnd type="none" w="med" len="med"/>
                    </a:lnB>
                    <a:solidFill>
                      <a:srgbClr val="0D2B55"/>
                    </a:solidFill>
                  </a:tcPr>
                </a:tc>
                <a:tc>
                  <a:txBody>
                    <a:bodyPr/>
                    <a:lstStyle/>
                    <a:p>
                      <a:pPr algn="ctr" indent="0" marL="0">
                        <a:buNone/>
                      </a:pPr>
                      <a:r>
                        <a:rPr lang="en-US" sz="1000" b="1" dirty="0">
                          <a:solidFill>
                            <a:srgbClr val="FFFFFF"/>
                          </a:solidFill>
                        </a:rPr>
                        <a:t>b (km/h)</a:t>
                      </a:r>
                      <a:endParaRPr lang="en-US" sz="1000" dirty="0"/>
                    </a:p>
                  </a:txBody>
                  <a:tcPr marL="91440" marR="91440" marT="45720" marB="45720">
                    <a:lnL w="10160" cap="flat" cmpd="sng" algn="ctr">
                      <a:solidFill>
                        <a:srgbClr val="D1D5DB"/>
                      </a:solidFill>
                      <a:prstDash val="solid"/>
                      <a:round/>
                      <a:headEnd type="none" w="med" len="med"/>
                      <a:tailEnd type="none" w="med" len="med"/>
                    </a:lnL>
                    <a:lnR w="10160" cap="flat" cmpd="sng" algn="ctr">
                      <a:solidFill>
                        <a:srgbClr val="D1D5DB"/>
                      </a:solidFill>
                      <a:prstDash val="solid"/>
                      <a:round/>
                      <a:headEnd type="none" w="med" len="med"/>
                      <a:tailEnd type="none" w="med" len="med"/>
                    </a:lnR>
                    <a:lnT w="10160" cap="flat" cmpd="sng" algn="ctr">
                      <a:solidFill>
                        <a:srgbClr val="D1D5DB"/>
                      </a:solidFill>
                      <a:prstDash val="solid"/>
                      <a:round/>
                      <a:headEnd type="none" w="med" len="med"/>
                      <a:tailEnd type="none" w="med" len="med"/>
                    </a:lnT>
                    <a:lnB w="10160" cap="flat" cmpd="sng" algn="ctr">
                      <a:solidFill>
                        <a:srgbClr val="D1D5DB"/>
                      </a:solidFill>
                      <a:prstDash val="solid"/>
                      <a:round/>
                      <a:headEnd type="none" w="med" len="med"/>
                      <a:tailEnd type="none" w="med" len="med"/>
                    </a:lnB>
                    <a:solidFill>
                      <a:srgbClr val="0D2B55"/>
                    </a:solidFill>
                  </a:tcPr>
                </a:tc>
                <a:tc>
                  <a:txBody>
                    <a:bodyPr/>
                    <a:lstStyle/>
                    <a:p>
                      <a:pPr algn="ctr" indent="0" marL="0">
                        <a:buNone/>
                      </a:pPr>
                      <a:r>
                        <a:rPr lang="en-US" sz="1000" b="1" dirty="0">
                          <a:solidFill>
                            <a:srgbClr val="FFFFFF"/>
                          </a:solidFill>
                        </a:rPr>
                        <a:t>x₁</a:t>
                      </a:r>
                      <a:endParaRPr lang="en-US" sz="1000" dirty="0"/>
                    </a:p>
                  </a:txBody>
                  <a:tcPr marL="91440" marR="91440" marT="45720" marB="45720">
                    <a:lnL w="10160" cap="flat" cmpd="sng" algn="ctr">
                      <a:solidFill>
                        <a:srgbClr val="D1D5DB"/>
                      </a:solidFill>
                      <a:prstDash val="solid"/>
                      <a:round/>
                      <a:headEnd type="none" w="med" len="med"/>
                      <a:tailEnd type="none" w="med" len="med"/>
                    </a:lnL>
                    <a:lnR w="10160" cap="flat" cmpd="sng" algn="ctr">
                      <a:solidFill>
                        <a:srgbClr val="D1D5DB"/>
                      </a:solidFill>
                      <a:prstDash val="solid"/>
                      <a:round/>
                      <a:headEnd type="none" w="med" len="med"/>
                      <a:tailEnd type="none" w="med" len="med"/>
                    </a:lnR>
                    <a:lnT w="10160" cap="flat" cmpd="sng" algn="ctr">
                      <a:solidFill>
                        <a:srgbClr val="D1D5DB"/>
                      </a:solidFill>
                      <a:prstDash val="solid"/>
                      <a:round/>
                      <a:headEnd type="none" w="med" len="med"/>
                      <a:tailEnd type="none" w="med" len="med"/>
                    </a:lnT>
                    <a:lnB w="10160" cap="flat" cmpd="sng" algn="ctr">
                      <a:solidFill>
                        <a:srgbClr val="D1D5DB"/>
                      </a:solidFill>
                      <a:prstDash val="solid"/>
                      <a:round/>
                      <a:headEnd type="none" w="med" len="med"/>
                      <a:tailEnd type="none" w="med" len="med"/>
                    </a:lnB>
                    <a:solidFill>
                      <a:srgbClr val="0D2B55"/>
                    </a:solidFill>
                  </a:tcPr>
                </a:tc>
                <a:tc>
                  <a:txBody>
                    <a:bodyPr/>
                    <a:lstStyle/>
                    <a:p>
                      <a:pPr algn="ctr" indent="0" marL="0">
                        <a:buNone/>
                      </a:pPr>
                      <a:r>
                        <a:rPr lang="en-US" sz="1000" b="1" dirty="0">
                          <a:solidFill>
                            <a:srgbClr val="FFFFFF"/>
                          </a:solidFill>
                        </a:rPr>
                        <a:t>x₂</a:t>
                      </a:r>
                      <a:endParaRPr lang="en-US" sz="1000" dirty="0"/>
                    </a:p>
                  </a:txBody>
                  <a:tcPr marL="91440" marR="91440" marT="45720" marB="45720">
                    <a:lnL w="10160" cap="flat" cmpd="sng" algn="ctr">
                      <a:solidFill>
                        <a:srgbClr val="D1D5DB"/>
                      </a:solidFill>
                      <a:prstDash val="solid"/>
                      <a:round/>
                      <a:headEnd type="none" w="med" len="med"/>
                      <a:tailEnd type="none" w="med" len="med"/>
                    </a:lnL>
                    <a:lnR w="10160" cap="flat" cmpd="sng" algn="ctr">
                      <a:solidFill>
                        <a:srgbClr val="D1D5DB"/>
                      </a:solidFill>
                      <a:prstDash val="solid"/>
                      <a:round/>
                      <a:headEnd type="none" w="med" len="med"/>
                      <a:tailEnd type="none" w="med" len="med"/>
                    </a:lnR>
                    <a:lnT w="10160" cap="flat" cmpd="sng" algn="ctr">
                      <a:solidFill>
                        <a:srgbClr val="D1D5DB"/>
                      </a:solidFill>
                      <a:prstDash val="solid"/>
                      <a:round/>
                      <a:headEnd type="none" w="med" len="med"/>
                      <a:tailEnd type="none" w="med" len="med"/>
                    </a:lnT>
                    <a:lnB w="10160" cap="flat" cmpd="sng" algn="ctr">
                      <a:solidFill>
                        <a:srgbClr val="D1D5DB"/>
                      </a:solidFill>
                      <a:prstDash val="solid"/>
                      <a:round/>
                      <a:headEnd type="none" w="med" len="med"/>
                      <a:tailEnd type="none" w="med" len="med"/>
                    </a:lnB>
                    <a:solidFill>
                      <a:srgbClr val="0D2B55"/>
                    </a:solidFill>
                  </a:tcPr>
                </a:tc>
                <a:tc>
                  <a:txBody>
                    <a:bodyPr/>
                    <a:lstStyle/>
                    <a:p>
                      <a:pPr algn="ctr" indent="0" marL="0">
                        <a:buNone/>
                      </a:pPr>
                      <a:r>
                        <a:rPr lang="en-US" sz="1000" b="1" dirty="0">
                          <a:solidFill>
                            <a:srgbClr val="FFFFFF"/>
                          </a:solidFill>
                        </a:rPr>
                        <a:t>f(x₁)</a:t>
                      </a:r>
                      <a:endParaRPr lang="en-US" sz="1000" dirty="0"/>
                    </a:p>
                  </a:txBody>
                  <a:tcPr marL="91440" marR="91440" marT="45720" marB="45720">
                    <a:lnL w="10160" cap="flat" cmpd="sng" algn="ctr">
                      <a:solidFill>
                        <a:srgbClr val="D1D5DB"/>
                      </a:solidFill>
                      <a:prstDash val="solid"/>
                      <a:round/>
                      <a:headEnd type="none" w="med" len="med"/>
                      <a:tailEnd type="none" w="med" len="med"/>
                    </a:lnL>
                    <a:lnR w="10160" cap="flat" cmpd="sng" algn="ctr">
                      <a:solidFill>
                        <a:srgbClr val="D1D5DB"/>
                      </a:solidFill>
                      <a:prstDash val="solid"/>
                      <a:round/>
                      <a:headEnd type="none" w="med" len="med"/>
                      <a:tailEnd type="none" w="med" len="med"/>
                    </a:lnR>
                    <a:lnT w="10160" cap="flat" cmpd="sng" algn="ctr">
                      <a:solidFill>
                        <a:srgbClr val="D1D5DB"/>
                      </a:solidFill>
                      <a:prstDash val="solid"/>
                      <a:round/>
                      <a:headEnd type="none" w="med" len="med"/>
                      <a:tailEnd type="none" w="med" len="med"/>
                    </a:lnT>
                    <a:lnB w="10160" cap="flat" cmpd="sng" algn="ctr">
                      <a:solidFill>
                        <a:srgbClr val="D1D5DB"/>
                      </a:solidFill>
                      <a:prstDash val="solid"/>
                      <a:round/>
                      <a:headEnd type="none" w="med" len="med"/>
                      <a:tailEnd type="none" w="med" len="med"/>
                    </a:lnB>
                    <a:solidFill>
                      <a:srgbClr val="0D2B55"/>
                    </a:solidFill>
                  </a:tcPr>
                </a:tc>
                <a:tc>
                  <a:txBody>
                    <a:bodyPr/>
                    <a:lstStyle/>
                    <a:p>
                      <a:pPr algn="ctr" indent="0" marL="0">
                        <a:buNone/>
                      </a:pPr>
                      <a:r>
                        <a:rPr lang="en-US" sz="1000" b="1" dirty="0">
                          <a:solidFill>
                            <a:srgbClr val="FFFFFF"/>
                          </a:solidFill>
                        </a:rPr>
                        <a:t>f(x₂)</a:t>
                      </a:r>
                      <a:endParaRPr lang="en-US" sz="1000" dirty="0"/>
                    </a:p>
                  </a:txBody>
                  <a:tcPr marL="91440" marR="91440" marT="45720" marB="45720">
                    <a:lnL w="10160" cap="flat" cmpd="sng" algn="ctr">
                      <a:solidFill>
                        <a:srgbClr val="D1D5DB"/>
                      </a:solidFill>
                      <a:prstDash val="solid"/>
                      <a:round/>
                      <a:headEnd type="none" w="med" len="med"/>
                      <a:tailEnd type="none" w="med" len="med"/>
                    </a:lnL>
                    <a:lnR w="10160" cap="flat" cmpd="sng" algn="ctr">
                      <a:solidFill>
                        <a:srgbClr val="D1D5DB"/>
                      </a:solidFill>
                      <a:prstDash val="solid"/>
                      <a:round/>
                      <a:headEnd type="none" w="med" len="med"/>
                      <a:tailEnd type="none" w="med" len="med"/>
                    </a:lnR>
                    <a:lnT w="10160" cap="flat" cmpd="sng" algn="ctr">
                      <a:solidFill>
                        <a:srgbClr val="D1D5DB"/>
                      </a:solidFill>
                      <a:prstDash val="solid"/>
                      <a:round/>
                      <a:headEnd type="none" w="med" len="med"/>
                      <a:tailEnd type="none" w="med" len="med"/>
                    </a:lnT>
                    <a:lnB w="10160" cap="flat" cmpd="sng" algn="ctr">
                      <a:solidFill>
                        <a:srgbClr val="D1D5DB"/>
                      </a:solidFill>
                      <a:prstDash val="solid"/>
                      <a:round/>
                      <a:headEnd type="none" w="med" len="med"/>
                      <a:tailEnd type="none" w="med" len="med"/>
                    </a:lnB>
                    <a:solidFill>
                      <a:srgbClr val="0D2B55"/>
                    </a:solidFill>
                  </a:tcPr>
                </a:tc>
                <a:tc>
                  <a:txBody>
                    <a:bodyPr/>
                    <a:lstStyle/>
                    <a:p>
                      <a:pPr algn="ctr" indent="0" marL="0">
                        <a:buNone/>
                      </a:pPr>
                      <a:r>
                        <a:rPr lang="en-US" sz="1000" b="1" dirty="0">
                          <a:solidFill>
                            <a:srgbClr val="FFFFFF"/>
                          </a:solidFill>
                        </a:rPr>
                        <a:t>Width</a:t>
                      </a:r>
                      <a:endParaRPr lang="en-US" sz="1000" dirty="0"/>
                    </a:p>
                  </a:txBody>
                  <a:tcPr marL="91440" marR="91440" marT="45720" marB="45720">
                    <a:lnL w="10160" cap="flat" cmpd="sng" algn="ctr">
                      <a:solidFill>
                        <a:srgbClr val="D1D5DB"/>
                      </a:solidFill>
                      <a:prstDash val="solid"/>
                      <a:round/>
                      <a:headEnd type="none" w="med" len="med"/>
                      <a:tailEnd type="none" w="med" len="med"/>
                    </a:lnL>
                    <a:lnR w="10160" cap="flat" cmpd="sng" algn="ctr">
                      <a:solidFill>
                        <a:srgbClr val="D1D5DB"/>
                      </a:solidFill>
                      <a:prstDash val="solid"/>
                      <a:round/>
                      <a:headEnd type="none" w="med" len="med"/>
                      <a:tailEnd type="none" w="med" len="med"/>
                    </a:lnR>
                    <a:lnT w="10160" cap="flat" cmpd="sng" algn="ctr">
                      <a:solidFill>
                        <a:srgbClr val="D1D5DB"/>
                      </a:solidFill>
                      <a:prstDash val="solid"/>
                      <a:round/>
                      <a:headEnd type="none" w="med" len="med"/>
                      <a:tailEnd type="none" w="med" len="med"/>
                    </a:lnT>
                    <a:lnB w="10160" cap="flat" cmpd="sng" algn="ctr">
                      <a:solidFill>
                        <a:srgbClr val="D1D5DB"/>
                      </a:solidFill>
                      <a:prstDash val="solid"/>
                      <a:round/>
                      <a:headEnd type="none" w="med" len="med"/>
                      <a:tailEnd type="none" w="med" len="med"/>
                    </a:lnB>
                    <a:solidFill>
                      <a:srgbClr val="0D2B55"/>
                    </a:solidFill>
                  </a:tcPr>
                </a:tc>
              </a:tr>
              <a:tr h="359229">
                <a:tc>
                  <a:txBody>
                    <a:bodyPr/>
                    <a:lstStyle/>
                    <a:p>
                      <a:pPr algn="ctr" indent="0" marL="0">
                        <a:buNone/>
                      </a:pPr>
                      <a:r>
                        <a:rPr lang="en-US" sz="1000" dirty="0">
                          <a:solidFill>
                            <a:srgbClr val="1E293B"/>
                          </a:solidFill>
                        </a:rPr>
                        <a:t>1</a:t>
                      </a:r>
                      <a:endParaRPr lang="en-US" sz="1000" dirty="0"/>
                    </a:p>
                  </a:txBody>
                  <a:tcPr marL="91440" marR="91440" marT="45720" marB="45720">
                    <a:lnL w="10160" cap="flat" cmpd="sng" algn="ctr">
                      <a:solidFill>
                        <a:srgbClr val="D1D5DB"/>
                      </a:solidFill>
                      <a:prstDash val="solid"/>
                      <a:round/>
                      <a:headEnd type="none" w="med" len="med"/>
                      <a:tailEnd type="none" w="med" len="med"/>
                    </a:lnL>
                    <a:lnR w="10160" cap="flat" cmpd="sng" algn="ctr">
                      <a:solidFill>
                        <a:srgbClr val="D1D5DB"/>
                      </a:solidFill>
                      <a:prstDash val="solid"/>
                      <a:round/>
                      <a:headEnd type="none" w="med" len="med"/>
                      <a:tailEnd type="none" w="med" len="med"/>
                    </a:lnR>
                    <a:lnT w="10160" cap="flat" cmpd="sng" algn="ctr">
                      <a:solidFill>
                        <a:srgbClr val="D1D5DB"/>
                      </a:solidFill>
                      <a:prstDash val="solid"/>
                      <a:round/>
                      <a:headEnd type="none" w="med" len="med"/>
                      <a:tailEnd type="none" w="med" len="med"/>
                    </a:lnT>
                    <a:lnB w="10160"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E293B"/>
                          </a:solidFill>
                        </a:rPr>
                        <a:t>40.00</a:t>
                      </a:r>
                      <a:endParaRPr lang="en-US" sz="1000" dirty="0"/>
                    </a:p>
                  </a:txBody>
                  <a:tcPr marL="91440" marR="91440" marT="45720" marB="45720">
                    <a:lnL w="10160" cap="flat" cmpd="sng" algn="ctr">
                      <a:solidFill>
                        <a:srgbClr val="D1D5DB"/>
                      </a:solidFill>
                      <a:prstDash val="solid"/>
                      <a:round/>
                      <a:headEnd type="none" w="med" len="med"/>
                      <a:tailEnd type="none" w="med" len="med"/>
                    </a:lnL>
                    <a:lnR w="10160" cap="flat" cmpd="sng" algn="ctr">
                      <a:solidFill>
                        <a:srgbClr val="D1D5DB"/>
                      </a:solidFill>
                      <a:prstDash val="solid"/>
                      <a:round/>
                      <a:headEnd type="none" w="med" len="med"/>
                      <a:tailEnd type="none" w="med" len="med"/>
                    </a:lnR>
                    <a:lnT w="10160" cap="flat" cmpd="sng" algn="ctr">
                      <a:solidFill>
                        <a:srgbClr val="D1D5DB"/>
                      </a:solidFill>
                      <a:prstDash val="solid"/>
                      <a:round/>
                      <a:headEnd type="none" w="med" len="med"/>
                      <a:tailEnd type="none" w="med" len="med"/>
                    </a:lnT>
                    <a:lnB w="10160"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E293B"/>
                          </a:solidFill>
                        </a:rPr>
                        <a:t>140.00</a:t>
                      </a:r>
                      <a:endParaRPr lang="en-US" sz="1000" dirty="0"/>
                    </a:p>
                  </a:txBody>
                  <a:tcPr marL="91440" marR="91440" marT="45720" marB="45720">
                    <a:lnL w="10160" cap="flat" cmpd="sng" algn="ctr">
                      <a:solidFill>
                        <a:srgbClr val="D1D5DB"/>
                      </a:solidFill>
                      <a:prstDash val="solid"/>
                      <a:round/>
                      <a:headEnd type="none" w="med" len="med"/>
                      <a:tailEnd type="none" w="med" len="med"/>
                    </a:lnL>
                    <a:lnR w="10160" cap="flat" cmpd="sng" algn="ctr">
                      <a:solidFill>
                        <a:srgbClr val="D1D5DB"/>
                      </a:solidFill>
                      <a:prstDash val="solid"/>
                      <a:round/>
                      <a:headEnd type="none" w="med" len="med"/>
                      <a:tailEnd type="none" w="med" len="med"/>
                    </a:lnR>
                    <a:lnT w="10160" cap="flat" cmpd="sng" algn="ctr">
                      <a:solidFill>
                        <a:srgbClr val="D1D5DB"/>
                      </a:solidFill>
                      <a:prstDash val="solid"/>
                      <a:round/>
                      <a:headEnd type="none" w="med" len="med"/>
                      <a:tailEnd type="none" w="med" len="med"/>
                    </a:lnT>
                    <a:lnB w="10160"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E293B"/>
                          </a:solidFill>
                        </a:rPr>
                        <a:t>78.20</a:t>
                      </a:r>
                      <a:endParaRPr lang="en-US" sz="1000" dirty="0"/>
                    </a:p>
                  </a:txBody>
                  <a:tcPr marL="91440" marR="91440" marT="45720" marB="45720">
                    <a:lnL w="10160" cap="flat" cmpd="sng" algn="ctr">
                      <a:solidFill>
                        <a:srgbClr val="D1D5DB"/>
                      </a:solidFill>
                      <a:prstDash val="solid"/>
                      <a:round/>
                      <a:headEnd type="none" w="med" len="med"/>
                      <a:tailEnd type="none" w="med" len="med"/>
                    </a:lnL>
                    <a:lnR w="10160" cap="flat" cmpd="sng" algn="ctr">
                      <a:solidFill>
                        <a:srgbClr val="D1D5DB"/>
                      </a:solidFill>
                      <a:prstDash val="solid"/>
                      <a:round/>
                      <a:headEnd type="none" w="med" len="med"/>
                      <a:tailEnd type="none" w="med" len="med"/>
                    </a:lnR>
                    <a:lnT w="10160" cap="flat" cmpd="sng" algn="ctr">
                      <a:solidFill>
                        <a:srgbClr val="D1D5DB"/>
                      </a:solidFill>
                      <a:prstDash val="solid"/>
                      <a:round/>
                      <a:headEnd type="none" w="med" len="med"/>
                      <a:tailEnd type="none" w="med" len="med"/>
                    </a:lnT>
                    <a:lnB w="10160"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E293B"/>
                          </a:solidFill>
                        </a:rPr>
                        <a:t>101.80</a:t>
                      </a:r>
                      <a:endParaRPr lang="en-US" sz="1000" dirty="0"/>
                    </a:p>
                  </a:txBody>
                  <a:tcPr marL="91440" marR="91440" marT="45720" marB="45720">
                    <a:lnL w="10160" cap="flat" cmpd="sng" algn="ctr">
                      <a:solidFill>
                        <a:srgbClr val="D1D5DB"/>
                      </a:solidFill>
                      <a:prstDash val="solid"/>
                      <a:round/>
                      <a:headEnd type="none" w="med" len="med"/>
                      <a:tailEnd type="none" w="med" len="med"/>
                    </a:lnL>
                    <a:lnR w="10160" cap="flat" cmpd="sng" algn="ctr">
                      <a:solidFill>
                        <a:srgbClr val="D1D5DB"/>
                      </a:solidFill>
                      <a:prstDash val="solid"/>
                      <a:round/>
                      <a:headEnd type="none" w="med" len="med"/>
                      <a:tailEnd type="none" w="med" len="med"/>
                    </a:lnR>
                    <a:lnT w="10160" cap="flat" cmpd="sng" algn="ctr">
                      <a:solidFill>
                        <a:srgbClr val="D1D5DB"/>
                      </a:solidFill>
                      <a:prstDash val="solid"/>
                      <a:round/>
                      <a:headEnd type="none" w="med" len="med"/>
                      <a:tailEnd type="none" w="med" len="med"/>
                    </a:lnT>
                    <a:lnB w="10160"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E293B"/>
                          </a:solidFill>
                        </a:rPr>
                        <a:t>6.016</a:t>
                      </a:r>
                      <a:endParaRPr lang="en-US" sz="1000" dirty="0"/>
                    </a:p>
                  </a:txBody>
                  <a:tcPr marL="91440" marR="91440" marT="45720" marB="45720">
                    <a:lnL w="10160" cap="flat" cmpd="sng" algn="ctr">
                      <a:solidFill>
                        <a:srgbClr val="D1D5DB"/>
                      </a:solidFill>
                      <a:prstDash val="solid"/>
                      <a:round/>
                      <a:headEnd type="none" w="med" len="med"/>
                      <a:tailEnd type="none" w="med" len="med"/>
                    </a:lnL>
                    <a:lnR w="10160" cap="flat" cmpd="sng" algn="ctr">
                      <a:solidFill>
                        <a:srgbClr val="D1D5DB"/>
                      </a:solidFill>
                      <a:prstDash val="solid"/>
                      <a:round/>
                      <a:headEnd type="none" w="med" len="med"/>
                      <a:tailEnd type="none" w="med" len="med"/>
                    </a:lnR>
                    <a:lnT w="10160" cap="flat" cmpd="sng" algn="ctr">
                      <a:solidFill>
                        <a:srgbClr val="D1D5DB"/>
                      </a:solidFill>
                      <a:prstDash val="solid"/>
                      <a:round/>
                      <a:headEnd type="none" w="med" len="med"/>
                      <a:tailEnd type="none" w="med" len="med"/>
                    </a:lnT>
                    <a:lnB w="10160"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E293B"/>
                          </a:solidFill>
                        </a:rPr>
                        <a:t>8.376</a:t>
                      </a:r>
                      <a:endParaRPr lang="en-US" sz="1000" dirty="0"/>
                    </a:p>
                  </a:txBody>
                  <a:tcPr marL="91440" marR="91440" marT="45720" marB="45720">
                    <a:lnL w="10160" cap="flat" cmpd="sng" algn="ctr">
                      <a:solidFill>
                        <a:srgbClr val="D1D5DB"/>
                      </a:solidFill>
                      <a:prstDash val="solid"/>
                      <a:round/>
                      <a:headEnd type="none" w="med" len="med"/>
                      <a:tailEnd type="none" w="med" len="med"/>
                    </a:lnL>
                    <a:lnR w="10160" cap="flat" cmpd="sng" algn="ctr">
                      <a:solidFill>
                        <a:srgbClr val="D1D5DB"/>
                      </a:solidFill>
                      <a:prstDash val="solid"/>
                      <a:round/>
                      <a:headEnd type="none" w="med" len="med"/>
                      <a:tailEnd type="none" w="med" len="med"/>
                    </a:lnR>
                    <a:lnT w="10160" cap="flat" cmpd="sng" algn="ctr">
                      <a:solidFill>
                        <a:srgbClr val="D1D5DB"/>
                      </a:solidFill>
                      <a:prstDash val="solid"/>
                      <a:round/>
                      <a:headEnd type="none" w="med" len="med"/>
                      <a:tailEnd type="none" w="med" len="med"/>
                    </a:lnT>
                    <a:lnB w="10160"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E293B"/>
                          </a:solidFill>
                        </a:rPr>
                        <a:t>61.8</a:t>
                      </a:r>
                      <a:endParaRPr lang="en-US" sz="1000" dirty="0"/>
                    </a:p>
                  </a:txBody>
                  <a:tcPr marL="91440" marR="91440" marT="45720" marB="45720">
                    <a:lnL w="10160" cap="flat" cmpd="sng" algn="ctr">
                      <a:solidFill>
                        <a:srgbClr val="D1D5DB"/>
                      </a:solidFill>
                      <a:prstDash val="solid"/>
                      <a:round/>
                      <a:headEnd type="none" w="med" len="med"/>
                      <a:tailEnd type="none" w="med" len="med"/>
                    </a:lnL>
                    <a:lnR w="10160" cap="flat" cmpd="sng" algn="ctr">
                      <a:solidFill>
                        <a:srgbClr val="D1D5DB"/>
                      </a:solidFill>
                      <a:prstDash val="solid"/>
                      <a:round/>
                      <a:headEnd type="none" w="med" len="med"/>
                      <a:tailEnd type="none" w="med" len="med"/>
                    </a:lnR>
                    <a:lnT w="10160" cap="flat" cmpd="sng" algn="ctr">
                      <a:solidFill>
                        <a:srgbClr val="D1D5DB"/>
                      </a:solidFill>
                      <a:prstDash val="solid"/>
                      <a:round/>
                      <a:headEnd type="none" w="med" len="med"/>
                      <a:tailEnd type="none" w="med" len="med"/>
                    </a:lnT>
                    <a:lnB w="10160" cap="flat" cmpd="sng" algn="ctr">
                      <a:solidFill>
                        <a:srgbClr val="D1D5DB"/>
                      </a:solidFill>
                      <a:prstDash val="solid"/>
                      <a:round/>
                      <a:headEnd type="none" w="med" len="med"/>
                      <a:tailEnd type="none" w="med" len="med"/>
                    </a:lnB>
                    <a:solidFill>
                      <a:srgbClr val="FFFFFF"/>
                    </a:solidFill>
                  </a:tcPr>
                </a:tc>
              </a:tr>
              <a:tr h="359229">
                <a:tc>
                  <a:txBody>
                    <a:bodyPr/>
                    <a:lstStyle/>
                    <a:p>
                      <a:pPr algn="ctr" indent="0" marL="0">
                        <a:buNone/>
                      </a:pPr>
                      <a:r>
                        <a:rPr lang="en-US" sz="1000" dirty="0">
                          <a:solidFill>
                            <a:srgbClr val="1E293B"/>
                          </a:solidFill>
                        </a:rPr>
                        <a:t>2</a:t>
                      </a:r>
                      <a:endParaRPr lang="en-US" sz="1000" dirty="0"/>
                    </a:p>
                  </a:txBody>
                  <a:tcPr marL="91440" marR="91440" marT="45720" marB="45720">
                    <a:lnL w="10160" cap="flat" cmpd="sng" algn="ctr">
                      <a:solidFill>
                        <a:srgbClr val="D1D5DB"/>
                      </a:solidFill>
                      <a:prstDash val="solid"/>
                      <a:round/>
                      <a:headEnd type="none" w="med" len="med"/>
                      <a:tailEnd type="none" w="med" len="med"/>
                    </a:lnL>
                    <a:lnR w="10160" cap="flat" cmpd="sng" algn="ctr">
                      <a:solidFill>
                        <a:srgbClr val="D1D5DB"/>
                      </a:solidFill>
                      <a:prstDash val="solid"/>
                      <a:round/>
                      <a:headEnd type="none" w="med" len="med"/>
                      <a:tailEnd type="none" w="med" len="med"/>
                    </a:lnR>
                    <a:lnT w="10160" cap="flat" cmpd="sng" algn="ctr">
                      <a:solidFill>
                        <a:srgbClr val="D1D5DB"/>
                      </a:solidFill>
                      <a:prstDash val="solid"/>
                      <a:round/>
                      <a:headEnd type="none" w="med" len="med"/>
                      <a:tailEnd type="none" w="med" len="med"/>
                    </a:lnT>
                    <a:lnB w="10160" cap="flat" cmpd="sng" algn="ctr">
                      <a:solidFill>
                        <a:srgbClr val="D1D5DB"/>
                      </a:solidFill>
                      <a:prstDash val="solid"/>
                      <a:round/>
                      <a:headEnd type="none" w="med" len="med"/>
                      <a:tailEnd type="none" w="med" len="med"/>
                    </a:lnB>
                    <a:solidFill>
                      <a:srgbClr val="F0F4F8"/>
                    </a:solidFill>
                  </a:tcPr>
                </a:tc>
                <a:tc>
                  <a:txBody>
                    <a:bodyPr/>
                    <a:lstStyle/>
                    <a:p>
                      <a:pPr algn="ctr" indent="0" marL="0">
                        <a:buNone/>
                      </a:pPr>
                      <a:r>
                        <a:rPr lang="en-US" sz="1000" dirty="0">
                          <a:solidFill>
                            <a:srgbClr val="1E293B"/>
                          </a:solidFill>
                        </a:rPr>
                        <a:t>40.00</a:t>
                      </a:r>
                      <a:endParaRPr lang="en-US" sz="1000" dirty="0"/>
                    </a:p>
                  </a:txBody>
                  <a:tcPr marL="91440" marR="91440" marT="45720" marB="45720">
                    <a:lnL w="10160" cap="flat" cmpd="sng" algn="ctr">
                      <a:solidFill>
                        <a:srgbClr val="D1D5DB"/>
                      </a:solidFill>
                      <a:prstDash val="solid"/>
                      <a:round/>
                      <a:headEnd type="none" w="med" len="med"/>
                      <a:tailEnd type="none" w="med" len="med"/>
                    </a:lnL>
                    <a:lnR w="10160" cap="flat" cmpd="sng" algn="ctr">
                      <a:solidFill>
                        <a:srgbClr val="D1D5DB"/>
                      </a:solidFill>
                      <a:prstDash val="solid"/>
                      <a:round/>
                      <a:headEnd type="none" w="med" len="med"/>
                      <a:tailEnd type="none" w="med" len="med"/>
                    </a:lnR>
                    <a:lnT w="10160" cap="flat" cmpd="sng" algn="ctr">
                      <a:solidFill>
                        <a:srgbClr val="D1D5DB"/>
                      </a:solidFill>
                      <a:prstDash val="solid"/>
                      <a:round/>
                      <a:headEnd type="none" w="med" len="med"/>
                      <a:tailEnd type="none" w="med" len="med"/>
                    </a:lnT>
                    <a:lnB w="10160" cap="flat" cmpd="sng" algn="ctr">
                      <a:solidFill>
                        <a:srgbClr val="D1D5DB"/>
                      </a:solidFill>
                      <a:prstDash val="solid"/>
                      <a:round/>
                      <a:headEnd type="none" w="med" len="med"/>
                      <a:tailEnd type="none" w="med" len="med"/>
                    </a:lnB>
                    <a:solidFill>
                      <a:srgbClr val="F0F4F8"/>
                    </a:solidFill>
                  </a:tcPr>
                </a:tc>
                <a:tc>
                  <a:txBody>
                    <a:bodyPr/>
                    <a:lstStyle/>
                    <a:p>
                      <a:pPr algn="ctr" indent="0" marL="0">
                        <a:buNone/>
                      </a:pPr>
                      <a:r>
                        <a:rPr lang="en-US" sz="1000" dirty="0">
                          <a:solidFill>
                            <a:srgbClr val="1E293B"/>
                          </a:solidFill>
                        </a:rPr>
                        <a:t>101.80</a:t>
                      </a:r>
                      <a:endParaRPr lang="en-US" sz="1000" dirty="0"/>
                    </a:p>
                  </a:txBody>
                  <a:tcPr marL="91440" marR="91440" marT="45720" marB="45720">
                    <a:lnL w="10160" cap="flat" cmpd="sng" algn="ctr">
                      <a:solidFill>
                        <a:srgbClr val="D1D5DB"/>
                      </a:solidFill>
                      <a:prstDash val="solid"/>
                      <a:round/>
                      <a:headEnd type="none" w="med" len="med"/>
                      <a:tailEnd type="none" w="med" len="med"/>
                    </a:lnL>
                    <a:lnR w="10160" cap="flat" cmpd="sng" algn="ctr">
                      <a:solidFill>
                        <a:srgbClr val="D1D5DB"/>
                      </a:solidFill>
                      <a:prstDash val="solid"/>
                      <a:round/>
                      <a:headEnd type="none" w="med" len="med"/>
                      <a:tailEnd type="none" w="med" len="med"/>
                    </a:lnR>
                    <a:lnT w="10160" cap="flat" cmpd="sng" algn="ctr">
                      <a:solidFill>
                        <a:srgbClr val="D1D5DB"/>
                      </a:solidFill>
                      <a:prstDash val="solid"/>
                      <a:round/>
                      <a:headEnd type="none" w="med" len="med"/>
                      <a:tailEnd type="none" w="med" len="med"/>
                    </a:lnT>
                    <a:lnB w="10160" cap="flat" cmpd="sng" algn="ctr">
                      <a:solidFill>
                        <a:srgbClr val="D1D5DB"/>
                      </a:solidFill>
                      <a:prstDash val="solid"/>
                      <a:round/>
                      <a:headEnd type="none" w="med" len="med"/>
                      <a:tailEnd type="none" w="med" len="med"/>
                    </a:lnB>
                    <a:solidFill>
                      <a:srgbClr val="F0F4F8"/>
                    </a:solidFill>
                  </a:tcPr>
                </a:tc>
                <a:tc>
                  <a:txBody>
                    <a:bodyPr/>
                    <a:lstStyle/>
                    <a:p>
                      <a:pPr algn="ctr" indent="0" marL="0">
                        <a:buNone/>
                      </a:pPr>
                      <a:r>
                        <a:rPr lang="en-US" sz="1000" dirty="0">
                          <a:solidFill>
                            <a:srgbClr val="1E293B"/>
                          </a:solidFill>
                        </a:rPr>
                        <a:t>63.61</a:t>
                      </a:r>
                      <a:endParaRPr lang="en-US" sz="1000" dirty="0"/>
                    </a:p>
                  </a:txBody>
                  <a:tcPr marL="91440" marR="91440" marT="45720" marB="45720">
                    <a:lnL w="10160" cap="flat" cmpd="sng" algn="ctr">
                      <a:solidFill>
                        <a:srgbClr val="D1D5DB"/>
                      </a:solidFill>
                      <a:prstDash val="solid"/>
                      <a:round/>
                      <a:headEnd type="none" w="med" len="med"/>
                      <a:tailEnd type="none" w="med" len="med"/>
                    </a:lnL>
                    <a:lnR w="10160" cap="flat" cmpd="sng" algn="ctr">
                      <a:solidFill>
                        <a:srgbClr val="D1D5DB"/>
                      </a:solidFill>
                      <a:prstDash val="solid"/>
                      <a:round/>
                      <a:headEnd type="none" w="med" len="med"/>
                      <a:tailEnd type="none" w="med" len="med"/>
                    </a:lnR>
                    <a:lnT w="10160" cap="flat" cmpd="sng" algn="ctr">
                      <a:solidFill>
                        <a:srgbClr val="D1D5DB"/>
                      </a:solidFill>
                      <a:prstDash val="solid"/>
                      <a:round/>
                      <a:headEnd type="none" w="med" len="med"/>
                      <a:tailEnd type="none" w="med" len="med"/>
                    </a:lnT>
                    <a:lnB w="10160" cap="flat" cmpd="sng" algn="ctr">
                      <a:solidFill>
                        <a:srgbClr val="D1D5DB"/>
                      </a:solidFill>
                      <a:prstDash val="solid"/>
                      <a:round/>
                      <a:headEnd type="none" w="med" len="med"/>
                      <a:tailEnd type="none" w="med" len="med"/>
                    </a:lnB>
                    <a:solidFill>
                      <a:srgbClr val="F0F4F8"/>
                    </a:solidFill>
                  </a:tcPr>
                </a:tc>
                <a:tc>
                  <a:txBody>
                    <a:bodyPr/>
                    <a:lstStyle/>
                    <a:p>
                      <a:pPr algn="ctr" indent="0" marL="0">
                        <a:buNone/>
                      </a:pPr>
                      <a:r>
                        <a:rPr lang="en-US" sz="1000" dirty="0">
                          <a:solidFill>
                            <a:srgbClr val="1E293B"/>
                          </a:solidFill>
                        </a:rPr>
                        <a:t>78.20</a:t>
                      </a:r>
                      <a:endParaRPr lang="en-US" sz="1000" dirty="0"/>
                    </a:p>
                  </a:txBody>
                  <a:tcPr marL="91440" marR="91440" marT="45720" marB="45720">
                    <a:lnL w="10160" cap="flat" cmpd="sng" algn="ctr">
                      <a:solidFill>
                        <a:srgbClr val="D1D5DB"/>
                      </a:solidFill>
                      <a:prstDash val="solid"/>
                      <a:round/>
                      <a:headEnd type="none" w="med" len="med"/>
                      <a:tailEnd type="none" w="med" len="med"/>
                    </a:lnL>
                    <a:lnR w="10160" cap="flat" cmpd="sng" algn="ctr">
                      <a:solidFill>
                        <a:srgbClr val="D1D5DB"/>
                      </a:solidFill>
                      <a:prstDash val="solid"/>
                      <a:round/>
                      <a:headEnd type="none" w="med" len="med"/>
                      <a:tailEnd type="none" w="med" len="med"/>
                    </a:lnR>
                    <a:lnT w="10160" cap="flat" cmpd="sng" algn="ctr">
                      <a:solidFill>
                        <a:srgbClr val="D1D5DB"/>
                      </a:solidFill>
                      <a:prstDash val="solid"/>
                      <a:round/>
                      <a:headEnd type="none" w="med" len="med"/>
                      <a:tailEnd type="none" w="med" len="med"/>
                    </a:lnT>
                    <a:lnB w="10160" cap="flat" cmpd="sng" algn="ctr">
                      <a:solidFill>
                        <a:srgbClr val="D1D5DB"/>
                      </a:solidFill>
                      <a:prstDash val="solid"/>
                      <a:round/>
                      <a:headEnd type="none" w="med" len="med"/>
                      <a:tailEnd type="none" w="med" len="med"/>
                    </a:lnB>
                    <a:solidFill>
                      <a:srgbClr val="F0F4F8"/>
                    </a:solidFill>
                  </a:tcPr>
                </a:tc>
                <a:tc>
                  <a:txBody>
                    <a:bodyPr/>
                    <a:lstStyle/>
                    <a:p>
                      <a:pPr algn="ctr" indent="0" marL="0">
                        <a:buNone/>
                      </a:pPr>
                      <a:r>
                        <a:rPr lang="en-US" sz="1000" dirty="0">
                          <a:solidFill>
                            <a:srgbClr val="1E293B"/>
                          </a:solidFill>
                        </a:rPr>
                        <a:t>7.343</a:t>
                      </a:r>
                      <a:endParaRPr lang="en-US" sz="1000" dirty="0"/>
                    </a:p>
                  </a:txBody>
                  <a:tcPr marL="91440" marR="91440" marT="45720" marB="45720">
                    <a:lnL w="10160" cap="flat" cmpd="sng" algn="ctr">
                      <a:solidFill>
                        <a:srgbClr val="D1D5DB"/>
                      </a:solidFill>
                      <a:prstDash val="solid"/>
                      <a:round/>
                      <a:headEnd type="none" w="med" len="med"/>
                      <a:tailEnd type="none" w="med" len="med"/>
                    </a:lnL>
                    <a:lnR w="10160" cap="flat" cmpd="sng" algn="ctr">
                      <a:solidFill>
                        <a:srgbClr val="D1D5DB"/>
                      </a:solidFill>
                      <a:prstDash val="solid"/>
                      <a:round/>
                      <a:headEnd type="none" w="med" len="med"/>
                      <a:tailEnd type="none" w="med" len="med"/>
                    </a:lnR>
                    <a:lnT w="10160" cap="flat" cmpd="sng" algn="ctr">
                      <a:solidFill>
                        <a:srgbClr val="D1D5DB"/>
                      </a:solidFill>
                      <a:prstDash val="solid"/>
                      <a:round/>
                      <a:headEnd type="none" w="med" len="med"/>
                      <a:tailEnd type="none" w="med" len="med"/>
                    </a:lnT>
                    <a:lnB w="10160" cap="flat" cmpd="sng" algn="ctr">
                      <a:solidFill>
                        <a:srgbClr val="D1D5DB"/>
                      </a:solidFill>
                      <a:prstDash val="solid"/>
                      <a:round/>
                      <a:headEnd type="none" w="med" len="med"/>
                      <a:tailEnd type="none" w="med" len="med"/>
                    </a:lnB>
                    <a:solidFill>
                      <a:srgbClr val="F0F4F8"/>
                    </a:solidFill>
                  </a:tcPr>
                </a:tc>
                <a:tc>
                  <a:txBody>
                    <a:bodyPr/>
                    <a:lstStyle/>
                    <a:p>
                      <a:pPr algn="ctr" indent="0" marL="0">
                        <a:buNone/>
                      </a:pPr>
                      <a:r>
                        <a:rPr lang="en-US" sz="1000" b="1" dirty="0">
                          <a:solidFill>
                            <a:srgbClr val="1E293B"/>
                          </a:solidFill>
                        </a:rPr>
                        <a:t>6.016</a:t>
                      </a:r>
                      <a:endParaRPr lang="en-US" sz="1000" dirty="0"/>
                    </a:p>
                  </a:txBody>
                  <a:tcPr marL="91440" marR="91440" marT="45720" marB="45720">
                    <a:lnL w="10160" cap="flat" cmpd="sng" algn="ctr">
                      <a:solidFill>
                        <a:srgbClr val="D1D5DB"/>
                      </a:solidFill>
                      <a:prstDash val="solid"/>
                      <a:round/>
                      <a:headEnd type="none" w="med" len="med"/>
                      <a:tailEnd type="none" w="med" len="med"/>
                    </a:lnL>
                    <a:lnR w="10160" cap="flat" cmpd="sng" algn="ctr">
                      <a:solidFill>
                        <a:srgbClr val="D1D5DB"/>
                      </a:solidFill>
                      <a:prstDash val="solid"/>
                      <a:round/>
                      <a:headEnd type="none" w="med" len="med"/>
                      <a:tailEnd type="none" w="med" len="med"/>
                    </a:lnR>
                    <a:lnT w="10160" cap="flat" cmpd="sng" algn="ctr">
                      <a:solidFill>
                        <a:srgbClr val="D1D5DB"/>
                      </a:solidFill>
                      <a:prstDash val="solid"/>
                      <a:round/>
                      <a:headEnd type="none" w="med" len="med"/>
                      <a:tailEnd type="none" w="med" len="med"/>
                    </a:lnT>
                    <a:lnB w="10160" cap="flat" cmpd="sng" algn="ctr">
                      <a:solidFill>
                        <a:srgbClr val="D1D5DB"/>
                      </a:solidFill>
                      <a:prstDash val="solid"/>
                      <a:round/>
                      <a:headEnd type="none" w="med" len="med"/>
                      <a:tailEnd type="none" w="med" len="med"/>
                    </a:lnB>
                    <a:solidFill>
                      <a:srgbClr val="F0F4F8"/>
                    </a:solidFill>
                  </a:tcPr>
                </a:tc>
                <a:tc>
                  <a:txBody>
                    <a:bodyPr/>
                    <a:lstStyle/>
                    <a:p>
                      <a:pPr algn="ctr" indent="0" marL="0">
                        <a:buNone/>
                      </a:pPr>
                      <a:r>
                        <a:rPr lang="en-US" sz="1000" dirty="0">
                          <a:solidFill>
                            <a:srgbClr val="1E293B"/>
                          </a:solidFill>
                        </a:rPr>
                        <a:t>38.2</a:t>
                      </a:r>
                      <a:endParaRPr lang="en-US" sz="1000" dirty="0"/>
                    </a:p>
                  </a:txBody>
                  <a:tcPr marL="91440" marR="91440" marT="45720" marB="45720">
                    <a:lnL w="10160" cap="flat" cmpd="sng" algn="ctr">
                      <a:solidFill>
                        <a:srgbClr val="D1D5DB"/>
                      </a:solidFill>
                      <a:prstDash val="solid"/>
                      <a:round/>
                      <a:headEnd type="none" w="med" len="med"/>
                      <a:tailEnd type="none" w="med" len="med"/>
                    </a:lnL>
                    <a:lnR w="10160" cap="flat" cmpd="sng" algn="ctr">
                      <a:solidFill>
                        <a:srgbClr val="D1D5DB"/>
                      </a:solidFill>
                      <a:prstDash val="solid"/>
                      <a:round/>
                      <a:headEnd type="none" w="med" len="med"/>
                      <a:tailEnd type="none" w="med" len="med"/>
                    </a:lnR>
                    <a:lnT w="10160" cap="flat" cmpd="sng" algn="ctr">
                      <a:solidFill>
                        <a:srgbClr val="D1D5DB"/>
                      </a:solidFill>
                      <a:prstDash val="solid"/>
                      <a:round/>
                      <a:headEnd type="none" w="med" len="med"/>
                      <a:tailEnd type="none" w="med" len="med"/>
                    </a:lnT>
                    <a:lnB w="10160" cap="flat" cmpd="sng" algn="ctr">
                      <a:solidFill>
                        <a:srgbClr val="D1D5DB"/>
                      </a:solidFill>
                      <a:prstDash val="solid"/>
                      <a:round/>
                      <a:headEnd type="none" w="med" len="med"/>
                      <a:tailEnd type="none" w="med" len="med"/>
                    </a:lnB>
                    <a:solidFill>
                      <a:srgbClr val="F0F4F8"/>
                    </a:solidFill>
                  </a:tcPr>
                </a:tc>
              </a:tr>
              <a:tr h="359229">
                <a:tc>
                  <a:txBody>
                    <a:bodyPr/>
                    <a:lstStyle/>
                    <a:p>
                      <a:pPr algn="ctr" indent="0" marL="0">
                        <a:buNone/>
                      </a:pPr>
                      <a:r>
                        <a:rPr lang="en-US" sz="1000" dirty="0">
                          <a:solidFill>
                            <a:srgbClr val="1E293B"/>
                          </a:solidFill>
                        </a:rPr>
                        <a:t>3</a:t>
                      </a:r>
                      <a:endParaRPr lang="en-US" sz="1000" dirty="0"/>
                    </a:p>
                  </a:txBody>
                  <a:tcPr marL="91440" marR="91440" marT="45720" marB="45720">
                    <a:lnL w="10160" cap="flat" cmpd="sng" algn="ctr">
                      <a:solidFill>
                        <a:srgbClr val="D1D5DB"/>
                      </a:solidFill>
                      <a:prstDash val="solid"/>
                      <a:round/>
                      <a:headEnd type="none" w="med" len="med"/>
                      <a:tailEnd type="none" w="med" len="med"/>
                    </a:lnL>
                    <a:lnR w="10160" cap="flat" cmpd="sng" algn="ctr">
                      <a:solidFill>
                        <a:srgbClr val="D1D5DB"/>
                      </a:solidFill>
                      <a:prstDash val="solid"/>
                      <a:round/>
                      <a:headEnd type="none" w="med" len="med"/>
                      <a:tailEnd type="none" w="med" len="med"/>
                    </a:lnR>
                    <a:lnT w="10160" cap="flat" cmpd="sng" algn="ctr">
                      <a:solidFill>
                        <a:srgbClr val="D1D5DB"/>
                      </a:solidFill>
                      <a:prstDash val="solid"/>
                      <a:round/>
                      <a:headEnd type="none" w="med" len="med"/>
                      <a:tailEnd type="none" w="med" len="med"/>
                    </a:lnT>
                    <a:lnB w="10160"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E293B"/>
                          </a:solidFill>
                        </a:rPr>
                        <a:t>63.61</a:t>
                      </a:r>
                      <a:endParaRPr lang="en-US" sz="1000" dirty="0"/>
                    </a:p>
                  </a:txBody>
                  <a:tcPr marL="91440" marR="91440" marT="45720" marB="45720">
                    <a:lnL w="10160" cap="flat" cmpd="sng" algn="ctr">
                      <a:solidFill>
                        <a:srgbClr val="D1D5DB"/>
                      </a:solidFill>
                      <a:prstDash val="solid"/>
                      <a:round/>
                      <a:headEnd type="none" w="med" len="med"/>
                      <a:tailEnd type="none" w="med" len="med"/>
                    </a:lnL>
                    <a:lnR w="10160" cap="flat" cmpd="sng" algn="ctr">
                      <a:solidFill>
                        <a:srgbClr val="D1D5DB"/>
                      </a:solidFill>
                      <a:prstDash val="solid"/>
                      <a:round/>
                      <a:headEnd type="none" w="med" len="med"/>
                      <a:tailEnd type="none" w="med" len="med"/>
                    </a:lnR>
                    <a:lnT w="10160" cap="flat" cmpd="sng" algn="ctr">
                      <a:solidFill>
                        <a:srgbClr val="D1D5DB"/>
                      </a:solidFill>
                      <a:prstDash val="solid"/>
                      <a:round/>
                      <a:headEnd type="none" w="med" len="med"/>
                      <a:tailEnd type="none" w="med" len="med"/>
                    </a:lnT>
                    <a:lnB w="10160"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E293B"/>
                          </a:solidFill>
                        </a:rPr>
                        <a:t>101.80</a:t>
                      </a:r>
                      <a:endParaRPr lang="en-US" sz="1000" dirty="0"/>
                    </a:p>
                  </a:txBody>
                  <a:tcPr marL="91440" marR="91440" marT="45720" marB="45720">
                    <a:lnL w="10160" cap="flat" cmpd="sng" algn="ctr">
                      <a:solidFill>
                        <a:srgbClr val="D1D5DB"/>
                      </a:solidFill>
                      <a:prstDash val="solid"/>
                      <a:round/>
                      <a:headEnd type="none" w="med" len="med"/>
                      <a:tailEnd type="none" w="med" len="med"/>
                    </a:lnL>
                    <a:lnR w="10160" cap="flat" cmpd="sng" algn="ctr">
                      <a:solidFill>
                        <a:srgbClr val="D1D5DB"/>
                      </a:solidFill>
                      <a:prstDash val="solid"/>
                      <a:round/>
                      <a:headEnd type="none" w="med" len="med"/>
                      <a:tailEnd type="none" w="med" len="med"/>
                    </a:lnR>
                    <a:lnT w="10160" cap="flat" cmpd="sng" algn="ctr">
                      <a:solidFill>
                        <a:srgbClr val="D1D5DB"/>
                      </a:solidFill>
                      <a:prstDash val="solid"/>
                      <a:round/>
                      <a:headEnd type="none" w="med" len="med"/>
                      <a:tailEnd type="none" w="med" len="med"/>
                    </a:lnT>
                    <a:lnB w="10160"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E293B"/>
                          </a:solidFill>
                        </a:rPr>
                        <a:t>78.20</a:t>
                      </a:r>
                      <a:endParaRPr lang="en-US" sz="1000" dirty="0"/>
                    </a:p>
                  </a:txBody>
                  <a:tcPr marL="91440" marR="91440" marT="45720" marB="45720">
                    <a:lnL w="10160" cap="flat" cmpd="sng" algn="ctr">
                      <a:solidFill>
                        <a:srgbClr val="D1D5DB"/>
                      </a:solidFill>
                      <a:prstDash val="solid"/>
                      <a:round/>
                      <a:headEnd type="none" w="med" len="med"/>
                      <a:tailEnd type="none" w="med" len="med"/>
                    </a:lnL>
                    <a:lnR w="10160" cap="flat" cmpd="sng" algn="ctr">
                      <a:solidFill>
                        <a:srgbClr val="D1D5DB"/>
                      </a:solidFill>
                      <a:prstDash val="solid"/>
                      <a:round/>
                      <a:headEnd type="none" w="med" len="med"/>
                      <a:tailEnd type="none" w="med" len="med"/>
                    </a:lnR>
                    <a:lnT w="10160" cap="flat" cmpd="sng" algn="ctr">
                      <a:solidFill>
                        <a:srgbClr val="D1D5DB"/>
                      </a:solidFill>
                      <a:prstDash val="solid"/>
                      <a:round/>
                      <a:headEnd type="none" w="med" len="med"/>
                      <a:tailEnd type="none" w="med" len="med"/>
                    </a:lnT>
                    <a:lnB w="10160"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E293B"/>
                          </a:solidFill>
                        </a:rPr>
                        <a:t>87.21</a:t>
                      </a:r>
                      <a:endParaRPr lang="en-US" sz="1000" dirty="0"/>
                    </a:p>
                  </a:txBody>
                  <a:tcPr marL="91440" marR="91440" marT="45720" marB="45720">
                    <a:lnL w="10160" cap="flat" cmpd="sng" algn="ctr">
                      <a:solidFill>
                        <a:srgbClr val="D1D5DB"/>
                      </a:solidFill>
                      <a:prstDash val="solid"/>
                      <a:round/>
                      <a:headEnd type="none" w="med" len="med"/>
                      <a:tailEnd type="none" w="med" len="med"/>
                    </a:lnL>
                    <a:lnR w="10160" cap="flat" cmpd="sng" algn="ctr">
                      <a:solidFill>
                        <a:srgbClr val="D1D5DB"/>
                      </a:solidFill>
                      <a:prstDash val="solid"/>
                      <a:round/>
                      <a:headEnd type="none" w="med" len="med"/>
                      <a:tailEnd type="none" w="med" len="med"/>
                    </a:lnR>
                    <a:lnT w="10160" cap="flat" cmpd="sng" algn="ctr">
                      <a:solidFill>
                        <a:srgbClr val="D1D5DB"/>
                      </a:solidFill>
                      <a:prstDash val="solid"/>
                      <a:round/>
                      <a:headEnd type="none" w="med" len="med"/>
                      <a:tailEnd type="none" w="med" len="med"/>
                    </a:lnT>
                    <a:lnB w="10160"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E293B"/>
                          </a:solidFill>
                        </a:rPr>
                        <a:t>6.016</a:t>
                      </a:r>
                      <a:endParaRPr lang="en-US" sz="1000" dirty="0"/>
                    </a:p>
                  </a:txBody>
                  <a:tcPr marL="91440" marR="91440" marT="45720" marB="45720">
                    <a:lnL w="10160" cap="flat" cmpd="sng" algn="ctr">
                      <a:solidFill>
                        <a:srgbClr val="D1D5DB"/>
                      </a:solidFill>
                      <a:prstDash val="solid"/>
                      <a:round/>
                      <a:headEnd type="none" w="med" len="med"/>
                      <a:tailEnd type="none" w="med" len="med"/>
                    </a:lnL>
                    <a:lnR w="10160" cap="flat" cmpd="sng" algn="ctr">
                      <a:solidFill>
                        <a:srgbClr val="D1D5DB"/>
                      </a:solidFill>
                      <a:prstDash val="solid"/>
                      <a:round/>
                      <a:headEnd type="none" w="med" len="med"/>
                      <a:tailEnd type="none" w="med" len="med"/>
                    </a:lnR>
                    <a:lnT w="10160" cap="flat" cmpd="sng" algn="ctr">
                      <a:solidFill>
                        <a:srgbClr val="D1D5DB"/>
                      </a:solidFill>
                      <a:prstDash val="solid"/>
                      <a:round/>
                      <a:headEnd type="none" w="med" len="med"/>
                      <a:tailEnd type="none" w="med" len="med"/>
                    </a:lnT>
                    <a:lnB w="10160"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E293B"/>
                          </a:solidFill>
                        </a:rPr>
                        <a:t>6.260</a:t>
                      </a:r>
                      <a:endParaRPr lang="en-US" sz="1000" dirty="0"/>
                    </a:p>
                  </a:txBody>
                  <a:tcPr marL="91440" marR="91440" marT="45720" marB="45720">
                    <a:lnL w="10160" cap="flat" cmpd="sng" algn="ctr">
                      <a:solidFill>
                        <a:srgbClr val="D1D5DB"/>
                      </a:solidFill>
                      <a:prstDash val="solid"/>
                      <a:round/>
                      <a:headEnd type="none" w="med" len="med"/>
                      <a:tailEnd type="none" w="med" len="med"/>
                    </a:lnL>
                    <a:lnR w="10160" cap="flat" cmpd="sng" algn="ctr">
                      <a:solidFill>
                        <a:srgbClr val="D1D5DB"/>
                      </a:solidFill>
                      <a:prstDash val="solid"/>
                      <a:round/>
                      <a:headEnd type="none" w="med" len="med"/>
                      <a:tailEnd type="none" w="med" len="med"/>
                    </a:lnR>
                    <a:lnT w="10160" cap="flat" cmpd="sng" algn="ctr">
                      <a:solidFill>
                        <a:srgbClr val="D1D5DB"/>
                      </a:solidFill>
                      <a:prstDash val="solid"/>
                      <a:round/>
                      <a:headEnd type="none" w="med" len="med"/>
                      <a:tailEnd type="none" w="med" len="med"/>
                    </a:lnT>
                    <a:lnB w="10160"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E293B"/>
                          </a:solidFill>
                        </a:rPr>
                        <a:t>23.6</a:t>
                      </a:r>
                      <a:endParaRPr lang="en-US" sz="1000" dirty="0"/>
                    </a:p>
                  </a:txBody>
                  <a:tcPr marL="91440" marR="91440" marT="45720" marB="45720">
                    <a:lnL w="10160" cap="flat" cmpd="sng" algn="ctr">
                      <a:solidFill>
                        <a:srgbClr val="D1D5DB"/>
                      </a:solidFill>
                      <a:prstDash val="solid"/>
                      <a:round/>
                      <a:headEnd type="none" w="med" len="med"/>
                      <a:tailEnd type="none" w="med" len="med"/>
                    </a:lnL>
                    <a:lnR w="10160" cap="flat" cmpd="sng" algn="ctr">
                      <a:solidFill>
                        <a:srgbClr val="D1D5DB"/>
                      </a:solidFill>
                      <a:prstDash val="solid"/>
                      <a:round/>
                      <a:headEnd type="none" w="med" len="med"/>
                      <a:tailEnd type="none" w="med" len="med"/>
                    </a:lnR>
                    <a:lnT w="10160" cap="flat" cmpd="sng" algn="ctr">
                      <a:solidFill>
                        <a:srgbClr val="D1D5DB"/>
                      </a:solidFill>
                      <a:prstDash val="solid"/>
                      <a:round/>
                      <a:headEnd type="none" w="med" len="med"/>
                      <a:tailEnd type="none" w="med" len="med"/>
                    </a:lnT>
                    <a:lnB w="10160" cap="flat" cmpd="sng" algn="ctr">
                      <a:solidFill>
                        <a:srgbClr val="D1D5DB"/>
                      </a:solidFill>
                      <a:prstDash val="solid"/>
                      <a:round/>
                      <a:headEnd type="none" w="med" len="med"/>
                      <a:tailEnd type="none" w="med" len="med"/>
                    </a:lnB>
                    <a:solidFill>
                      <a:srgbClr val="FFFFFF"/>
                    </a:solidFill>
                  </a:tcPr>
                </a:tc>
              </a:tr>
              <a:tr h="359229">
                <a:tc>
                  <a:txBody>
                    <a:bodyPr/>
                    <a:lstStyle/>
                    <a:p>
                      <a:pPr algn="ctr" indent="0" marL="0">
                        <a:buNone/>
                      </a:pPr>
                      <a:r>
                        <a:rPr lang="en-US" sz="1000" dirty="0">
                          <a:solidFill>
                            <a:srgbClr val="1E293B"/>
                          </a:solidFill>
                        </a:rPr>
                        <a:t>4</a:t>
                      </a:r>
                      <a:endParaRPr lang="en-US" sz="1000" dirty="0"/>
                    </a:p>
                  </a:txBody>
                  <a:tcPr marL="91440" marR="91440" marT="45720" marB="45720">
                    <a:lnL w="10160" cap="flat" cmpd="sng" algn="ctr">
                      <a:solidFill>
                        <a:srgbClr val="D1D5DB"/>
                      </a:solidFill>
                      <a:prstDash val="solid"/>
                      <a:round/>
                      <a:headEnd type="none" w="med" len="med"/>
                      <a:tailEnd type="none" w="med" len="med"/>
                    </a:lnL>
                    <a:lnR w="10160" cap="flat" cmpd="sng" algn="ctr">
                      <a:solidFill>
                        <a:srgbClr val="D1D5DB"/>
                      </a:solidFill>
                      <a:prstDash val="solid"/>
                      <a:round/>
                      <a:headEnd type="none" w="med" len="med"/>
                      <a:tailEnd type="none" w="med" len="med"/>
                    </a:lnR>
                    <a:lnT w="10160" cap="flat" cmpd="sng" algn="ctr">
                      <a:solidFill>
                        <a:srgbClr val="D1D5DB"/>
                      </a:solidFill>
                      <a:prstDash val="solid"/>
                      <a:round/>
                      <a:headEnd type="none" w="med" len="med"/>
                      <a:tailEnd type="none" w="med" len="med"/>
                    </a:lnT>
                    <a:lnB w="10160" cap="flat" cmpd="sng" algn="ctr">
                      <a:solidFill>
                        <a:srgbClr val="D1D5DB"/>
                      </a:solidFill>
                      <a:prstDash val="solid"/>
                      <a:round/>
                      <a:headEnd type="none" w="med" len="med"/>
                      <a:tailEnd type="none" w="med" len="med"/>
                    </a:lnB>
                    <a:solidFill>
                      <a:srgbClr val="F0F4F8"/>
                    </a:solidFill>
                  </a:tcPr>
                </a:tc>
                <a:tc>
                  <a:txBody>
                    <a:bodyPr/>
                    <a:lstStyle/>
                    <a:p>
                      <a:pPr algn="ctr" indent="0" marL="0">
                        <a:buNone/>
                      </a:pPr>
                      <a:r>
                        <a:rPr lang="en-US" sz="1000" dirty="0">
                          <a:solidFill>
                            <a:srgbClr val="1E293B"/>
                          </a:solidFill>
                        </a:rPr>
                        <a:t>63.61</a:t>
                      </a:r>
                      <a:endParaRPr lang="en-US" sz="1000" dirty="0"/>
                    </a:p>
                  </a:txBody>
                  <a:tcPr marL="91440" marR="91440" marT="45720" marB="45720">
                    <a:lnL w="10160" cap="flat" cmpd="sng" algn="ctr">
                      <a:solidFill>
                        <a:srgbClr val="D1D5DB"/>
                      </a:solidFill>
                      <a:prstDash val="solid"/>
                      <a:round/>
                      <a:headEnd type="none" w="med" len="med"/>
                      <a:tailEnd type="none" w="med" len="med"/>
                    </a:lnL>
                    <a:lnR w="10160" cap="flat" cmpd="sng" algn="ctr">
                      <a:solidFill>
                        <a:srgbClr val="D1D5DB"/>
                      </a:solidFill>
                      <a:prstDash val="solid"/>
                      <a:round/>
                      <a:headEnd type="none" w="med" len="med"/>
                      <a:tailEnd type="none" w="med" len="med"/>
                    </a:lnR>
                    <a:lnT w="10160" cap="flat" cmpd="sng" algn="ctr">
                      <a:solidFill>
                        <a:srgbClr val="D1D5DB"/>
                      </a:solidFill>
                      <a:prstDash val="solid"/>
                      <a:round/>
                      <a:headEnd type="none" w="med" len="med"/>
                      <a:tailEnd type="none" w="med" len="med"/>
                    </a:lnT>
                    <a:lnB w="10160" cap="flat" cmpd="sng" algn="ctr">
                      <a:solidFill>
                        <a:srgbClr val="D1D5DB"/>
                      </a:solidFill>
                      <a:prstDash val="solid"/>
                      <a:round/>
                      <a:headEnd type="none" w="med" len="med"/>
                      <a:tailEnd type="none" w="med" len="med"/>
                    </a:lnB>
                    <a:solidFill>
                      <a:srgbClr val="F0F4F8"/>
                    </a:solidFill>
                  </a:tcPr>
                </a:tc>
                <a:tc>
                  <a:txBody>
                    <a:bodyPr/>
                    <a:lstStyle/>
                    <a:p>
                      <a:pPr algn="ctr" indent="0" marL="0">
                        <a:buNone/>
                      </a:pPr>
                      <a:r>
                        <a:rPr lang="en-US" sz="1000" dirty="0">
                          <a:solidFill>
                            <a:srgbClr val="1E293B"/>
                          </a:solidFill>
                        </a:rPr>
                        <a:t>87.21</a:t>
                      </a:r>
                      <a:endParaRPr lang="en-US" sz="1000" dirty="0"/>
                    </a:p>
                  </a:txBody>
                  <a:tcPr marL="91440" marR="91440" marT="45720" marB="45720">
                    <a:lnL w="10160" cap="flat" cmpd="sng" algn="ctr">
                      <a:solidFill>
                        <a:srgbClr val="D1D5DB"/>
                      </a:solidFill>
                      <a:prstDash val="solid"/>
                      <a:round/>
                      <a:headEnd type="none" w="med" len="med"/>
                      <a:tailEnd type="none" w="med" len="med"/>
                    </a:lnL>
                    <a:lnR w="10160" cap="flat" cmpd="sng" algn="ctr">
                      <a:solidFill>
                        <a:srgbClr val="D1D5DB"/>
                      </a:solidFill>
                      <a:prstDash val="solid"/>
                      <a:round/>
                      <a:headEnd type="none" w="med" len="med"/>
                      <a:tailEnd type="none" w="med" len="med"/>
                    </a:lnR>
                    <a:lnT w="10160" cap="flat" cmpd="sng" algn="ctr">
                      <a:solidFill>
                        <a:srgbClr val="D1D5DB"/>
                      </a:solidFill>
                      <a:prstDash val="solid"/>
                      <a:round/>
                      <a:headEnd type="none" w="med" len="med"/>
                      <a:tailEnd type="none" w="med" len="med"/>
                    </a:lnT>
                    <a:lnB w="10160" cap="flat" cmpd="sng" algn="ctr">
                      <a:solidFill>
                        <a:srgbClr val="D1D5DB"/>
                      </a:solidFill>
                      <a:prstDash val="solid"/>
                      <a:round/>
                      <a:headEnd type="none" w="med" len="med"/>
                      <a:tailEnd type="none" w="med" len="med"/>
                    </a:lnB>
                    <a:solidFill>
                      <a:srgbClr val="F0F4F8"/>
                    </a:solidFill>
                  </a:tcPr>
                </a:tc>
                <a:tc>
                  <a:txBody>
                    <a:bodyPr/>
                    <a:lstStyle/>
                    <a:p>
                      <a:pPr algn="ctr" indent="0" marL="0">
                        <a:buNone/>
                      </a:pPr>
                      <a:r>
                        <a:rPr lang="en-US" sz="1000" dirty="0">
                          <a:solidFill>
                            <a:srgbClr val="1E293B"/>
                          </a:solidFill>
                        </a:rPr>
                        <a:t>72.63</a:t>
                      </a:r>
                      <a:endParaRPr lang="en-US" sz="1000" dirty="0"/>
                    </a:p>
                  </a:txBody>
                  <a:tcPr marL="91440" marR="91440" marT="45720" marB="45720">
                    <a:lnL w="10160" cap="flat" cmpd="sng" algn="ctr">
                      <a:solidFill>
                        <a:srgbClr val="D1D5DB"/>
                      </a:solidFill>
                      <a:prstDash val="solid"/>
                      <a:round/>
                      <a:headEnd type="none" w="med" len="med"/>
                      <a:tailEnd type="none" w="med" len="med"/>
                    </a:lnL>
                    <a:lnR w="10160" cap="flat" cmpd="sng" algn="ctr">
                      <a:solidFill>
                        <a:srgbClr val="D1D5DB"/>
                      </a:solidFill>
                      <a:prstDash val="solid"/>
                      <a:round/>
                      <a:headEnd type="none" w="med" len="med"/>
                      <a:tailEnd type="none" w="med" len="med"/>
                    </a:lnR>
                    <a:lnT w="10160" cap="flat" cmpd="sng" algn="ctr">
                      <a:solidFill>
                        <a:srgbClr val="D1D5DB"/>
                      </a:solidFill>
                      <a:prstDash val="solid"/>
                      <a:round/>
                      <a:headEnd type="none" w="med" len="med"/>
                      <a:tailEnd type="none" w="med" len="med"/>
                    </a:lnT>
                    <a:lnB w="10160" cap="flat" cmpd="sng" algn="ctr">
                      <a:solidFill>
                        <a:srgbClr val="D1D5DB"/>
                      </a:solidFill>
                      <a:prstDash val="solid"/>
                      <a:round/>
                      <a:headEnd type="none" w="med" len="med"/>
                      <a:tailEnd type="none" w="med" len="med"/>
                    </a:lnB>
                    <a:solidFill>
                      <a:srgbClr val="F0F4F8"/>
                    </a:solidFill>
                  </a:tcPr>
                </a:tc>
                <a:tc>
                  <a:txBody>
                    <a:bodyPr/>
                    <a:lstStyle/>
                    <a:p>
                      <a:pPr algn="ctr" indent="0" marL="0">
                        <a:buNone/>
                      </a:pPr>
                      <a:r>
                        <a:rPr lang="en-US" sz="1000" dirty="0">
                          <a:solidFill>
                            <a:srgbClr val="1E293B"/>
                          </a:solidFill>
                        </a:rPr>
                        <a:t>78.20</a:t>
                      </a:r>
                      <a:endParaRPr lang="en-US" sz="1000" dirty="0"/>
                    </a:p>
                  </a:txBody>
                  <a:tcPr marL="91440" marR="91440" marT="45720" marB="45720">
                    <a:lnL w="10160" cap="flat" cmpd="sng" algn="ctr">
                      <a:solidFill>
                        <a:srgbClr val="D1D5DB"/>
                      </a:solidFill>
                      <a:prstDash val="solid"/>
                      <a:round/>
                      <a:headEnd type="none" w="med" len="med"/>
                      <a:tailEnd type="none" w="med" len="med"/>
                    </a:lnL>
                    <a:lnR w="10160" cap="flat" cmpd="sng" algn="ctr">
                      <a:solidFill>
                        <a:srgbClr val="D1D5DB"/>
                      </a:solidFill>
                      <a:prstDash val="solid"/>
                      <a:round/>
                      <a:headEnd type="none" w="med" len="med"/>
                      <a:tailEnd type="none" w="med" len="med"/>
                    </a:lnR>
                    <a:lnT w="10160" cap="flat" cmpd="sng" algn="ctr">
                      <a:solidFill>
                        <a:srgbClr val="D1D5DB"/>
                      </a:solidFill>
                      <a:prstDash val="solid"/>
                      <a:round/>
                      <a:headEnd type="none" w="med" len="med"/>
                      <a:tailEnd type="none" w="med" len="med"/>
                    </a:lnT>
                    <a:lnB w="10160" cap="flat" cmpd="sng" algn="ctr">
                      <a:solidFill>
                        <a:srgbClr val="D1D5DB"/>
                      </a:solidFill>
                      <a:prstDash val="solid"/>
                      <a:round/>
                      <a:headEnd type="none" w="med" len="med"/>
                      <a:tailEnd type="none" w="med" len="med"/>
                    </a:lnB>
                    <a:solidFill>
                      <a:srgbClr val="F0F4F8"/>
                    </a:solidFill>
                  </a:tcPr>
                </a:tc>
                <a:tc>
                  <a:txBody>
                    <a:bodyPr/>
                    <a:lstStyle/>
                    <a:p>
                      <a:pPr algn="ctr" indent="0" marL="0">
                        <a:buNone/>
                      </a:pPr>
                      <a:r>
                        <a:rPr lang="en-US" sz="1000" dirty="0">
                          <a:solidFill>
                            <a:srgbClr val="1E293B"/>
                          </a:solidFill>
                        </a:rPr>
                        <a:t>6.272</a:t>
                      </a:r>
                      <a:endParaRPr lang="en-US" sz="1000" dirty="0"/>
                    </a:p>
                  </a:txBody>
                  <a:tcPr marL="91440" marR="91440" marT="45720" marB="45720">
                    <a:lnL w="10160" cap="flat" cmpd="sng" algn="ctr">
                      <a:solidFill>
                        <a:srgbClr val="D1D5DB"/>
                      </a:solidFill>
                      <a:prstDash val="solid"/>
                      <a:round/>
                      <a:headEnd type="none" w="med" len="med"/>
                      <a:tailEnd type="none" w="med" len="med"/>
                    </a:lnL>
                    <a:lnR w="10160" cap="flat" cmpd="sng" algn="ctr">
                      <a:solidFill>
                        <a:srgbClr val="D1D5DB"/>
                      </a:solidFill>
                      <a:prstDash val="solid"/>
                      <a:round/>
                      <a:headEnd type="none" w="med" len="med"/>
                      <a:tailEnd type="none" w="med" len="med"/>
                    </a:lnR>
                    <a:lnT w="10160" cap="flat" cmpd="sng" algn="ctr">
                      <a:solidFill>
                        <a:srgbClr val="D1D5DB"/>
                      </a:solidFill>
                      <a:prstDash val="solid"/>
                      <a:round/>
                      <a:headEnd type="none" w="med" len="med"/>
                      <a:tailEnd type="none" w="med" len="med"/>
                    </a:lnT>
                    <a:lnB w="10160" cap="flat" cmpd="sng" algn="ctr">
                      <a:solidFill>
                        <a:srgbClr val="D1D5DB"/>
                      </a:solidFill>
                      <a:prstDash val="solid"/>
                      <a:round/>
                      <a:headEnd type="none" w="med" len="med"/>
                      <a:tailEnd type="none" w="med" len="med"/>
                    </a:lnB>
                    <a:solidFill>
                      <a:srgbClr val="F0F4F8"/>
                    </a:solidFill>
                  </a:tcPr>
                </a:tc>
                <a:tc>
                  <a:txBody>
                    <a:bodyPr/>
                    <a:lstStyle/>
                    <a:p>
                      <a:pPr algn="ctr" indent="0" marL="0">
                        <a:buNone/>
                      </a:pPr>
                      <a:r>
                        <a:rPr lang="en-US" sz="1000" b="1" dirty="0">
                          <a:solidFill>
                            <a:srgbClr val="1E293B"/>
                          </a:solidFill>
                        </a:rPr>
                        <a:t>6.016</a:t>
                      </a:r>
                      <a:endParaRPr lang="en-US" sz="1000" dirty="0"/>
                    </a:p>
                  </a:txBody>
                  <a:tcPr marL="91440" marR="91440" marT="45720" marB="45720">
                    <a:lnL w="10160" cap="flat" cmpd="sng" algn="ctr">
                      <a:solidFill>
                        <a:srgbClr val="D1D5DB"/>
                      </a:solidFill>
                      <a:prstDash val="solid"/>
                      <a:round/>
                      <a:headEnd type="none" w="med" len="med"/>
                      <a:tailEnd type="none" w="med" len="med"/>
                    </a:lnL>
                    <a:lnR w="10160" cap="flat" cmpd="sng" algn="ctr">
                      <a:solidFill>
                        <a:srgbClr val="D1D5DB"/>
                      </a:solidFill>
                      <a:prstDash val="solid"/>
                      <a:round/>
                      <a:headEnd type="none" w="med" len="med"/>
                      <a:tailEnd type="none" w="med" len="med"/>
                    </a:lnR>
                    <a:lnT w="10160" cap="flat" cmpd="sng" algn="ctr">
                      <a:solidFill>
                        <a:srgbClr val="D1D5DB"/>
                      </a:solidFill>
                      <a:prstDash val="solid"/>
                      <a:round/>
                      <a:headEnd type="none" w="med" len="med"/>
                      <a:tailEnd type="none" w="med" len="med"/>
                    </a:lnT>
                    <a:lnB w="10160" cap="flat" cmpd="sng" algn="ctr">
                      <a:solidFill>
                        <a:srgbClr val="D1D5DB"/>
                      </a:solidFill>
                      <a:prstDash val="solid"/>
                      <a:round/>
                      <a:headEnd type="none" w="med" len="med"/>
                      <a:tailEnd type="none" w="med" len="med"/>
                    </a:lnB>
                    <a:solidFill>
                      <a:srgbClr val="F0F4F8"/>
                    </a:solidFill>
                  </a:tcPr>
                </a:tc>
                <a:tc>
                  <a:txBody>
                    <a:bodyPr/>
                    <a:lstStyle/>
                    <a:p>
                      <a:pPr algn="ctr" indent="0" marL="0">
                        <a:buNone/>
                      </a:pPr>
                      <a:r>
                        <a:rPr lang="en-US" sz="1000" dirty="0">
                          <a:solidFill>
                            <a:srgbClr val="1E293B"/>
                          </a:solidFill>
                        </a:rPr>
                        <a:t>14.6</a:t>
                      </a:r>
                      <a:endParaRPr lang="en-US" sz="1000" dirty="0"/>
                    </a:p>
                  </a:txBody>
                  <a:tcPr marL="91440" marR="91440" marT="45720" marB="45720">
                    <a:lnL w="10160" cap="flat" cmpd="sng" algn="ctr">
                      <a:solidFill>
                        <a:srgbClr val="D1D5DB"/>
                      </a:solidFill>
                      <a:prstDash val="solid"/>
                      <a:round/>
                      <a:headEnd type="none" w="med" len="med"/>
                      <a:tailEnd type="none" w="med" len="med"/>
                    </a:lnL>
                    <a:lnR w="10160" cap="flat" cmpd="sng" algn="ctr">
                      <a:solidFill>
                        <a:srgbClr val="D1D5DB"/>
                      </a:solidFill>
                      <a:prstDash val="solid"/>
                      <a:round/>
                      <a:headEnd type="none" w="med" len="med"/>
                      <a:tailEnd type="none" w="med" len="med"/>
                    </a:lnR>
                    <a:lnT w="10160" cap="flat" cmpd="sng" algn="ctr">
                      <a:solidFill>
                        <a:srgbClr val="D1D5DB"/>
                      </a:solidFill>
                      <a:prstDash val="solid"/>
                      <a:round/>
                      <a:headEnd type="none" w="med" len="med"/>
                      <a:tailEnd type="none" w="med" len="med"/>
                    </a:lnT>
                    <a:lnB w="10160" cap="flat" cmpd="sng" algn="ctr">
                      <a:solidFill>
                        <a:srgbClr val="D1D5DB"/>
                      </a:solidFill>
                      <a:prstDash val="solid"/>
                      <a:round/>
                      <a:headEnd type="none" w="med" len="med"/>
                      <a:tailEnd type="none" w="med" len="med"/>
                    </a:lnB>
                    <a:solidFill>
                      <a:srgbClr val="F0F4F8"/>
                    </a:solidFill>
                  </a:tcPr>
                </a:tc>
              </a:tr>
              <a:tr h="359229">
                <a:tc>
                  <a:txBody>
                    <a:bodyPr/>
                    <a:lstStyle/>
                    <a:p>
                      <a:pPr algn="ctr" indent="0" marL="0">
                        <a:buNone/>
                      </a:pPr>
                      <a:r>
                        <a:rPr lang="en-US" sz="1000" dirty="0">
                          <a:solidFill>
                            <a:srgbClr val="1E293B"/>
                          </a:solidFill>
                        </a:rPr>
                        <a:t>5</a:t>
                      </a:r>
                      <a:endParaRPr lang="en-US" sz="1000" dirty="0"/>
                    </a:p>
                  </a:txBody>
                  <a:tcPr marL="91440" marR="91440" marT="45720" marB="45720">
                    <a:lnL w="10160" cap="flat" cmpd="sng" algn="ctr">
                      <a:solidFill>
                        <a:srgbClr val="D1D5DB"/>
                      </a:solidFill>
                      <a:prstDash val="solid"/>
                      <a:round/>
                      <a:headEnd type="none" w="med" len="med"/>
                      <a:tailEnd type="none" w="med" len="med"/>
                    </a:lnL>
                    <a:lnR w="10160" cap="flat" cmpd="sng" algn="ctr">
                      <a:solidFill>
                        <a:srgbClr val="D1D5DB"/>
                      </a:solidFill>
                      <a:prstDash val="solid"/>
                      <a:round/>
                      <a:headEnd type="none" w="med" len="med"/>
                      <a:tailEnd type="none" w="med" len="med"/>
                    </a:lnR>
                    <a:lnT w="10160" cap="flat" cmpd="sng" algn="ctr">
                      <a:solidFill>
                        <a:srgbClr val="D1D5DB"/>
                      </a:solidFill>
                      <a:prstDash val="solid"/>
                      <a:round/>
                      <a:headEnd type="none" w="med" len="med"/>
                      <a:tailEnd type="none" w="med" len="med"/>
                    </a:lnT>
                    <a:lnB w="10160"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E293B"/>
                          </a:solidFill>
                        </a:rPr>
                        <a:t>72.63</a:t>
                      </a:r>
                      <a:endParaRPr lang="en-US" sz="1000" dirty="0"/>
                    </a:p>
                  </a:txBody>
                  <a:tcPr marL="91440" marR="91440" marT="45720" marB="45720">
                    <a:lnL w="10160" cap="flat" cmpd="sng" algn="ctr">
                      <a:solidFill>
                        <a:srgbClr val="D1D5DB"/>
                      </a:solidFill>
                      <a:prstDash val="solid"/>
                      <a:round/>
                      <a:headEnd type="none" w="med" len="med"/>
                      <a:tailEnd type="none" w="med" len="med"/>
                    </a:lnL>
                    <a:lnR w="10160" cap="flat" cmpd="sng" algn="ctr">
                      <a:solidFill>
                        <a:srgbClr val="D1D5DB"/>
                      </a:solidFill>
                      <a:prstDash val="solid"/>
                      <a:round/>
                      <a:headEnd type="none" w="med" len="med"/>
                      <a:tailEnd type="none" w="med" len="med"/>
                    </a:lnR>
                    <a:lnT w="10160" cap="flat" cmpd="sng" algn="ctr">
                      <a:solidFill>
                        <a:srgbClr val="D1D5DB"/>
                      </a:solidFill>
                      <a:prstDash val="solid"/>
                      <a:round/>
                      <a:headEnd type="none" w="med" len="med"/>
                      <a:tailEnd type="none" w="med" len="med"/>
                    </a:lnT>
                    <a:lnB w="10160"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E293B"/>
                          </a:solidFill>
                        </a:rPr>
                        <a:t>87.21</a:t>
                      </a:r>
                      <a:endParaRPr lang="en-US" sz="1000" dirty="0"/>
                    </a:p>
                  </a:txBody>
                  <a:tcPr marL="91440" marR="91440" marT="45720" marB="45720">
                    <a:lnL w="10160" cap="flat" cmpd="sng" algn="ctr">
                      <a:solidFill>
                        <a:srgbClr val="D1D5DB"/>
                      </a:solidFill>
                      <a:prstDash val="solid"/>
                      <a:round/>
                      <a:headEnd type="none" w="med" len="med"/>
                      <a:tailEnd type="none" w="med" len="med"/>
                    </a:lnL>
                    <a:lnR w="10160" cap="flat" cmpd="sng" algn="ctr">
                      <a:solidFill>
                        <a:srgbClr val="D1D5DB"/>
                      </a:solidFill>
                      <a:prstDash val="solid"/>
                      <a:round/>
                      <a:headEnd type="none" w="med" len="med"/>
                      <a:tailEnd type="none" w="med" len="med"/>
                    </a:lnR>
                    <a:lnT w="10160" cap="flat" cmpd="sng" algn="ctr">
                      <a:solidFill>
                        <a:srgbClr val="D1D5DB"/>
                      </a:solidFill>
                      <a:prstDash val="solid"/>
                      <a:round/>
                      <a:headEnd type="none" w="med" len="med"/>
                      <a:tailEnd type="none" w="med" len="med"/>
                    </a:lnT>
                    <a:lnB w="10160"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E293B"/>
                          </a:solidFill>
                        </a:rPr>
                        <a:t>78.20</a:t>
                      </a:r>
                      <a:endParaRPr lang="en-US" sz="1000" dirty="0"/>
                    </a:p>
                  </a:txBody>
                  <a:tcPr marL="91440" marR="91440" marT="45720" marB="45720">
                    <a:lnL w="10160" cap="flat" cmpd="sng" algn="ctr">
                      <a:solidFill>
                        <a:srgbClr val="D1D5DB"/>
                      </a:solidFill>
                      <a:prstDash val="solid"/>
                      <a:round/>
                      <a:headEnd type="none" w="med" len="med"/>
                      <a:tailEnd type="none" w="med" len="med"/>
                    </a:lnL>
                    <a:lnR w="10160" cap="flat" cmpd="sng" algn="ctr">
                      <a:solidFill>
                        <a:srgbClr val="D1D5DB"/>
                      </a:solidFill>
                      <a:prstDash val="solid"/>
                      <a:round/>
                      <a:headEnd type="none" w="med" len="med"/>
                      <a:tailEnd type="none" w="med" len="med"/>
                    </a:lnR>
                    <a:lnT w="10160" cap="flat" cmpd="sng" algn="ctr">
                      <a:solidFill>
                        <a:srgbClr val="D1D5DB"/>
                      </a:solidFill>
                      <a:prstDash val="solid"/>
                      <a:round/>
                      <a:headEnd type="none" w="med" len="med"/>
                      <a:tailEnd type="none" w="med" len="med"/>
                    </a:lnT>
                    <a:lnB w="10160"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E293B"/>
                          </a:solidFill>
                        </a:rPr>
                        <a:t>81.64</a:t>
                      </a:r>
                      <a:endParaRPr lang="en-US" sz="1000" dirty="0"/>
                    </a:p>
                  </a:txBody>
                  <a:tcPr marL="91440" marR="91440" marT="45720" marB="45720">
                    <a:lnL w="10160" cap="flat" cmpd="sng" algn="ctr">
                      <a:solidFill>
                        <a:srgbClr val="D1D5DB"/>
                      </a:solidFill>
                      <a:prstDash val="solid"/>
                      <a:round/>
                      <a:headEnd type="none" w="med" len="med"/>
                      <a:tailEnd type="none" w="med" len="med"/>
                    </a:lnL>
                    <a:lnR w="10160" cap="flat" cmpd="sng" algn="ctr">
                      <a:solidFill>
                        <a:srgbClr val="D1D5DB"/>
                      </a:solidFill>
                      <a:prstDash val="solid"/>
                      <a:round/>
                      <a:headEnd type="none" w="med" len="med"/>
                      <a:tailEnd type="none" w="med" len="med"/>
                    </a:lnR>
                    <a:lnT w="10160" cap="flat" cmpd="sng" algn="ctr">
                      <a:solidFill>
                        <a:srgbClr val="D1D5DB"/>
                      </a:solidFill>
                      <a:prstDash val="solid"/>
                      <a:round/>
                      <a:headEnd type="none" w="med" len="med"/>
                      <a:tailEnd type="none" w="med" len="med"/>
                    </a:lnT>
                    <a:lnB w="10160"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E293B"/>
                          </a:solidFill>
                        </a:rPr>
                        <a:t>6.016</a:t>
                      </a:r>
                      <a:endParaRPr lang="en-US" sz="1000" dirty="0"/>
                    </a:p>
                  </a:txBody>
                  <a:tcPr marL="91440" marR="91440" marT="45720" marB="45720">
                    <a:lnL w="10160" cap="flat" cmpd="sng" algn="ctr">
                      <a:solidFill>
                        <a:srgbClr val="D1D5DB"/>
                      </a:solidFill>
                      <a:prstDash val="solid"/>
                      <a:round/>
                      <a:headEnd type="none" w="med" len="med"/>
                      <a:tailEnd type="none" w="med" len="med"/>
                    </a:lnL>
                    <a:lnR w="10160" cap="flat" cmpd="sng" algn="ctr">
                      <a:solidFill>
                        <a:srgbClr val="D1D5DB"/>
                      </a:solidFill>
                      <a:prstDash val="solid"/>
                      <a:round/>
                      <a:headEnd type="none" w="med" len="med"/>
                      <a:tailEnd type="none" w="med" len="med"/>
                    </a:lnR>
                    <a:lnT w="10160" cap="flat" cmpd="sng" algn="ctr">
                      <a:solidFill>
                        <a:srgbClr val="D1D5DB"/>
                      </a:solidFill>
                      <a:prstDash val="solid"/>
                      <a:round/>
                      <a:headEnd type="none" w="med" len="med"/>
                      <a:tailEnd type="none" w="med" len="med"/>
                    </a:lnT>
                    <a:lnB w="10160"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E293B"/>
                          </a:solidFill>
                        </a:rPr>
                        <a:t>6.013</a:t>
                      </a:r>
                      <a:endParaRPr lang="en-US" sz="1000" dirty="0"/>
                    </a:p>
                  </a:txBody>
                  <a:tcPr marL="91440" marR="91440" marT="45720" marB="45720">
                    <a:lnL w="10160" cap="flat" cmpd="sng" algn="ctr">
                      <a:solidFill>
                        <a:srgbClr val="D1D5DB"/>
                      </a:solidFill>
                      <a:prstDash val="solid"/>
                      <a:round/>
                      <a:headEnd type="none" w="med" len="med"/>
                      <a:tailEnd type="none" w="med" len="med"/>
                    </a:lnL>
                    <a:lnR w="10160" cap="flat" cmpd="sng" algn="ctr">
                      <a:solidFill>
                        <a:srgbClr val="D1D5DB"/>
                      </a:solidFill>
                      <a:prstDash val="solid"/>
                      <a:round/>
                      <a:headEnd type="none" w="med" len="med"/>
                      <a:tailEnd type="none" w="med" len="med"/>
                    </a:lnR>
                    <a:lnT w="10160" cap="flat" cmpd="sng" algn="ctr">
                      <a:solidFill>
                        <a:srgbClr val="D1D5DB"/>
                      </a:solidFill>
                      <a:prstDash val="solid"/>
                      <a:round/>
                      <a:headEnd type="none" w="med" len="med"/>
                      <a:tailEnd type="none" w="med" len="med"/>
                    </a:lnT>
                    <a:lnB w="10160"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E293B"/>
                          </a:solidFill>
                        </a:rPr>
                        <a:t>9.0</a:t>
                      </a:r>
                      <a:endParaRPr lang="en-US" sz="1000" dirty="0"/>
                    </a:p>
                  </a:txBody>
                  <a:tcPr marL="91440" marR="91440" marT="45720" marB="45720">
                    <a:lnL w="10160" cap="flat" cmpd="sng" algn="ctr">
                      <a:solidFill>
                        <a:srgbClr val="D1D5DB"/>
                      </a:solidFill>
                      <a:prstDash val="solid"/>
                      <a:round/>
                      <a:headEnd type="none" w="med" len="med"/>
                      <a:tailEnd type="none" w="med" len="med"/>
                    </a:lnL>
                    <a:lnR w="10160" cap="flat" cmpd="sng" algn="ctr">
                      <a:solidFill>
                        <a:srgbClr val="D1D5DB"/>
                      </a:solidFill>
                      <a:prstDash val="solid"/>
                      <a:round/>
                      <a:headEnd type="none" w="med" len="med"/>
                      <a:tailEnd type="none" w="med" len="med"/>
                    </a:lnR>
                    <a:lnT w="10160" cap="flat" cmpd="sng" algn="ctr">
                      <a:solidFill>
                        <a:srgbClr val="D1D5DB"/>
                      </a:solidFill>
                      <a:prstDash val="solid"/>
                      <a:round/>
                      <a:headEnd type="none" w="med" len="med"/>
                      <a:tailEnd type="none" w="med" len="med"/>
                    </a:lnT>
                    <a:lnB w="10160" cap="flat" cmpd="sng" algn="ctr">
                      <a:solidFill>
                        <a:srgbClr val="D1D5DB"/>
                      </a:solidFill>
                      <a:prstDash val="solid"/>
                      <a:round/>
                      <a:headEnd type="none" w="med" len="med"/>
                      <a:tailEnd type="none" w="med" len="med"/>
                    </a:lnB>
                    <a:solidFill>
                      <a:srgbClr val="FFFFFF"/>
                    </a:solidFill>
                  </a:tcPr>
                </a:tc>
              </a:tr>
              <a:tr h="359229">
                <a:tc>
                  <a:txBody>
                    <a:bodyPr/>
                    <a:lstStyle/>
                    <a:p>
                      <a:pPr algn="ctr" indent="0" marL="0">
                        <a:buNone/>
                      </a:pPr>
                      <a:r>
                        <a:rPr lang="en-US" sz="1000" dirty="0">
                          <a:solidFill>
                            <a:srgbClr val="1E293B"/>
                          </a:solidFill>
                        </a:rPr>
                        <a:t>6</a:t>
                      </a:r>
                      <a:endParaRPr lang="en-US" sz="1000" dirty="0"/>
                    </a:p>
                  </a:txBody>
                  <a:tcPr marL="91440" marR="91440" marT="45720" marB="45720">
                    <a:lnL w="10160" cap="flat" cmpd="sng" algn="ctr">
                      <a:solidFill>
                        <a:srgbClr val="D1D5DB"/>
                      </a:solidFill>
                      <a:prstDash val="solid"/>
                      <a:round/>
                      <a:headEnd type="none" w="med" len="med"/>
                      <a:tailEnd type="none" w="med" len="med"/>
                    </a:lnL>
                    <a:lnR w="10160" cap="flat" cmpd="sng" algn="ctr">
                      <a:solidFill>
                        <a:srgbClr val="D1D5DB"/>
                      </a:solidFill>
                      <a:prstDash val="solid"/>
                      <a:round/>
                      <a:headEnd type="none" w="med" len="med"/>
                      <a:tailEnd type="none" w="med" len="med"/>
                    </a:lnR>
                    <a:lnT w="10160" cap="flat" cmpd="sng" algn="ctr">
                      <a:solidFill>
                        <a:srgbClr val="D1D5DB"/>
                      </a:solidFill>
                      <a:prstDash val="solid"/>
                      <a:round/>
                      <a:headEnd type="none" w="med" len="med"/>
                      <a:tailEnd type="none" w="med" len="med"/>
                    </a:lnT>
                    <a:lnB w="10160" cap="flat" cmpd="sng" algn="ctr">
                      <a:solidFill>
                        <a:srgbClr val="D1D5DB"/>
                      </a:solidFill>
                      <a:prstDash val="solid"/>
                      <a:round/>
                      <a:headEnd type="none" w="med" len="med"/>
                      <a:tailEnd type="none" w="med" len="med"/>
                    </a:lnB>
                    <a:solidFill>
                      <a:srgbClr val="F0F4F8"/>
                    </a:solidFill>
                  </a:tcPr>
                </a:tc>
                <a:tc>
                  <a:txBody>
                    <a:bodyPr/>
                    <a:lstStyle/>
                    <a:p>
                      <a:pPr algn="ctr" indent="0" marL="0">
                        <a:buNone/>
                      </a:pPr>
                      <a:r>
                        <a:rPr lang="en-US" sz="1000" dirty="0">
                          <a:solidFill>
                            <a:srgbClr val="1E293B"/>
                          </a:solidFill>
                        </a:rPr>
                        <a:t>78.20</a:t>
                      </a:r>
                      <a:endParaRPr lang="en-US" sz="1000" dirty="0"/>
                    </a:p>
                  </a:txBody>
                  <a:tcPr marL="91440" marR="91440" marT="45720" marB="45720">
                    <a:lnL w="10160" cap="flat" cmpd="sng" algn="ctr">
                      <a:solidFill>
                        <a:srgbClr val="D1D5DB"/>
                      </a:solidFill>
                      <a:prstDash val="solid"/>
                      <a:round/>
                      <a:headEnd type="none" w="med" len="med"/>
                      <a:tailEnd type="none" w="med" len="med"/>
                    </a:lnL>
                    <a:lnR w="10160" cap="flat" cmpd="sng" algn="ctr">
                      <a:solidFill>
                        <a:srgbClr val="D1D5DB"/>
                      </a:solidFill>
                      <a:prstDash val="solid"/>
                      <a:round/>
                      <a:headEnd type="none" w="med" len="med"/>
                      <a:tailEnd type="none" w="med" len="med"/>
                    </a:lnR>
                    <a:lnT w="10160" cap="flat" cmpd="sng" algn="ctr">
                      <a:solidFill>
                        <a:srgbClr val="D1D5DB"/>
                      </a:solidFill>
                      <a:prstDash val="solid"/>
                      <a:round/>
                      <a:headEnd type="none" w="med" len="med"/>
                      <a:tailEnd type="none" w="med" len="med"/>
                    </a:lnT>
                    <a:lnB w="10160" cap="flat" cmpd="sng" algn="ctr">
                      <a:solidFill>
                        <a:srgbClr val="D1D5DB"/>
                      </a:solidFill>
                      <a:prstDash val="solid"/>
                      <a:round/>
                      <a:headEnd type="none" w="med" len="med"/>
                      <a:tailEnd type="none" w="med" len="med"/>
                    </a:lnB>
                    <a:solidFill>
                      <a:srgbClr val="F0F4F8"/>
                    </a:solidFill>
                  </a:tcPr>
                </a:tc>
                <a:tc>
                  <a:txBody>
                    <a:bodyPr/>
                    <a:lstStyle/>
                    <a:p>
                      <a:pPr algn="ctr" indent="0" marL="0">
                        <a:buNone/>
                      </a:pPr>
                      <a:r>
                        <a:rPr lang="en-US" sz="1000" dirty="0">
                          <a:solidFill>
                            <a:srgbClr val="1E293B"/>
                          </a:solidFill>
                        </a:rPr>
                        <a:t>87.21</a:t>
                      </a:r>
                      <a:endParaRPr lang="en-US" sz="1000" dirty="0"/>
                    </a:p>
                  </a:txBody>
                  <a:tcPr marL="91440" marR="91440" marT="45720" marB="45720">
                    <a:lnL w="10160" cap="flat" cmpd="sng" algn="ctr">
                      <a:solidFill>
                        <a:srgbClr val="D1D5DB"/>
                      </a:solidFill>
                      <a:prstDash val="solid"/>
                      <a:round/>
                      <a:headEnd type="none" w="med" len="med"/>
                      <a:tailEnd type="none" w="med" len="med"/>
                    </a:lnL>
                    <a:lnR w="10160" cap="flat" cmpd="sng" algn="ctr">
                      <a:solidFill>
                        <a:srgbClr val="D1D5DB"/>
                      </a:solidFill>
                      <a:prstDash val="solid"/>
                      <a:round/>
                      <a:headEnd type="none" w="med" len="med"/>
                      <a:tailEnd type="none" w="med" len="med"/>
                    </a:lnR>
                    <a:lnT w="10160" cap="flat" cmpd="sng" algn="ctr">
                      <a:solidFill>
                        <a:srgbClr val="D1D5DB"/>
                      </a:solidFill>
                      <a:prstDash val="solid"/>
                      <a:round/>
                      <a:headEnd type="none" w="med" len="med"/>
                      <a:tailEnd type="none" w="med" len="med"/>
                    </a:lnT>
                    <a:lnB w="10160" cap="flat" cmpd="sng" algn="ctr">
                      <a:solidFill>
                        <a:srgbClr val="D1D5DB"/>
                      </a:solidFill>
                      <a:prstDash val="solid"/>
                      <a:round/>
                      <a:headEnd type="none" w="med" len="med"/>
                      <a:tailEnd type="none" w="med" len="med"/>
                    </a:lnB>
                    <a:solidFill>
                      <a:srgbClr val="F0F4F8"/>
                    </a:solidFill>
                  </a:tcPr>
                </a:tc>
                <a:tc>
                  <a:txBody>
                    <a:bodyPr/>
                    <a:lstStyle/>
                    <a:p>
                      <a:pPr algn="ctr" indent="0" marL="0">
                        <a:buNone/>
                      </a:pPr>
                      <a:r>
                        <a:rPr lang="en-US" sz="1000" dirty="0">
                          <a:solidFill>
                            <a:srgbClr val="1E293B"/>
                          </a:solidFill>
                        </a:rPr>
                        <a:t>81.64</a:t>
                      </a:r>
                      <a:endParaRPr lang="en-US" sz="1000" dirty="0"/>
                    </a:p>
                  </a:txBody>
                  <a:tcPr marL="91440" marR="91440" marT="45720" marB="45720">
                    <a:lnL w="10160" cap="flat" cmpd="sng" algn="ctr">
                      <a:solidFill>
                        <a:srgbClr val="D1D5DB"/>
                      </a:solidFill>
                      <a:prstDash val="solid"/>
                      <a:round/>
                      <a:headEnd type="none" w="med" len="med"/>
                      <a:tailEnd type="none" w="med" len="med"/>
                    </a:lnL>
                    <a:lnR w="10160" cap="flat" cmpd="sng" algn="ctr">
                      <a:solidFill>
                        <a:srgbClr val="D1D5DB"/>
                      </a:solidFill>
                      <a:prstDash val="solid"/>
                      <a:round/>
                      <a:headEnd type="none" w="med" len="med"/>
                      <a:tailEnd type="none" w="med" len="med"/>
                    </a:lnR>
                    <a:lnT w="10160" cap="flat" cmpd="sng" algn="ctr">
                      <a:solidFill>
                        <a:srgbClr val="D1D5DB"/>
                      </a:solidFill>
                      <a:prstDash val="solid"/>
                      <a:round/>
                      <a:headEnd type="none" w="med" len="med"/>
                      <a:tailEnd type="none" w="med" len="med"/>
                    </a:lnT>
                    <a:lnB w="10160" cap="flat" cmpd="sng" algn="ctr">
                      <a:solidFill>
                        <a:srgbClr val="D1D5DB"/>
                      </a:solidFill>
                      <a:prstDash val="solid"/>
                      <a:round/>
                      <a:headEnd type="none" w="med" len="med"/>
                      <a:tailEnd type="none" w="med" len="med"/>
                    </a:lnB>
                    <a:solidFill>
                      <a:srgbClr val="F0F4F8"/>
                    </a:solidFill>
                  </a:tcPr>
                </a:tc>
                <a:tc>
                  <a:txBody>
                    <a:bodyPr/>
                    <a:lstStyle/>
                    <a:p>
                      <a:pPr algn="ctr" indent="0" marL="0">
                        <a:buNone/>
                      </a:pPr>
                      <a:r>
                        <a:rPr lang="en-US" sz="1000" dirty="0">
                          <a:solidFill>
                            <a:srgbClr val="1E293B"/>
                          </a:solidFill>
                        </a:rPr>
                        <a:t>83.77</a:t>
                      </a:r>
                      <a:endParaRPr lang="en-US" sz="1000" dirty="0"/>
                    </a:p>
                  </a:txBody>
                  <a:tcPr marL="91440" marR="91440" marT="45720" marB="45720">
                    <a:lnL w="10160" cap="flat" cmpd="sng" algn="ctr">
                      <a:solidFill>
                        <a:srgbClr val="D1D5DB"/>
                      </a:solidFill>
                      <a:prstDash val="solid"/>
                      <a:round/>
                      <a:headEnd type="none" w="med" len="med"/>
                      <a:tailEnd type="none" w="med" len="med"/>
                    </a:lnL>
                    <a:lnR w="10160" cap="flat" cmpd="sng" algn="ctr">
                      <a:solidFill>
                        <a:srgbClr val="D1D5DB"/>
                      </a:solidFill>
                      <a:prstDash val="solid"/>
                      <a:round/>
                      <a:headEnd type="none" w="med" len="med"/>
                      <a:tailEnd type="none" w="med" len="med"/>
                    </a:lnR>
                    <a:lnT w="10160" cap="flat" cmpd="sng" algn="ctr">
                      <a:solidFill>
                        <a:srgbClr val="D1D5DB"/>
                      </a:solidFill>
                      <a:prstDash val="solid"/>
                      <a:round/>
                      <a:headEnd type="none" w="med" len="med"/>
                      <a:tailEnd type="none" w="med" len="med"/>
                    </a:lnT>
                    <a:lnB w="10160" cap="flat" cmpd="sng" algn="ctr">
                      <a:solidFill>
                        <a:srgbClr val="D1D5DB"/>
                      </a:solidFill>
                      <a:prstDash val="solid"/>
                      <a:round/>
                      <a:headEnd type="none" w="med" len="med"/>
                      <a:tailEnd type="none" w="med" len="med"/>
                    </a:lnB>
                    <a:solidFill>
                      <a:srgbClr val="F0F4F8"/>
                    </a:solidFill>
                  </a:tcPr>
                </a:tc>
                <a:tc>
                  <a:txBody>
                    <a:bodyPr/>
                    <a:lstStyle/>
                    <a:p>
                      <a:pPr algn="ctr" indent="0" marL="0">
                        <a:buNone/>
                      </a:pPr>
                      <a:r>
                        <a:rPr lang="en-US" sz="1000" b="1" dirty="0">
                          <a:solidFill>
                            <a:srgbClr val="1E293B"/>
                          </a:solidFill>
                        </a:rPr>
                        <a:t>6.013</a:t>
                      </a:r>
                      <a:endParaRPr lang="en-US" sz="1000" dirty="0"/>
                    </a:p>
                  </a:txBody>
                  <a:tcPr marL="91440" marR="91440" marT="45720" marB="45720">
                    <a:lnL w="10160" cap="flat" cmpd="sng" algn="ctr">
                      <a:solidFill>
                        <a:srgbClr val="D1D5DB"/>
                      </a:solidFill>
                      <a:prstDash val="solid"/>
                      <a:round/>
                      <a:headEnd type="none" w="med" len="med"/>
                      <a:tailEnd type="none" w="med" len="med"/>
                    </a:lnL>
                    <a:lnR w="10160" cap="flat" cmpd="sng" algn="ctr">
                      <a:solidFill>
                        <a:srgbClr val="D1D5DB"/>
                      </a:solidFill>
                      <a:prstDash val="solid"/>
                      <a:round/>
                      <a:headEnd type="none" w="med" len="med"/>
                      <a:tailEnd type="none" w="med" len="med"/>
                    </a:lnR>
                    <a:lnT w="10160" cap="flat" cmpd="sng" algn="ctr">
                      <a:solidFill>
                        <a:srgbClr val="D1D5DB"/>
                      </a:solidFill>
                      <a:prstDash val="solid"/>
                      <a:round/>
                      <a:headEnd type="none" w="med" len="med"/>
                      <a:tailEnd type="none" w="med" len="med"/>
                    </a:lnT>
                    <a:lnB w="10160" cap="flat" cmpd="sng" algn="ctr">
                      <a:solidFill>
                        <a:srgbClr val="D1D5DB"/>
                      </a:solidFill>
                      <a:prstDash val="solid"/>
                      <a:round/>
                      <a:headEnd type="none" w="med" len="med"/>
                      <a:tailEnd type="none" w="med" len="med"/>
                    </a:lnB>
                    <a:solidFill>
                      <a:srgbClr val="F0F4F8"/>
                    </a:solidFill>
                  </a:tcPr>
                </a:tc>
                <a:tc>
                  <a:txBody>
                    <a:bodyPr/>
                    <a:lstStyle/>
                    <a:p>
                      <a:pPr algn="ctr" indent="0" marL="0">
                        <a:buNone/>
                      </a:pPr>
                      <a:r>
                        <a:rPr lang="en-US" sz="1000" dirty="0">
                          <a:solidFill>
                            <a:srgbClr val="1E293B"/>
                          </a:solidFill>
                        </a:rPr>
                        <a:t>6.071</a:t>
                      </a:r>
                      <a:endParaRPr lang="en-US" sz="1000" dirty="0"/>
                    </a:p>
                  </a:txBody>
                  <a:tcPr marL="91440" marR="91440" marT="45720" marB="45720">
                    <a:lnL w="10160" cap="flat" cmpd="sng" algn="ctr">
                      <a:solidFill>
                        <a:srgbClr val="D1D5DB"/>
                      </a:solidFill>
                      <a:prstDash val="solid"/>
                      <a:round/>
                      <a:headEnd type="none" w="med" len="med"/>
                      <a:tailEnd type="none" w="med" len="med"/>
                    </a:lnL>
                    <a:lnR w="10160" cap="flat" cmpd="sng" algn="ctr">
                      <a:solidFill>
                        <a:srgbClr val="D1D5DB"/>
                      </a:solidFill>
                      <a:prstDash val="solid"/>
                      <a:round/>
                      <a:headEnd type="none" w="med" len="med"/>
                      <a:tailEnd type="none" w="med" len="med"/>
                    </a:lnR>
                    <a:lnT w="10160" cap="flat" cmpd="sng" algn="ctr">
                      <a:solidFill>
                        <a:srgbClr val="D1D5DB"/>
                      </a:solidFill>
                      <a:prstDash val="solid"/>
                      <a:round/>
                      <a:headEnd type="none" w="med" len="med"/>
                      <a:tailEnd type="none" w="med" len="med"/>
                    </a:lnT>
                    <a:lnB w="10160" cap="flat" cmpd="sng" algn="ctr">
                      <a:solidFill>
                        <a:srgbClr val="D1D5DB"/>
                      </a:solidFill>
                      <a:prstDash val="solid"/>
                      <a:round/>
                      <a:headEnd type="none" w="med" len="med"/>
                      <a:tailEnd type="none" w="med" len="med"/>
                    </a:lnB>
                    <a:solidFill>
                      <a:srgbClr val="F0F4F8"/>
                    </a:solidFill>
                  </a:tcPr>
                </a:tc>
                <a:tc>
                  <a:txBody>
                    <a:bodyPr/>
                    <a:lstStyle/>
                    <a:p>
                      <a:pPr algn="ctr" indent="0" marL="0">
                        <a:buNone/>
                      </a:pPr>
                      <a:r>
                        <a:rPr lang="en-US" sz="1000" dirty="0">
                          <a:solidFill>
                            <a:srgbClr val="1E293B"/>
                          </a:solidFill>
                        </a:rPr>
                        <a:t>5.6</a:t>
                      </a:r>
                      <a:endParaRPr lang="en-US" sz="1000" dirty="0"/>
                    </a:p>
                  </a:txBody>
                  <a:tcPr marL="91440" marR="91440" marT="45720" marB="45720">
                    <a:lnL w="10160" cap="flat" cmpd="sng" algn="ctr">
                      <a:solidFill>
                        <a:srgbClr val="D1D5DB"/>
                      </a:solidFill>
                      <a:prstDash val="solid"/>
                      <a:round/>
                      <a:headEnd type="none" w="med" len="med"/>
                      <a:tailEnd type="none" w="med" len="med"/>
                    </a:lnL>
                    <a:lnR w="10160" cap="flat" cmpd="sng" algn="ctr">
                      <a:solidFill>
                        <a:srgbClr val="D1D5DB"/>
                      </a:solidFill>
                      <a:prstDash val="solid"/>
                      <a:round/>
                      <a:headEnd type="none" w="med" len="med"/>
                      <a:tailEnd type="none" w="med" len="med"/>
                    </a:lnR>
                    <a:lnT w="10160" cap="flat" cmpd="sng" algn="ctr">
                      <a:solidFill>
                        <a:srgbClr val="D1D5DB"/>
                      </a:solidFill>
                      <a:prstDash val="solid"/>
                      <a:round/>
                      <a:headEnd type="none" w="med" len="med"/>
                      <a:tailEnd type="none" w="med" len="med"/>
                    </a:lnT>
                    <a:lnB w="10160" cap="flat" cmpd="sng" algn="ctr">
                      <a:solidFill>
                        <a:srgbClr val="D1D5DB"/>
                      </a:solidFill>
                      <a:prstDash val="solid"/>
                      <a:round/>
                      <a:headEnd type="none" w="med" len="med"/>
                      <a:tailEnd type="none" w="med" len="med"/>
                    </a:lnB>
                    <a:solidFill>
                      <a:srgbClr val="F0F4F8"/>
                    </a:solidFill>
                  </a:tcPr>
                </a:tc>
              </a:tr>
            </a:tbl>
          </a:graphicData>
        </a:graphic>
      </p:graphicFrame>
      <p:pic>
        <p:nvPicPr>
          <p:cNvPr id="7" name="Image 0" descr="preencoded.png">    </p:cNvPr>
          <p:cNvPicPr>
            <a:picLocks noChangeAspect="1"/>
          </p:cNvPicPr>
          <p:nvPr/>
        </p:nvPicPr>
        <p:blipFill>
          <a:blip r:embed="rId1"/>
          <a:stretch>
            <a:fillRect/>
          </a:stretch>
        </p:blipFill>
        <p:spPr>
          <a:xfrm>
            <a:off x="320040" y="3886200"/>
            <a:ext cx="8503920" cy="1005840"/>
          </a:xfrm>
          <a:prstGeom prst="rect">
            <a:avLst/>
          </a:prstGeom>
        </p:spPr>
      </p:pic>
      <p:sp>
        <p:nvSpPr>
          <p:cNvPr id="8" name="Text 4"/>
          <p:cNvSpPr/>
          <p:nvPr/>
        </p:nvSpPr>
        <p:spPr>
          <a:xfrm>
            <a:off x="7955280" y="4846320"/>
            <a:ext cx="914400" cy="182880"/>
          </a:xfrm>
          <a:prstGeom prst="rect">
            <a:avLst/>
          </a:prstGeom>
          <a:noFill/>
          <a:ln/>
        </p:spPr>
        <p:txBody>
          <a:bodyPr wrap="square" rtlCol="0" anchor="ctr"/>
          <a:lstStyle/>
          <a:p>
            <a:pPr algn="r" indent="0" marL="0">
              <a:buNone/>
            </a:pPr>
            <a:r>
              <a:rPr lang="en-US" sz="800" dirty="0">
                <a:solidFill>
                  <a:srgbClr val="94A3B8"/>
                </a:solidFill>
              </a:rPr>
              <a:t>10 / 13</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164592"/>
            <a:ext cx="1645920" cy="292608"/>
          </a:xfrm>
          <a:prstGeom prst="roundRect">
            <a:avLst>
              <a:gd name="adj" fmla="val 25000"/>
            </a:avLst>
          </a:prstGeom>
          <a:solidFill>
            <a:srgbClr val="10B981"/>
          </a:solidFill>
          <a:ln w="12700">
            <a:solidFill>
              <a:srgbClr val="10B981"/>
            </a:solidFill>
            <a:prstDash val="solid"/>
          </a:ln>
        </p:spPr>
      </p:sp>
      <p:sp>
        <p:nvSpPr>
          <p:cNvPr id="3" name="Text 1"/>
          <p:cNvSpPr/>
          <p:nvPr/>
        </p:nvSpPr>
        <p:spPr>
          <a:xfrm>
            <a:off x="365760" y="164592"/>
            <a:ext cx="1645920" cy="292608"/>
          </a:xfrm>
          <a:prstGeom prst="rect">
            <a:avLst/>
          </a:prstGeom>
          <a:noFill/>
          <a:ln/>
        </p:spPr>
        <p:txBody>
          <a:bodyPr wrap="square" rtlCol="0" anchor="ctr"/>
          <a:lstStyle/>
          <a:p>
            <a:pPr algn="ctr" indent="0" marL="0">
              <a:buNone/>
            </a:pPr>
            <a:r>
              <a:rPr lang="en-US" sz="900" b="1" dirty="0">
                <a:solidFill>
                  <a:srgbClr val="0D2B55"/>
                </a:solidFill>
              </a:rPr>
              <a:t>RESULTS</a:t>
            </a:r>
            <a:endParaRPr lang="en-US" sz="900" dirty="0"/>
          </a:p>
        </p:txBody>
      </p:sp>
      <p:sp>
        <p:nvSpPr>
          <p:cNvPr id="4" name="Text 2"/>
          <p:cNvSpPr/>
          <p:nvPr/>
        </p:nvSpPr>
        <p:spPr>
          <a:xfrm>
            <a:off x="365760" y="502920"/>
            <a:ext cx="8412480" cy="640080"/>
          </a:xfrm>
          <a:prstGeom prst="rect">
            <a:avLst/>
          </a:prstGeom>
          <a:noFill/>
          <a:ln/>
        </p:spPr>
        <p:txBody>
          <a:bodyPr wrap="square" rtlCol="0" anchor="ctr"/>
          <a:lstStyle/>
          <a:p>
            <a:pPr indent="0" marL="0">
              <a:buNone/>
            </a:pPr>
            <a:r>
              <a:rPr lang="en-US" sz="2600" b="1" dirty="0">
                <a:solidFill>
                  <a:srgbClr val="0D2B55"/>
                </a:solidFill>
                <a:latin typeface="Calibri" pitchFamily="34" charset="0"/>
                <a:ea typeface="Calibri" pitchFamily="34" charset="-122"/>
                <a:cs typeface="Calibri" pitchFamily="34" charset="-120"/>
              </a:rPr>
              <a:t>Final Optimization Results</a:t>
            </a:r>
            <a:endParaRPr lang="en-US" sz="2600" dirty="0"/>
          </a:p>
        </p:txBody>
      </p:sp>
      <p:sp>
        <p:nvSpPr>
          <p:cNvPr id="5" name="Text 3"/>
          <p:cNvSpPr/>
          <p:nvPr/>
        </p:nvSpPr>
        <p:spPr>
          <a:xfrm>
            <a:off x="365760" y="1097280"/>
            <a:ext cx="8412480" cy="320040"/>
          </a:xfrm>
          <a:prstGeom prst="rect">
            <a:avLst/>
          </a:prstGeom>
          <a:noFill/>
          <a:ln/>
        </p:spPr>
        <p:txBody>
          <a:bodyPr wrap="square" rtlCol="0" anchor="ctr"/>
          <a:lstStyle/>
          <a:p>
            <a:pPr indent="0" marL="0">
              <a:buNone/>
            </a:pPr>
            <a:r>
              <a:rPr lang="en-US" sz="1300" i="1" dirty="0">
                <a:solidFill>
                  <a:srgbClr val="1565C0"/>
                </a:solidFill>
                <a:latin typeface="Calibri" pitchFamily="34" charset="0"/>
                <a:ea typeface="Calibri" pitchFamily="34" charset="-122"/>
                <a:cs typeface="Calibri" pitchFamily="34" charset="-120"/>
              </a:rPr>
              <a:t>Golden Section Search converges to the exact optimal solution</a:t>
            </a:r>
            <a:endParaRPr lang="en-US" sz="1300" dirty="0"/>
          </a:p>
        </p:txBody>
      </p:sp>
      <p:pic>
        <p:nvPicPr>
          <p:cNvPr id="6" name="Image 0" descr="preencoded.png">    </p:cNvPr>
          <p:cNvPicPr>
            <a:picLocks noChangeAspect="1"/>
          </p:cNvPicPr>
          <p:nvPr/>
        </p:nvPicPr>
        <p:blipFill>
          <a:blip r:embed="rId1"/>
          <a:stretch>
            <a:fillRect/>
          </a:stretch>
        </p:blipFill>
        <p:spPr>
          <a:xfrm>
            <a:off x="274320" y="1188720"/>
            <a:ext cx="5257800" cy="2926080"/>
          </a:xfrm>
          <a:prstGeom prst="rect">
            <a:avLst/>
          </a:prstGeom>
        </p:spPr>
      </p:pic>
      <p:sp>
        <p:nvSpPr>
          <p:cNvPr id="7" name="Shape 4"/>
          <p:cNvSpPr/>
          <p:nvPr/>
        </p:nvSpPr>
        <p:spPr>
          <a:xfrm>
            <a:off x="5715000" y="1188720"/>
            <a:ext cx="3154680" cy="1417320"/>
          </a:xfrm>
          <a:prstGeom prst="rect">
            <a:avLst/>
          </a:prstGeom>
          <a:solidFill>
            <a:srgbClr val="0D2B55"/>
          </a:solidFill>
          <a:ln w="12700">
            <a:solidFill>
              <a:srgbClr val="0D2B55"/>
            </a:solidFill>
            <a:prstDash val="solid"/>
          </a:ln>
          <a:effectLst>
            <a:outerShdw sx="100000" sy="100000" kx="0" ky="0" algn="bl" rotWithShape="0" blurRad="101600" dist="38100" dir="8100000">
              <a:srgbClr val="000000">
                <a:alpha val="12000"/>
              </a:srgbClr>
            </a:outerShdw>
          </a:effectLst>
        </p:spPr>
      </p:sp>
      <p:sp>
        <p:nvSpPr>
          <p:cNvPr id="8" name="Text 5"/>
          <p:cNvSpPr/>
          <p:nvPr/>
        </p:nvSpPr>
        <p:spPr>
          <a:xfrm>
            <a:off x="5806440" y="1243584"/>
            <a:ext cx="2971800" cy="347472"/>
          </a:xfrm>
          <a:prstGeom prst="rect">
            <a:avLst/>
          </a:prstGeom>
          <a:noFill/>
          <a:ln/>
        </p:spPr>
        <p:txBody>
          <a:bodyPr wrap="square" rtlCol="0" anchor="ctr"/>
          <a:lstStyle/>
          <a:p>
            <a:pPr algn="ctr" indent="0" marL="0">
              <a:buNone/>
            </a:pPr>
            <a:r>
              <a:rPr lang="en-US" sz="1200" b="1" dirty="0">
                <a:solidFill>
                  <a:srgbClr val="F59E0B"/>
                </a:solidFill>
              </a:rPr>
              <a:t>🏆  OPTIMAL RESULT</a:t>
            </a:r>
            <a:endParaRPr lang="en-US" sz="1200" dirty="0"/>
          </a:p>
        </p:txBody>
      </p:sp>
      <p:sp>
        <p:nvSpPr>
          <p:cNvPr id="9" name="Text 6"/>
          <p:cNvSpPr/>
          <p:nvPr/>
        </p:nvSpPr>
        <p:spPr>
          <a:xfrm>
            <a:off x="5806440" y="1609344"/>
            <a:ext cx="2971800" cy="420624"/>
          </a:xfrm>
          <a:prstGeom prst="rect">
            <a:avLst/>
          </a:prstGeom>
          <a:noFill/>
          <a:ln/>
        </p:spPr>
        <p:txBody>
          <a:bodyPr wrap="square" rtlCol="0" anchor="ctr"/>
          <a:lstStyle/>
          <a:p>
            <a:pPr algn="ctr" indent="0" marL="0">
              <a:buNone/>
            </a:pPr>
            <a:r>
              <a:rPr lang="en-US" sz="2000" b="1" dirty="0">
                <a:solidFill>
                  <a:srgbClr val="FFFFFF"/>
                </a:solidFill>
              </a:rPr>
              <a:t>v* = 80 km/h</a:t>
            </a:r>
            <a:endParaRPr lang="en-US" sz="2000" dirty="0"/>
          </a:p>
        </p:txBody>
      </p:sp>
      <p:sp>
        <p:nvSpPr>
          <p:cNvPr id="10" name="Text 7"/>
          <p:cNvSpPr/>
          <p:nvPr/>
        </p:nvSpPr>
        <p:spPr>
          <a:xfrm>
            <a:off x="5806440" y="2048256"/>
            <a:ext cx="2971800" cy="365760"/>
          </a:xfrm>
          <a:prstGeom prst="rect">
            <a:avLst/>
          </a:prstGeom>
          <a:noFill/>
          <a:ln/>
        </p:spPr>
        <p:txBody>
          <a:bodyPr wrap="square" rtlCol="0" anchor="ctr"/>
          <a:lstStyle/>
          <a:p>
            <a:pPr algn="ctr" indent="0" marL="0">
              <a:buNone/>
            </a:pPr>
            <a:r>
              <a:rPr lang="en-US" sz="1400" b="1" dirty="0">
                <a:solidFill>
                  <a:srgbClr val="F59E0B"/>
                </a:solidFill>
              </a:rPr>
              <a:t>f(v*) = 6 L/100km</a:t>
            </a:r>
            <a:endParaRPr lang="en-US" sz="1400" dirty="0"/>
          </a:p>
        </p:txBody>
      </p:sp>
      <p:sp>
        <p:nvSpPr>
          <p:cNvPr id="11" name="Shape 8"/>
          <p:cNvSpPr/>
          <p:nvPr/>
        </p:nvSpPr>
        <p:spPr>
          <a:xfrm>
            <a:off x="5715000" y="2697480"/>
            <a:ext cx="3154680" cy="512064"/>
          </a:xfrm>
          <a:prstGeom prst="rect">
            <a:avLst/>
          </a:prstGeom>
          <a:solidFill>
            <a:srgbClr val="D1FAE5"/>
          </a:solidFill>
          <a:ln w="15240">
            <a:solidFill>
              <a:srgbClr val="10B981"/>
            </a:solidFill>
            <a:prstDash val="solid"/>
          </a:ln>
        </p:spPr>
      </p:sp>
      <p:sp>
        <p:nvSpPr>
          <p:cNvPr id="12" name="Text 9"/>
          <p:cNvSpPr/>
          <p:nvPr/>
        </p:nvSpPr>
        <p:spPr>
          <a:xfrm>
            <a:off x="5833872" y="2752344"/>
            <a:ext cx="2011680" cy="237744"/>
          </a:xfrm>
          <a:prstGeom prst="rect">
            <a:avLst/>
          </a:prstGeom>
          <a:noFill/>
          <a:ln/>
        </p:spPr>
        <p:txBody>
          <a:bodyPr wrap="square" rtlCol="0" anchor="ctr"/>
          <a:lstStyle/>
          <a:p>
            <a:pPr indent="0" marL="0">
              <a:buNone/>
            </a:pPr>
            <a:r>
              <a:rPr lang="en-US" sz="1000" b="1" dirty="0">
                <a:solidFill>
                  <a:srgbClr val="0D2B55"/>
                </a:solidFill>
              </a:rPr>
              <a:t>⚡  Savings vs 130 km/h:</a:t>
            </a:r>
            <a:endParaRPr lang="en-US" sz="1000" dirty="0"/>
          </a:p>
        </p:txBody>
      </p:sp>
      <p:sp>
        <p:nvSpPr>
          <p:cNvPr id="13" name="Text 10"/>
          <p:cNvSpPr/>
          <p:nvPr/>
        </p:nvSpPr>
        <p:spPr>
          <a:xfrm>
            <a:off x="7360920" y="2807208"/>
            <a:ext cx="1417320" cy="274320"/>
          </a:xfrm>
          <a:prstGeom prst="rect">
            <a:avLst/>
          </a:prstGeom>
          <a:noFill/>
          <a:ln/>
        </p:spPr>
        <p:txBody>
          <a:bodyPr wrap="square" rtlCol="0" anchor="ctr"/>
          <a:lstStyle/>
          <a:p>
            <a:pPr algn="r" indent="0" marL="0">
              <a:buNone/>
            </a:pPr>
            <a:r>
              <a:rPr lang="en-US" sz="1300" b="1" dirty="0">
                <a:solidFill>
                  <a:srgbClr val="10B981"/>
                </a:solidFill>
              </a:rPr>
              <a:t>−38.5% fuel!</a:t>
            </a:r>
            <a:endParaRPr lang="en-US" sz="1300" dirty="0"/>
          </a:p>
        </p:txBody>
      </p:sp>
      <p:sp>
        <p:nvSpPr>
          <p:cNvPr id="14" name="Shape 11"/>
          <p:cNvSpPr/>
          <p:nvPr/>
        </p:nvSpPr>
        <p:spPr>
          <a:xfrm>
            <a:off x="5715000" y="3264408"/>
            <a:ext cx="3154680" cy="512064"/>
          </a:xfrm>
          <a:prstGeom prst="rect">
            <a:avLst/>
          </a:prstGeom>
          <a:solidFill>
            <a:srgbClr val="EFF6FF"/>
          </a:solidFill>
          <a:ln w="15240">
            <a:solidFill>
              <a:srgbClr val="2196F3"/>
            </a:solidFill>
            <a:prstDash val="solid"/>
          </a:ln>
        </p:spPr>
      </p:sp>
      <p:sp>
        <p:nvSpPr>
          <p:cNvPr id="15" name="Text 12"/>
          <p:cNvSpPr/>
          <p:nvPr/>
        </p:nvSpPr>
        <p:spPr>
          <a:xfrm>
            <a:off x="5833872" y="3319272"/>
            <a:ext cx="2011680" cy="237744"/>
          </a:xfrm>
          <a:prstGeom prst="rect">
            <a:avLst/>
          </a:prstGeom>
          <a:noFill/>
          <a:ln/>
        </p:spPr>
        <p:txBody>
          <a:bodyPr wrap="square" rtlCol="0" anchor="ctr"/>
          <a:lstStyle/>
          <a:p>
            <a:pPr indent="0" marL="0">
              <a:buNone/>
            </a:pPr>
            <a:r>
              <a:rPr lang="en-US" sz="1000" b="1" dirty="0">
                <a:solidFill>
                  <a:srgbClr val="0D2B55"/>
                </a:solidFill>
              </a:rPr>
              <a:t>🔁  Convergence:</a:t>
            </a:r>
            <a:endParaRPr lang="en-US" sz="1000" dirty="0"/>
          </a:p>
        </p:txBody>
      </p:sp>
      <p:sp>
        <p:nvSpPr>
          <p:cNvPr id="16" name="Text 13"/>
          <p:cNvSpPr/>
          <p:nvPr/>
        </p:nvSpPr>
        <p:spPr>
          <a:xfrm>
            <a:off x="7360920" y="3374136"/>
            <a:ext cx="1417320" cy="274320"/>
          </a:xfrm>
          <a:prstGeom prst="rect">
            <a:avLst/>
          </a:prstGeom>
          <a:noFill/>
          <a:ln/>
        </p:spPr>
        <p:txBody>
          <a:bodyPr wrap="square" rtlCol="0" anchor="ctr"/>
          <a:lstStyle/>
          <a:p>
            <a:pPr algn="r" indent="0" marL="0">
              <a:buNone/>
            </a:pPr>
            <a:r>
              <a:rPr lang="en-US" sz="1300" b="1" dirty="0">
                <a:solidFill>
                  <a:srgbClr val="2196F3"/>
                </a:solidFill>
              </a:rPr>
              <a:t>&lt; 20 iterations</a:t>
            </a:r>
            <a:endParaRPr lang="en-US" sz="1300" dirty="0"/>
          </a:p>
        </p:txBody>
      </p:sp>
      <p:sp>
        <p:nvSpPr>
          <p:cNvPr id="17" name="Shape 14"/>
          <p:cNvSpPr/>
          <p:nvPr/>
        </p:nvSpPr>
        <p:spPr>
          <a:xfrm>
            <a:off x="5715000" y="3831336"/>
            <a:ext cx="3154680" cy="512064"/>
          </a:xfrm>
          <a:prstGeom prst="rect">
            <a:avLst/>
          </a:prstGeom>
          <a:solidFill>
            <a:srgbClr val="FEF3C7"/>
          </a:solidFill>
          <a:ln w="15240">
            <a:solidFill>
              <a:srgbClr val="F59E0B"/>
            </a:solidFill>
            <a:prstDash val="solid"/>
          </a:ln>
        </p:spPr>
      </p:sp>
      <p:sp>
        <p:nvSpPr>
          <p:cNvPr id="18" name="Text 15"/>
          <p:cNvSpPr/>
          <p:nvPr/>
        </p:nvSpPr>
        <p:spPr>
          <a:xfrm>
            <a:off x="5833872" y="3886200"/>
            <a:ext cx="2011680" cy="237744"/>
          </a:xfrm>
          <a:prstGeom prst="rect">
            <a:avLst/>
          </a:prstGeom>
          <a:noFill/>
          <a:ln/>
        </p:spPr>
        <p:txBody>
          <a:bodyPr wrap="square" rtlCol="0" anchor="ctr"/>
          <a:lstStyle/>
          <a:p>
            <a:pPr indent="0" marL="0">
              <a:buNone/>
            </a:pPr>
            <a:r>
              <a:rPr lang="en-US" sz="1000" b="1" dirty="0">
                <a:solidFill>
                  <a:srgbClr val="0D2B55"/>
                </a:solidFill>
              </a:rPr>
              <a:t>✅  Evaluations Used:</a:t>
            </a:r>
            <a:endParaRPr lang="en-US" sz="1000" dirty="0"/>
          </a:p>
        </p:txBody>
      </p:sp>
      <p:sp>
        <p:nvSpPr>
          <p:cNvPr id="19" name="Text 16"/>
          <p:cNvSpPr/>
          <p:nvPr/>
        </p:nvSpPr>
        <p:spPr>
          <a:xfrm>
            <a:off x="7360920" y="3941064"/>
            <a:ext cx="1417320" cy="274320"/>
          </a:xfrm>
          <a:prstGeom prst="rect">
            <a:avLst/>
          </a:prstGeom>
          <a:noFill/>
          <a:ln/>
        </p:spPr>
        <p:txBody>
          <a:bodyPr wrap="square" rtlCol="0" anchor="ctr"/>
          <a:lstStyle/>
          <a:p>
            <a:pPr algn="r" indent="0" marL="0">
              <a:buNone/>
            </a:pPr>
            <a:r>
              <a:rPr lang="en-US" sz="1300" b="1" dirty="0">
                <a:solidFill>
                  <a:srgbClr val="F59E0B"/>
                </a:solidFill>
              </a:rPr>
              <a:t>Only ~18 calls</a:t>
            </a:r>
            <a:endParaRPr lang="en-US" sz="1300" dirty="0"/>
          </a:p>
        </p:txBody>
      </p:sp>
      <p:sp>
        <p:nvSpPr>
          <p:cNvPr id="20" name="Shape 17"/>
          <p:cNvSpPr/>
          <p:nvPr/>
        </p:nvSpPr>
        <p:spPr>
          <a:xfrm>
            <a:off x="5715000" y="4398264"/>
            <a:ext cx="3154680" cy="512064"/>
          </a:xfrm>
          <a:prstGeom prst="rect">
            <a:avLst/>
          </a:prstGeom>
          <a:solidFill>
            <a:srgbClr val="F0FDF4"/>
          </a:solidFill>
          <a:ln w="15240">
            <a:solidFill>
              <a:srgbClr val="10B981"/>
            </a:solidFill>
            <a:prstDash val="solid"/>
          </a:ln>
        </p:spPr>
      </p:sp>
      <p:sp>
        <p:nvSpPr>
          <p:cNvPr id="21" name="Text 18"/>
          <p:cNvSpPr/>
          <p:nvPr/>
        </p:nvSpPr>
        <p:spPr>
          <a:xfrm>
            <a:off x="5833872" y="4453128"/>
            <a:ext cx="2011680" cy="237744"/>
          </a:xfrm>
          <a:prstGeom prst="rect">
            <a:avLst/>
          </a:prstGeom>
          <a:noFill/>
          <a:ln/>
        </p:spPr>
        <p:txBody>
          <a:bodyPr wrap="square" rtlCol="0" anchor="ctr"/>
          <a:lstStyle/>
          <a:p>
            <a:pPr indent="0" marL="0">
              <a:buNone/>
            </a:pPr>
            <a:r>
              <a:rPr lang="en-US" sz="1000" b="1" dirty="0">
                <a:solidFill>
                  <a:srgbClr val="0D2B55"/>
                </a:solidFill>
              </a:rPr>
              <a:t>📐  Final Interval:</a:t>
            </a:r>
            <a:endParaRPr lang="en-US" sz="1000" dirty="0"/>
          </a:p>
        </p:txBody>
      </p:sp>
      <p:sp>
        <p:nvSpPr>
          <p:cNvPr id="22" name="Text 19"/>
          <p:cNvSpPr/>
          <p:nvPr/>
        </p:nvSpPr>
        <p:spPr>
          <a:xfrm>
            <a:off x="7360920" y="4507992"/>
            <a:ext cx="1417320" cy="274320"/>
          </a:xfrm>
          <a:prstGeom prst="rect">
            <a:avLst/>
          </a:prstGeom>
          <a:noFill/>
          <a:ln/>
        </p:spPr>
        <p:txBody>
          <a:bodyPr wrap="square" rtlCol="0" anchor="ctr"/>
          <a:lstStyle/>
          <a:p>
            <a:pPr algn="r" indent="0" marL="0">
              <a:buNone/>
            </a:pPr>
            <a:r>
              <a:rPr lang="en-US" sz="1300" b="1" dirty="0">
                <a:solidFill>
                  <a:srgbClr val="10B981"/>
                </a:solidFill>
              </a:rPr>
              <a:t>&lt; 0.1 km/h wide</a:t>
            </a:r>
            <a:endParaRPr lang="en-US" sz="1300" dirty="0"/>
          </a:p>
        </p:txBody>
      </p:sp>
      <p:sp>
        <p:nvSpPr>
          <p:cNvPr id="23" name="Shape 20"/>
          <p:cNvSpPr/>
          <p:nvPr/>
        </p:nvSpPr>
        <p:spPr>
          <a:xfrm>
            <a:off x="274320" y="4178808"/>
            <a:ext cx="8595360" cy="685800"/>
          </a:xfrm>
          <a:prstGeom prst="rect">
            <a:avLst/>
          </a:prstGeom>
          <a:solidFill>
            <a:srgbClr val="0D2B55"/>
          </a:solidFill>
          <a:ln w="12700">
            <a:solidFill>
              <a:srgbClr val="0D2B55"/>
            </a:solidFill>
            <a:prstDash val="solid"/>
          </a:ln>
        </p:spPr>
      </p:sp>
      <p:sp>
        <p:nvSpPr>
          <p:cNvPr id="24" name="Text 21"/>
          <p:cNvSpPr/>
          <p:nvPr/>
        </p:nvSpPr>
        <p:spPr>
          <a:xfrm>
            <a:off x="411480" y="4206240"/>
            <a:ext cx="8412480" cy="621792"/>
          </a:xfrm>
          <a:prstGeom prst="rect">
            <a:avLst/>
          </a:prstGeom>
          <a:noFill/>
          <a:ln/>
        </p:spPr>
        <p:txBody>
          <a:bodyPr wrap="square" rtlCol="0" anchor="ctr"/>
          <a:lstStyle/>
          <a:p>
            <a:pPr indent="0" marL="0">
              <a:buNone/>
            </a:pPr>
            <a:r>
              <a:rPr lang="en-US" sz="1050" i="1" dirty="0">
                <a:solidFill>
                  <a:srgbClr val="FFFFFF"/>
                </a:solidFill>
              </a:rPr>
              <a:t>🔑  The algorithm confirms what physics predicts: drive at 80 km/h and you achieve minimum fuel consumption of exactly 6 L/100km.</a:t>
            </a:r>
            <a:endParaRPr lang="en-US" sz="1050" dirty="0"/>
          </a:p>
        </p:txBody>
      </p:sp>
      <p:sp>
        <p:nvSpPr>
          <p:cNvPr id="25" name="Text 22"/>
          <p:cNvSpPr/>
          <p:nvPr/>
        </p:nvSpPr>
        <p:spPr>
          <a:xfrm>
            <a:off x="7955280" y="4846320"/>
            <a:ext cx="914400" cy="182880"/>
          </a:xfrm>
          <a:prstGeom prst="rect">
            <a:avLst/>
          </a:prstGeom>
          <a:noFill/>
          <a:ln/>
        </p:spPr>
        <p:txBody>
          <a:bodyPr wrap="square" rtlCol="0" anchor="ctr"/>
          <a:lstStyle/>
          <a:p>
            <a:pPr algn="r" indent="0" marL="0">
              <a:buNone/>
            </a:pPr>
            <a:r>
              <a:rPr lang="en-US" sz="800" dirty="0">
                <a:solidFill>
                  <a:srgbClr val="94A3B8"/>
                </a:solidFill>
              </a:rPr>
              <a:t>11 / 13</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365760" y="164592"/>
            <a:ext cx="1645920" cy="292608"/>
          </a:xfrm>
          <a:prstGeom prst="roundRect">
            <a:avLst>
              <a:gd name="adj" fmla="val 25000"/>
            </a:avLst>
          </a:prstGeom>
          <a:solidFill>
            <a:srgbClr val="0D9488"/>
          </a:solidFill>
          <a:ln w="12700">
            <a:solidFill>
              <a:srgbClr val="0D9488"/>
            </a:solidFill>
            <a:prstDash val="solid"/>
          </a:ln>
        </p:spPr>
      </p:sp>
      <p:sp>
        <p:nvSpPr>
          <p:cNvPr id="3" name="Text 1"/>
          <p:cNvSpPr/>
          <p:nvPr/>
        </p:nvSpPr>
        <p:spPr>
          <a:xfrm>
            <a:off x="365760" y="164592"/>
            <a:ext cx="1645920" cy="292608"/>
          </a:xfrm>
          <a:prstGeom prst="rect">
            <a:avLst/>
          </a:prstGeom>
          <a:noFill/>
          <a:ln/>
        </p:spPr>
        <p:txBody>
          <a:bodyPr wrap="square" rtlCol="0" anchor="ctr"/>
          <a:lstStyle/>
          <a:p>
            <a:pPr algn="ctr" indent="0" marL="0">
              <a:buNone/>
            </a:pPr>
            <a:r>
              <a:rPr lang="en-US" sz="900" b="1" dirty="0">
                <a:solidFill>
                  <a:srgbClr val="0D2B55"/>
                </a:solidFill>
              </a:rPr>
              <a:t>APPLICATIONS</a:t>
            </a:r>
            <a:endParaRPr lang="en-US" sz="900" dirty="0"/>
          </a:p>
        </p:txBody>
      </p:sp>
      <p:sp>
        <p:nvSpPr>
          <p:cNvPr id="4" name="Text 2"/>
          <p:cNvSpPr/>
          <p:nvPr/>
        </p:nvSpPr>
        <p:spPr>
          <a:xfrm>
            <a:off x="365760" y="502920"/>
            <a:ext cx="8412480" cy="640080"/>
          </a:xfrm>
          <a:prstGeom prst="rect">
            <a:avLst/>
          </a:prstGeom>
          <a:noFill/>
          <a:ln/>
        </p:spPr>
        <p:txBody>
          <a:bodyPr wrap="square" rtlCol="0" anchor="ctr"/>
          <a:lstStyle/>
          <a:p>
            <a:pPr indent="0" marL="0">
              <a:buNone/>
            </a:pPr>
            <a:r>
              <a:rPr lang="en-US" sz="2600" b="1" dirty="0">
                <a:solidFill>
                  <a:srgbClr val="0D2B55"/>
                </a:solidFill>
                <a:latin typeface="Calibri" pitchFamily="34" charset="0"/>
                <a:ea typeface="Calibri" pitchFamily="34" charset="-122"/>
                <a:cs typeface="Calibri" pitchFamily="34" charset="-120"/>
              </a:rPr>
              <a:t>Real-Life Applications</a:t>
            </a:r>
            <a:endParaRPr lang="en-US" sz="2600" dirty="0"/>
          </a:p>
        </p:txBody>
      </p:sp>
      <p:sp>
        <p:nvSpPr>
          <p:cNvPr id="5" name="Text 3"/>
          <p:cNvSpPr/>
          <p:nvPr/>
        </p:nvSpPr>
        <p:spPr>
          <a:xfrm>
            <a:off x="365760" y="1097280"/>
            <a:ext cx="8412480" cy="320040"/>
          </a:xfrm>
          <a:prstGeom prst="rect">
            <a:avLst/>
          </a:prstGeom>
          <a:noFill/>
          <a:ln/>
        </p:spPr>
        <p:txBody>
          <a:bodyPr wrap="square" rtlCol="0" anchor="ctr"/>
          <a:lstStyle/>
          <a:p>
            <a:pPr indent="0" marL="0">
              <a:buNone/>
            </a:pPr>
            <a:r>
              <a:rPr lang="en-US" sz="1300" i="1" dirty="0">
                <a:solidFill>
                  <a:srgbClr val="1565C0"/>
                </a:solidFill>
                <a:latin typeface="Calibri" pitchFamily="34" charset="0"/>
                <a:ea typeface="Calibri" pitchFamily="34" charset="-122"/>
                <a:cs typeface="Calibri" pitchFamily="34" charset="-120"/>
              </a:rPr>
              <a:t>Golden Section Search and unimodal optimization across industries</a:t>
            </a:r>
            <a:endParaRPr lang="en-US" sz="1300" dirty="0"/>
          </a:p>
        </p:txBody>
      </p:sp>
      <p:sp>
        <p:nvSpPr>
          <p:cNvPr id="6" name="Shape 4"/>
          <p:cNvSpPr/>
          <p:nvPr/>
        </p:nvSpPr>
        <p:spPr>
          <a:xfrm>
            <a:off x="320040" y="1417320"/>
            <a:ext cx="4206240" cy="1051560"/>
          </a:xfrm>
          <a:prstGeom prst="rect">
            <a:avLst/>
          </a:prstGeom>
          <a:solidFill>
            <a:srgbClr val="EFF6FF"/>
          </a:solidFill>
          <a:ln w="19050">
            <a:solidFill>
              <a:srgbClr val="2196F3"/>
            </a:solidFill>
            <a:prstDash val="solid"/>
          </a:ln>
          <a:effectLst>
            <a:outerShdw sx="100000" sy="100000" kx="0" ky="0" algn="bl" rotWithShape="0" blurRad="101600" dist="38100" dir="8100000">
              <a:srgbClr val="000000">
                <a:alpha val="12000"/>
              </a:srgbClr>
            </a:outerShdw>
          </a:effectLst>
        </p:spPr>
      </p:sp>
      <p:sp>
        <p:nvSpPr>
          <p:cNvPr id="7" name="Text 5"/>
          <p:cNvSpPr/>
          <p:nvPr/>
        </p:nvSpPr>
        <p:spPr>
          <a:xfrm>
            <a:off x="457200" y="1508760"/>
            <a:ext cx="3931920" cy="329184"/>
          </a:xfrm>
          <a:prstGeom prst="rect">
            <a:avLst/>
          </a:prstGeom>
          <a:noFill/>
          <a:ln/>
        </p:spPr>
        <p:txBody>
          <a:bodyPr wrap="square" rtlCol="0" anchor="ctr"/>
          <a:lstStyle/>
          <a:p>
            <a:pPr indent="0" marL="0">
              <a:buNone/>
            </a:pPr>
            <a:r>
              <a:rPr lang="en-US" sz="1150" b="1" dirty="0">
                <a:solidFill>
                  <a:srgbClr val="0D2B55"/>
                </a:solidFill>
              </a:rPr>
              <a:t>🚗  Automotive Engineering</a:t>
            </a:r>
            <a:endParaRPr lang="en-US" sz="1150" dirty="0"/>
          </a:p>
        </p:txBody>
      </p:sp>
      <p:sp>
        <p:nvSpPr>
          <p:cNvPr id="8" name="Text 6"/>
          <p:cNvSpPr/>
          <p:nvPr/>
        </p:nvSpPr>
        <p:spPr>
          <a:xfrm>
            <a:off x="457200" y="1847088"/>
            <a:ext cx="3931920" cy="548640"/>
          </a:xfrm>
          <a:prstGeom prst="rect">
            <a:avLst/>
          </a:prstGeom>
          <a:noFill/>
          <a:ln/>
        </p:spPr>
        <p:txBody>
          <a:bodyPr wrap="square" rtlCol="0" anchor="ctr"/>
          <a:lstStyle/>
          <a:p>
            <a:pPr indent="0" marL="0">
              <a:buNone/>
            </a:pPr>
            <a:r>
              <a:rPr lang="en-US" sz="950" dirty="0">
                <a:solidFill>
                  <a:srgbClr val="1E293B"/>
                </a:solidFill>
              </a:rPr>
              <a:t>Optimize engine ignition timing, gear-shift points, and cruise control speed profiles to minimize fuel consumption.</a:t>
            </a:r>
            <a:endParaRPr lang="en-US" sz="950" dirty="0"/>
          </a:p>
        </p:txBody>
      </p:sp>
      <p:sp>
        <p:nvSpPr>
          <p:cNvPr id="9" name="Shape 7"/>
          <p:cNvSpPr/>
          <p:nvPr/>
        </p:nvSpPr>
        <p:spPr>
          <a:xfrm>
            <a:off x="4709160" y="1417320"/>
            <a:ext cx="4206240" cy="1051560"/>
          </a:xfrm>
          <a:prstGeom prst="rect">
            <a:avLst/>
          </a:prstGeom>
          <a:solidFill>
            <a:srgbClr val="F0FDF4"/>
          </a:solidFill>
          <a:ln w="19050">
            <a:solidFill>
              <a:srgbClr val="10B981"/>
            </a:solidFill>
            <a:prstDash val="solid"/>
          </a:ln>
          <a:effectLst>
            <a:outerShdw sx="100000" sy="100000" kx="0" ky="0" algn="bl" rotWithShape="0" blurRad="101600" dist="38100" dir="8100000">
              <a:srgbClr val="000000">
                <a:alpha val="12000"/>
              </a:srgbClr>
            </a:outerShdw>
          </a:effectLst>
        </p:spPr>
      </p:sp>
      <p:sp>
        <p:nvSpPr>
          <p:cNvPr id="10" name="Text 8"/>
          <p:cNvSpPr/>
          <p:nvPr/>
        </p:nvSpPr>
        <p:spPr>
          <a:xfrm>
            <a:off x="4846320" y="1508760"/>
            <a:ext cx="3931920" cy="329184"/>
          </a:xfrm>
          <a:prstGeom prst="rect">
            <a:avLst/>
          </a:prstGeom>
          <a:noFill/>
          <a:ln/>
        </p:spPr>
        <p:txBody>
          <a:bodyPr wrap="square" rtlCol="0" anchor="ctr"/>
          <a:lstStyle/>
          <a:p>
            <a:pPr indent="0" marL="0">
              <a:buNone/>
            </a:pPr>
            <a:r>
              <a:rPr lang="en-US" sz="1150" b="1" dirty="0">
                <a:solidFill>
                  <a:srgbClr val="0D2B55"/>
                </a:solidFill>
              </a:rPr>
              <a:t>⚡  Electric Vehicles (EV)</a:t>
            </a:r>
            <a:endParaRPr lang="en-US" sz="1150" dirty="0"/>
          </a:p>
        </p:txBody>
      </p:sp>
      <p:sp>
        <p:nvSpPr>
          <p:cNvPr id="11" name="Text 9"/>
          <p:cNvSpPr/>
          <p:nvPr/>
        </p:nvSpPr>
        <p:spPr>
          <a:xfrm>
            <a:off x="4846320" y="1847088"/>
            <a:ext cx="3931920" cy="548640"/>
          </a:xfrm>
          <a:prstGeom prst="rect">
            <a:avLst/>
          </a:prstGeom>
          <a:noFill/>
          <a:ln/>
        </p:spPr>
        <p:txBody>
          <a:bodyPr wrap="square" rtlCol="0" anchor="ctr"/>
          <a:lstStyle/>
          <a:p>
            <a:pPr indent="0" marL="0">
              <a:buNone/>
            </a:pPr>
            <a:r>
              <a:rPr lang="en-US" sz="950" dirty="0">
                <a:solidFill>
                  <a:srgbClr val="1E293B"/>
                </a:solidFill>
              </a:rPr>
              <a:t>Find the optimal driving speed to maximize battery range per charge — critical for long-distance EV planning.</a:t>
            </a:r>
            <a:endParaRPr lang="en-US" sz="950" dirty="0"/>
          </a:p>
        </p:txBody>
      </p:sp>
      <p:sp>
        <p:nvSpPr>
          <p:cNvPr id="12" name="Shape 10"/>
          <p:cNvSpPr/>
          <p:nvPr/>
        </p:nvSpPr>
        <p:spPr>
          <a:xfrm>
            <a:off x="320040" y="2560320"/>
            <a:ext cx="4206240" cy="1051560"/>
          </a:xfrm>
          <a:prstGeom prst="rect">
            <a:avLst/>
          </a:prstGeom>
          <a:solidFill>
            <a:srgbClr val="FEF3C7"/>
          </a:solidFill>
          <a:ln w="19050">
            <a:solidFill>
              <a:srgbClr val="F59E0B"/>
            </a:solidFill>
            <a:prstDash val="solid"/>
          </a:ln>
          <a:effectLst>
            <a:outerShdw sx="100000" sy="100000" kx="0" ky="0" algn="bl" rotWithShape="0" blurRad="101600" dist="38100" dir="8100000">
              <a:srgbClr val="000000">
                <a:alpha val="12000"/>
              </a:srgbClr>
            </a:outerShdw>
          </a:effectLst>
        </p:spPr>
      </p:sp>
      <p:sp>
        <p:nvSpPr>
          <p:cNvPr id="13" name="Text 11"/>
          <p:cNvSpPr/>
          <p:nvPr/>
        </p:nvSpPr>
        <p:spPr>
          <a:xfrm>
            <a:off x="457200" y="2651760"/>
            <a:ext cx="3931920" cy="329184"/>
          </a:xfrm>
          <a:prstGeom prst="rect">
            <a:avLst/>
          </a:prstGeom>
          <a:noFill/>
          <a:ln/>
        </p:spPr>
        <p:txBody>
          <a:bodyPr wrap="square" rtlCol="0" anchor="ctr"/>
          <a:lstStyle/>
          <a:p>
            <a:pPr indent="0" marL="0">
              <a:buNone/>
            </a:pPr>
            <a:r>
              <a:rPr lang="en-US" sz="1150" b="1" dirty="0">
                <a:solidFill>
                  <a:srgbClr val="0D2B55"/>
                </a:solidFill>
              </a:rPr>
              <a:t>✈️  Aircraft Fuel Optimization</a:t>
            </a:r>
            <a:endParaRPr lang="en-US" sz="1150" dirty="0"/>
          </a:p>
        </p:txBody>
      </p:sp>
      <p:sp>
        <p:nvSpPr>
          <p:cNvPr id="14" name="Text 12"/>
          <p:cNvSpPr/>
          <p:nvPr/>
        </p:nvSpPr>
        <p:spPr>
          <a:xfrm>
            <a:off x="457200" y="2990088"/>
            <a:ext cx="3931920" cy="548640"/>
          </a:xfrm>
          <a:prstGeom prst="rect">
            <a:avLst/>
          </a:prstGeom>
          <a:noFill/>
          <a:ln/>
        </p:spPr>
        <p:txBody>
          <a:bodyPr wrap="square" rtlCol="0" anchor="ctr"/>
          <a:lstStyle/>
          <a:p>
            <a:pPr indent="0" marL="0">
              <a:buNone/>
            </a:pPr>
            <a:r>
              <a:rPr lang="en-US" sz="950" dirty="0">
                <a:solidFill>
                  <a:srgbClr val="1E293B"/>
                </a:solidFill>
              </a:rPr>
              <a:t>Determine optimal cruising altitude and speed to minimize fuel burn on commercial flight routes.</a:t>
            </a:r>
            <a:endParaRPr lang="en-US" sz="950" dirty="0"/>
          </a:p>
        </p:txBody>
      </p:sp>
      <p:sp>
        <p:nvSpPr>
          <p:cNvPr id="15" name="Shape 13"/>
          <p:cNvSpPr/>
          <p:nvPr/>
        </p:nvSpPr>
        <p:spPr>
          <a:xfrm>
            <a:off x="4709160" y="2560320"/>
            <a:ext cx="4206240" cy="1051560"/>
          </a:xfrm>
          <a:prstGeom prst="rect">
            <a:avLst/>
          </a:prstGeom>
          <a:solidFill>
            <a:srgbClr val="EFF6FF"/>
          </a:solidFill>
          <a:ln w="19050">
            <a:solidFill>
              <a:srgbClr val="2196F3"/>
            </a:solidFill>
            <a:prstDash val="solid"/>
          </a:ln>
          <a:effectLst>
            <a:outerShdw sx="100000" sy="100000" kx="0" ky="0" algn="bl" rotWithShape="0" blurRad="101600" dist="38100" dir="8100000">
              <a:srgbClr val="000000">
                <a:alpha val="12000"/>
              </a:srgbClr>
            </a:outerShdw>
          </a:effectLst>
        </p:spPr>
      </p:sp>
      <p:sp>
        <p:nvSpPr>
          <p:cNvPr id="16" name="Text 14"/>
          <p:cNvSpPr/>
          <p:nvPr/>
        </p:nvSpPr>
        <p:spPr>
          <a:xfrm>
            <a:off x="4846320" y="2651760"/>
            <a:ext cx="3931920" cy="329184"/>
          </a:xfrm>
          <a:prstGeom prst="rect">
            <a:avLst/>
          </a:prstGeom>
          <a:noFill/>
          <a:ln/>
        </p:spPr>
        <p:txBody>
          <a:bodyPr wrap="square" rtlCol="0" anchor="ctr"/>
          <a:lstStyle/>
          <a:p>
            <a:pPr indent="0" marL="0">
              <a:buNone/>
            </a:pPr>
            <a:r>
              <a:rPr lang="en-US" sz="1150" b="1" dirty="0">
                <a:solidFill>
                  <a:srgbClr val="0D2B55"/>
                </a:solidFill>
              </a:rPr>
              <a:t>📦  Logistics &amp; Supply Chain</a:t>
            </a:r>
            <a:endParaRPr lang="en-US" sz="1150" dirty="0"/>
          </a:p>
        </p:txBody>
      </p:sp>
      <p:sp>
        <p:nvSpPr>
          <p:cNvPr id="17" name="Text 15"/>
          <p:cNvSpPr/>
          <p:nvPr/>
        </p:nvSpPr>
        <p:spPr>
          <a:xfrm>
            <a:off x="4846320" y="2990088"/>
            <a:ext cx="3931920" cy="548640"/>
          </a:xfrm>
          <a:prstGeom prst="rect">
            <a:avLst/>
          </a:prstGeom>
          <a:noFill/>
          <a:ln/>
        </p:spPr>
        <p:txBody>
          <a:bodyPr wrap="square" rtlCol="0" anchor="ctr"/>
          <a:lstStyle/>
          <a:p>
            <a:pPr indent="0" marL="0">
              <a:buNone/>
            </a:pPr>
            <a:r>
              <a:rPr lang="en-US" sz="950" dirty="0">
                <a:solidFill>
                  <a:srgbClr val="1E293B"/>
                </a:solidFill>
              </a:rPr>
              <a:t>Optimize vehicle loading, delivery routes, and speeds across fleets to reduce operational costs.</a:t>
            </a:r>
            <a:endParaRPr lang="en-US" sz="950" dirty="0"/>
          </a:p>
        </p:txBody>
      </p:sp>
      <p:sp>
        <p:nvSpPr>
          <p:cNvPr id="18" name="Shape 16"/>
          <p:cNvSpPr/>
          <p:nvPr/>
        </p:nvSpPr>
        <p:spPr>
          <a:xfrm>
            <a:off x="320040" y="3703320"/>
            <a:ext cx="4206240" cy="1051560"/>
          </a:xfrm>
          <a:prstGeom prst="rect">
            <a:avLst/>
          </a:prstGeom>
          <a:solidFill>
            <a:srgbClr val="F5F3FF"/>
          </a:solidFill>
          <a:ln w="19050">
            <a:solidFill>
              <a:srgbClr val="7C3AED"/>
            </a:solidFill>
            <a:prstDash val="solid"/>
          </a:ln>
          <a:effectLst>
            <a:outerShdw sx="100000" sy="100000" kx="0" ky="0" algn="bl" rotWithShape="0" blurRad="101600" dist="38100" dir="8100000">
              <a:srgbClr val="000000">
                <a:alpha val="12000"/>
              </a:srgbClr>
            </a:outerShdw>
          </a:effectLst>
        </p:spPr>
      </p:sp>
      <p:sp>
        <p:nvSpPr>
          <p:cNvPr id="19" name="Text 17"/>
          <p:cNvSpPr/>
          <p:nvPr/>
        </p:nvSpPr>
        <p:spPr>
          <a:xfrm>
            <a:off x="457200" y="3794760"/>
            <a:ext cx="3931920" cy="329184"/>
          </a:xfrm>
          <a:prstGeom prst="rect">
            <a:avLst/>
          </a:prstGeom>
          <a:noFill/>
          <a:ln/>
        </p:spPr>
        <p:txBody>
          <a:bodyPr wrap="square" rtlCol="0" anchor="ctr"/>
          <a:lstStyle/>
          <a:p>
            <a:pPr indent="0" marL="0">
              <a:buNone/>
            </a:pPr>
            <a:r>
              <a:rPr lang="en-US" sz="1150" b="1" dirty="0">
                <a:solidFill>
                  <a:srgbClr val="0D2B55"/>
                </a:solidFill>
              </a:rPr>
              <a:t>🤖  Machine Learning Tuning</a:t>
            </a:r>
            <a:endParaRPr lang="en-US" sz="1150" dirty="0"/>
          </a:p>
        </p:txBody>
      </p:sp>
      <p:sp>
        <p:nvSpPr>
          <p:cNvPr id="20" name="Text 18"/>
          <p:cNvSpPr/>
          <p:nvPr/>
        </p:nvSpPr>
        <p:spPr>
          <a:xfrm>
            <a:off x="457200" y="4133088"/>
            <a:ext cx="3931920" cy="548640"/>
          </a:xfrm>
          <a:prstGeom prst="rect">
            <a:avLst/>
          </a:prstGeom>
          <a:noFill/>
          <a:ln/>
        </p:spPr>
        <p:txBody>
          <a:bodyPr wrap="square" rtlCol="0" anchor="ctr"/>
          <a:lstStyle/>
          <a:p>
            <a:pPr indent="0" marL="0">
              <a:buNone/>
            </a:pPr>
            <a:r>
              <a:rPr lang="en-US" sz="950" dirty="0">
                <a:solidFill>
                  <a:srgbClr val="1E293B"/>
                </a:solidFill>
              </a:rPr>
              <a:t>Hyperparameter search for learning rates and regularization — GSS finds optimal values efficiently.</a:t>
            </a:r>
            <a:endParaRPr lang="en-US" sz="950" dirty="0"/>
          </a:p>
        </p:txBody>
      </p:sp>
      <p:sp>
        <p:nvSpPr>
          <p:cNvPr id="21" name="Shape 19"/>
          <p:cNvSpPr/>
          <p:nvPr/>
        </p:nvSpPr>
        <p:spPr>
          <a:xfrm>
            <a:off x="4709160" y="3703320"/>
            <a:ext cx="4206240" cy="1051560"/>
          </a:xfrm>
          <a:prstGeom prst="rect">
            <a:avLst/>
          </a:prstGeom>
          <a:solidFill>
            <a:srgbClr val="FFF7ED"/>
          </a:solidFill>
          <a:ln w="19050">
            <a:solidFill>
              <a:srgbClr val="EA580C"/>
            </a:solidFill>
            <a:prstDash val="solid"/>
          </a:ln>
          <a:effectLst>
            <a:outerShdw sx="100000" sy="100000" kx="0" ky="0" algn="bl" rotWithShape="0" blurRad="101600" dist="38100" dir="8100000">
              <a:srgbClr val="000000">
                <a:alpha val="12000"/>
              </a:srgbClr>
            </a:outerShdw>
          </a:effectLst>
        </p:spPr>
      </p:sp>
      <p:sp>
        <p:nvSpPr>
          <p:cNvPr id="22" name="Text 20"/>
          <p:cNvSpPr/>
          <p:nvPr/>
        </p:nvSpPr>
        <p:spPr>
          <a:xfrm>
            <a:off x="4846320" y="3794760"/>
            <a:ext cx="3931920" cy="329184"/>
          </a:xfrm>
          <a:prstGeom prst="rect">
            <a:avLst/>
          </a:prstGeom>
          <a:noFill/>
          <a:ln/>
        </p:spPr>
        <p:txBody>
          <a:bodyPr wrap="square" rtlCol="0" anchor="ctr"/>
          <a:lstStyle/>
          <a:p>
            <a:pPr indent="0" marL="0">
              <a:buNone/>
            </a:pPr>
            <a:r>
              <a:rPr lang="en-US" sz="1150" b="1" dirty="0">
                <a:solidFill>
                  <a:srgbClr val="0D2B55"/>
                </a:solidFill>
              </a:rPr>
              <a:t>🏭  Industrial Process Control</a:t>
            </a:r>
            <a:endParaRPr lang="en-US" sz="1150" dirty="0"/>
          </a:p>
        </p:txBody>
      </p:sp>
      <p:sp>
        <p:nvSpPr>
          <p:cNvPr id="23" name="Text 21"/>
          <p:cNvSpPr/>
          <p:nvPr/>
        </p:nvSpPr>
        <p:spPr>
          <a:xfrm>
            <a:off x="4846320" y="4133088"/>
            <a:ext cx="3931920" cy="548640"/>
          </a:xfrm>
          <a:prstGeom prst="rect">
            <a:avLst/>
          </a:prstGeom>
          <a:noFill/>
          <a:ln/>
        </p:spPr>
        <p:txBody>
          <a:bodyPr wrap="square" rtlCol="0" anchor="ctr"/>
          <a:lstStyle/>
          <a:p>
            <a:pPr indent="0" marL="0">
              <a:buNone/>
            </a:pPr>
            <a:r>
              <a:rPr lang="en-US" sz="950" dirty="0">
                <a:solidFill>
                  <a:srgbClr val="1E293B"/>
                </a:solidFill>
              </a:rPr>
              <a:t>Optimize reactor temperatures, pressures, and flow rates in chemical and manufacturing plants.</a:t>
            </a:r>
            <a:endParaRPr lang="en-US" sz="950" dirty="0"/>
          </a:p>
        </p:txBody>
      </p:sp>
      <p:sp>
        <p:nvSpPr>
          <p:cNvPr id="24" name="Shape 22"/>
          <p:cNvSpPr/>
          <p:nvPr/>
        </p:nvSpPr>
        <p:spPr>
          <a:xfrm>
            <a:off x="320040" y="4645152"/>
            <a:ext cx="8503920" cy="320040"/>
          </a:xfrm>
          <a:prstGeom prst="rect">
            <a:avLst/>
          </a:prstGeom>
          <a:solidFill>
            <a:srgbClr val="0D2B55"/>
          </a:solidFill>
          <a:ln w="12700">
            <a:solidFill>
              <a:srgbClr val="0D2B55"/>
            </a:solidFill>
            <a:prstDash val="solid"/>
          </a:ln>
        </p:spPr>
      </p:sp>
      <p:sp>
        <p:nvSpPr>
          <p:cNvPr id="25" name="Text 23"/>
          <p:cNvSpPr/>
          <p:nvPr/>
        </p:nvSpPr>
        <p:spPr>
          <a:xfrm>
            <a:off x="457200" y="4663440"/>
            <a:ext cx="8321040" cy="274320"/>
          </a:xfrm>
          <a:prstGeom prst="rect">
            <a:avLst/>
          </a:prstGeom>
          <a:noFill/>
          <a:ln/>
        </p:spPr>
        <p:txBody>
          <a:bodyPr wrap="square" rtlCol="0" anchor="ctr"/>
          <a:lstStyle/>
          <a:p>
            <a:pPr indent="0" marL="0">
              <a:buNone/>
            </a:pPr>
            <a:r>
              <a:rPr lang="en-US" sz="950" i="1" dirty="0">
                <a:solidFill>
                  <a:srgbClr val="FFFFFF"/>
                </a:solidFill>
              </a:rPr>
              <a:t>🔑  The same mathematical principle that optimizes driving speed applies across aerospace, AI, energy, and manufacturing.</a:t>
            </a:r>
            <a:endParaRPr lang="en-US" sz="950" dirty="0"/>
          </a:p>
        </p:txBody>
      </p:sp>
      <p:sp>
        <p:nvSpPr>
          <p:cNvPr id="26" name="Text 24"/>
          <p:cNvSpPr/>
          <p:nvPr/>
        </p:nvSpPr>
        <p:spPr>
          <a:xfrm>
            <a:off x="7955280" y="4846320"/>
            <a:ext cx="914400" cy="182880"/>
          </a:xfrm>
          <a:prstGeom prst="rect">
            <a:avLst/>
          </a:prstGeom>
          <a:noFill/>
          <a:ln/>
        </p:spPr>
        <p:txBody>
          <a:bodyPr wrap="square" rtlCol="0" anchor="ctr"/>
          <a:lstStyle/>
          <a:p>
            <a:pPr algn="r" indent="0" marL="0">
              <a:buNone/>
            </a:pPr>
            <a:r>
              <a:rPr lang="en-US" sz="800" dirty="0">
                <a:solidFill>
                  <a:srgbClr val="94A3B8"/>
                </a:solidFill>
              </a:rPr>
              <a:t>12 / 13</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71A36"/>
        </a:solidFill>
      </p:bgPr>
    </p:bg>
    <p:spTree>
      <p:nvGrpSpPr>
        <p:cNvPr id="1" name=""/>
        <p:cNvGrpSpPr/>
        <p:nvPr/>
      </p:nvGrpSpPr>
      <p:grpSpPr>
        <a:xfrm>
          <a:off x="0" y="0"/>
          <a:ext cx="0" cy="0"/>
          <a:chOff x="0" y="0"/>
          <a:chExt cx="0" cy="0"/>
        </a:xfrm>
      </p:grpSpPr>
      <p:sp>
        <p:nvSpPr>
          <p:cNvPr id="2" name="Shape 0"/>
          <p:cNvSpPr/>
          <p:nvPr/>
        </p:nvSpPr>
        <p:spPr>
          <a:xfrm>
            <a:off x="0" y="0"/>
            <a:ext cx="9144000" cy="1920240"/>
          </a:xfrm>
          <a:prstGeom prst="rect">
            <a:avLst/>
          </a:prstGeom>
          <a:solidFill>
            <a:srgbClr val="0D2B55"/>
          </a:solidFill>
          <a:ln w="12700">
            <a:solidFill>
              <a:srgbClr val="0D2B55"/>
            </a:solidFill>
            <a:prstDash val="solid"/>
          </a:ln>
        </p:spPr>
      </p:sp>
      <p:sp>
        <p:nvSpPr>
          <p:cNvPr id="3" name="Shape 1"/>
          <p:cNvSpPr/>
          <p:nvPr/>
        </p:nvSpPr>
        <p:spPr>
          <a:xfrm>
            <a:off x="0" y="4389120"/>
            <a:ext cx="9144000" cy="754380"/>
          </a:xfrm>
          <a:prstGeom prst="rect">
            <a:avLst/>
          </a:prstGeom>
          <a:solidFill>
            <a:srgbClr val="1565C0">
              <a:alpha val="60000"/>
            </a:srgbClr>
          </a:solidFill>
          <a:ln w="12700">
            <a:solidFill>
              <a:srgbClr val="1565C0"/>
            </a:solidFill>
            <a:prstDash val="solid"/>
          </a:ln>
        </p:spPr>
      </p:sp>
      <p:sp>
        <p:nvSpPr>
          <p:cNvPr id="4" name="Text 2"/>
          <p:cNvSpPr/>
          <p:nvPr/>
        </p:nvSpPr>
        <p:spPr>
          <a:xfrm>
            <a:off x="365760" y="201168"/>
            <a:ext cx="8412480" cy="50292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Conclusion</a:t>
            </a:r>
            <a:endParaRPr lang="en-US" sz="3000" dirty="0"/>
          </a:p>
        </p:txBody>
      </p:sp>
      <p:sp>
        <p:nvSpPr>
          <p:cNvPr id="5" name="Text 3"/>
          <p:cNvSpPr/>
          <p:nvPr/>
        </p:nvSpPr>
        <p:spPr>
          <a:xfrm>
            <a:off x="365760" y="713232"/>
            <a:ext cx="8412480" cy="365760"/>
          </a:xfrm>
          <a:prstGeom prst="rect">
            <a:avLst/>
          </a:prstGeom>
          <a:noFill/>
          <a:ln/>
        </p:spPr>
        <p:txBody>
          <a:bodyPr wrap="square" rtlCol="0" anchor="ctr"/>
          <a:lstStyle/>
          <a:p>
            <a:pPr indent="0" marL="0">
              <a:buNone/>
            </a:pPr>
            <a:r>
              <a:rPr lang="en-US" sz="1300" i="1" dirty="0">
                <a:solidFill>
                  <a:srgbClr val="F59E0B"/>
                </a:solidFill>
                <a:latin typeface="Calibri" pitchFamily="34" charset="0"/>
                <a:ea typeface="Calibri" pitchFamily="34" charset="-122"/>
                <a:cs typeface="Calibri" pitchFamily="34" charset="-120"/>
              </a:rPr>
              <a:t>Fuel Consumption Optimization Using Golden Section Search</a:t>
            </a:r>
            <a:endParaRPr lang="en-US" sz="1300" dirty="0"/>
          </a:p>
        </p:txBody>
      </p:sp>
      <p:sp>
        <p:nvSpPr>
          <p:cNvPr id="6" name="Shape 4"/>
          <p:cNvSpPr/>
          <p:nvPr/>
        </p:nvSpPr>
        <p:spPr>
          <a:xfrm>
            <a:off x="365760" y="1115568"/>
            <a:ext cx="8412480" cy="36576"/>
          </a:xfrm>
          <a:prstGeom prst="rect">
            <a:avLst/>
          </a:prstGeom>
          <a:solidFill>
            <a:srgbClr val="F59E0B"/>
          </a:solidFill>
          <a:ln w="12700">
            <a:solidFill>
              <a:srgbClr val="F59E0B"/>
            </a:solidFill>
            <a:prstDash val="solid"/>
          </a:ln>
        </p:spPr>
      </p:sp>
      <p:sp>
        <p:nvSpPr>
          <p:cNvPr id="7" name="Shape 5"/>
          <p:cNvSpPr/>
          <p:nvPr/>
        </p:nvSpPr>
        <p:spPr>
          <a:xfrm>
            <a:off x="365760" y="1325880"/>
            <a:ext cx="8412480" cy="1005840"/>
          </a:xfrm>
          <a:prstGeom prst="rect">
            <a:avLst/>
          </a:prstGeom>
          <a:solidFill>
            <a:srgbClr val="FFFFFF">
              <a:alpha val="92000"/>
            </a:srgbClr>
          </a:solidFill>
          <a:ln w="25400">
            <a:solidFill>
              <a:srgbClr val="F59E0B"/>
            </a:solidFill>
            <a:prstDash val="solid"/>
          </a:ln>
          <a:effectLst>
            <a:outerShdw sx="100000" sy="100000" kx="0" ky="0" algn="bl" rotWithShape="0" blurRad="101600" dist="38100" dir="8100000">
              <a:srgbClr val="000000">
                <a:alpha val="12000"/>
              </a:srgbClr>
            </a:outerShdw>
          </a:effectLst>
        </p:spPr>
      </p:sp>
      <p:sp>
        <p:nvSpPr>
          <p:cNvPr id="8" name="Text 6"/>
          <p:cNvSpPr/>
          <p:nvPr/>
        </p:nvSpPr>
        <p:spPr>
          <a:xfrm>
            <a:off x="502920" y="1371600"/>
            <a:ext cx="8138160" cy="914400"/>
          </a:xfrm>
          <a:prstGeom prst="rect">
            <a:avLst/>
          </a:prstGeom>
          <a:noFill/>
          <a:ln/>
        </p:spPr>
        <p:txBody>
          <a:bodyPr wrap="square" rtlCol="0" anchor="ctr"/>
          <a:lstStyle/>
          <a:p>
            <a:pPr algn="ctr" indent="0" marL="0">
              <a:buNone/>
            </a:pPr>
            <a:r>
              <a:rPr lang="en-US" sz="1200" i="1" dirty="0">
                <a:solidFill>
                  <a:srgbClr val="FFFFFF"/>
                </a:solidFill>
                <a:latin typeface="Calibri" pitchFamily="34" charset="0"/>
                <a:ea typeface="Calibri" pitchFamily="34" charset="-122"/>
                <a:cs typeface="Calibri" pitchFamily="34" charset="-120"/>
              </a:rPr>
              <a:t>"Golden Section Search provides an efficient way to determine the optimal driving speed that minimizes fuel consumption while reducing computational cost and search time."</a:t>
            </a:r>
            <a:endParaRPr lang="en-US" sz="1200" dirty="0"/>
          </a:p>
        </p:txBody>
      </p:sp>
      <p:sp>
        <p:nvSpPr>
          <p:cNvPr id="9" name="Shape 7"/>
          <p:cNvSpPr/>
          <p:nvPr/>
        </p:nvSpPr>
        <p:spPr>
          <a:xfrm>
            <a:off x="365760" y="2468880"/>
            <a:ext cx="4206240" cy="502920"/>
          </a:xfrm>
          <a:prstGeom prst="rect">
            <a:avLst/>
          </a:prstGeom>
          <a:solidFill>
            <a:srgbClr val="FFFFFF">
              <a:alpha val="15000"/>
            </a:srgbClr>
          </a:solidFill>
          <a:ln w="12700">
            <a:solidFill>
              <a:srgbClr val="2196F3"/>
            </a:solidFill>
            <a:prstDash val="solid"/>
          </a:ln>
        </p:spPr>
      </p:sp>
      <p:sp>
        <p:nvSpPr>
          <p:cNvPr id="10" name="Text 8"/>
          <p:cNvSpPr/>
          <p:nvPr/>
        </p:nvSpPr>
        <p:spPr>
          <a:xfrm>
            <a:off x="475488" y="2468880"/>
            <a:ext cx="4023360" cy="502920"/>
          </a:xfrm>
          <a:prstGeom prst="rect">
            <a:avLst/>
          </a:prstGeom>
          <a:noFill/>
          <a:ln/>
        </p:spPr>
        <p:txBody>
          <a:bodyPr wrap="square" rtlCol="0" anchor="ctr"/>
          <a:lstStyle/>
          <a:p>
            <a:pPr indent="0" marL="0">
              <a:buNone/>
            </a:pPr>
            <a:r>
              <a:rPr lang="en-US" sz="1000" dirty="0">
                <a:solidFill>
                  <a:srgbClr val="FFFFFF"/>
                </a:solidFill>
              </a:rPr>
              <a:t>✅  Fuel consumption follows a unimodal convex curve — ideal for GSS</a:t>
            </a:r>
            <a:endParaRPr lang="en-US" sz="1000" dirty="0"/>
          </a:p>
        </p:txBody>
      </p:sp>
      <p:sp>
        <p:nvSpPr>
          <p:cNvPr id="11" name="Shape 9"/>
          <p:cNvSpPr/>
          <p:nvPr/>
        </p:nvSpPr>
        <p:spPr>
          <a:xfrm>
            <a:off x="365760" y="3035808"/>
            <a:ext cx="4206240" cy="502920"/>
          </a:xfrm>
          <a:prstGeom prst="rect">
            <a:avLst/>
          </a:prstGeom>
          <a:solidFill>
            <a:srgbClr val="FFFFFF">
              <a:alpha val="15000"/>
            </a:srgbClr>
          </a:solidFill>
          <a:ln w="12700">
            <a:solidFill>
              <a:srgbClr val="2196F3"/>
            </a:solidFill>
            <a:prstDash val="solid"/>
          </a:ln>
        </p:spPr>
      </p:sp>
      <p:sp>
        <p:nvSpPr>
          <p:cNvPr id="12" name="Text 10"/>
          <p:cNvSpPr/>
          <p:nvPr/>
        </p:nvSpPr>
        <p:spPr>
          <a:xfrm>
            <a:off x="475488" y="3035808"/>
            <a:ext cx="4023360" cy="502920"/>
          </a:xfrm>
          <a:prstGeom prst="rect">
            <a:avLst/>
          </a:prstGeom>
          <a:noFill/>
          <a:ln/>
        </p:spPr>
        <p:txBody>
          <a:bodyPr wrap="square" rtlCol="0" anchor="ctr"/>
          <a:lstStyle/>
          <a:p>
            <a:pPr indent="0" marL="0">
              <a:buNone/>
            </a:pPr>
            <a:r>
              <a:rPr lang="en-US" sz="1000" dirty="0">
                <a:solidFill>
                  <a:srgbClr val="FFFFFF"/>
                </a:solidFill>
              </a:rPr>
              <a:t>✅  GSS converges to v* = 80 km/h in under 20 iterations</a:t>
            </a:r>
            <a:endParaRPr lang="en-US" sz="1000" dirty="0"/>
          </a:p>
        </p:txBody>
      </p:sp>
      <p:sp>
        <p:nvSpPr>
          <p:cNvPr id="13" name="Shape 11"/>
          <p:cNvSpPr/>
          <p:nvPr/>
        </p:nvSpPr>
        <p:spPr>
          <a:xfrm>
            <a:off x="4709160" y="2468880"/>
            <a:ext cx="4206240" cy="502920"/>
          </a:xfrm>
          <a:prstGeom prst="rect">
            <a:avLst/>
          </a:prstGeom>
          <a:solidFill>
            <a:srgbClr val="FFFFFF">
              <a:alpha val="15000"/>
            </a:srgbClr>
          </a:solidFill>
          <a:ln w="12700">
            <a:solidFill>
              <a:srgbClr val="2196F3"/>
            </a:solidFill>
            <a:prstDash val="solid"/>
          </a:ln>
        </p:spPr>
      </p:sp>
      <p:sp>
        <p:nvSpPr>
          <p:cNvPr id="14" name="Text 12"/>
          <p:cNvSpPr/>
          <p:nvPr/>
        </p:nvSpPr>
        <p:spPr>
          <a:xfrm>
            <a:off x="4818888" y="2468880"/>
            <a:ext cx="4023360" cy="502920"/>
          </a:xfrm>
          <a:prstGeom prst="rect">
            <a:avLst/>
          </a:prstGeom>
          <a:noFill/>
          <a:ln/>
        </p:spPr>
        <p:txBody>
          <a:bodyPr wrap="square" rtlCol="0" anchor="ctr"/>
          <a:lstStyle/>
          <a:p>
            <a:pPr indent="0" marL="0">
              <a:buNone/>
            </a:pPr>
            <a:r>
              <a:rPr lang="en-US" sz="1000" dirty="0">
                <a:solidFill>
                  <a:srgbClr val="FFFFFF"/>
                </a:solidFill>
              </a:rPr>
              <a:t>✅  Only ~18 function evaluations vs 10,000+ for brute force</a:t>
            </a:r>
            <a:endParaRPr lang="en-US" sz="1000" dirty="0"/>
          </a:p>
        </p:txBody>
      </p:sp>
      <p:sp>
        <p:nvSpPr>
          <p:cNvPr id="15" name="Shape 13"/>
          <p:cNvSpPr/>
          <p:nvPr/>
        </p:nvSpPr>
        <p:spPr>
          <a:xfrm>
            <a:off x="4709160" y="3035808"/>
            <a:ext cx="4206240" cy="502920"/>
          </a:xfrm>
          <a:prstGeom prst="rect">
            <a:avLst/>
          </a:prstGeom>
          <a:solidFill>
            <a:srgbClr val="FFFFFF">
              <a:alpha val="15000"/>
            </a:srgbClr>
          </a:solidFill>
          <a:ln w="12700">
            <a:solidFill>
              <a:srgbClr val="2196F3"/>
            </a:solidFill>
            <a:prstDash val="solid"/>
          </a:ln>
        </p:spPr>
      </p:sp>
      <p:sp>
        <p:nvSpPr>
          <p:cNvPr id="16" name="Text 14"/>
          <p:cNvSpPr/>
          <p:nvPr/>
        </p:nvSpPr>
        <p:spPr>
          <a:xfrm>
            <a:off x="4818888" y="3035808"/>
            <a:ext cx="4023360" cy="502920"/>
          </a:xfrm>
          <a:prstGeom prst="rect">
            <a:avLst/>
          </a:prstGeom>
          <a:noFill/>
          <a:ln/>
        </p:spPr>
        <p:txBody>
          <a:bodyPr wrap="square" rtlCol="0" anchor="ctr"/>
          <a:lstStyle/>
          <a:p>
            <a:pPr indent="0" marL="0">
              <a:buNone/>
            </a:pPr>
            <a:r>
              <a:rPr lang="en-US" sz="1000" dirty="0">
                <a:solidFill>
                  <a:srgbClr val="FFFFFF"/>
                </a:solidFill>
              </a:rPr>
              <a:t>✅  The golden ratio φ = 0.618 guarantees 38.2% reduction per step</a:t>
            </a:r>
            <a:endParaRPr lang="en-US" sz="1000" dirty="0"/>
          </a:p>
        </p:txBody>
      </p:sp>
      <p:sp>
        <p:nvSpPr>
          <p:cNvPr id="17" name="Shape 15"/>
          <p:cNvSpPr/>
          <p:nvPr/>
        </p:nvSpPr>
        <p:spPr>
          <a:xfrm>
            <a:off x="365760" y="3657600"/>
            <a:ext cx="5486400" cy="658368"/>
          </a:xfrm>
          <a:prstGeom prst="rect">
            <a:avLst/>
          </a:prstGeom>
          <a:solidFill>
            <a:srgbClr val="FFFFFF">
              <a:alpha val="10000"/>
            </a:srgbClr>
          </a:solidFill>
          <a:ln w="12700">
            <a:solidFill>
              <a:srgbClr val="94A3B8"/>
            </a:solidFill>
            <a:prstDash val="solid"/>
          </a:ln>
        </p:spPr>
      </p:sp>
      <p:sp>
        <p:nvSpPr>
          <p:cNvPr id="18" name="Text 16"/>
          <p:cNvSpPr/>
          <p:nvPr/>
        </p:nvSpPr>
        <p:spPr>
          <a:xfrm>
            <a:off x="475488" y="3685032"/>
            <a:ext cx="5303520" cy="603504"/>
          </a:xfrm>
          <a:prstGeom prst="rect">
            <a:avLst/>
          </a:prstGeom>
          <a:noFill/>
          <a:ln/>
        </p:spPr>
        <p:txBody>
          <a:bodyPr wrap="square" rtlCol="0" anchor="ctr"/>
          <a:lstStyle/>
          <a:p>
            <a:pPr indent="0" marL="0">
              <a:buNone/>
            </a:pPr>
            <a:r>
              <a:rPr lang="en-US" sz="850" b="1" dirty="0">
                <a:solidFill>
                  <a:srgbClr val="F59E0B"/>
                </a:solidFill>
              </a:rPr>
              <a:t>References:  </a:t>
            </a:r>
            <a:pPr indent="0" marL="0">
              <a:buNone/>
            </a:pPr>
            <a:r>
              <a:rPr lang="en-US" sz="850" dirty="0">
                <a:solidFill>
                  <a:srgbClr val="CADCFC"/>
                </a:solidFill>
              </a:rPr>
              <a:t>Chapra &amp; Canale — Numerical Methods for Engineers; </a:t>
            </a:r>
            <a:pPr indent="0" marL="0">
              <a:buNone/>
            </a:pPr>
            <a:r>
              <a:rPr lang="en-US" sz="850" dirty="0">
                <a:solidFill>
                  <a:srgbClr val="CADCFC"/>
                </a:solidFill>
              </a:rPr>
              <a:t>Rao — Engineering Optimization; </a:t>
            </a:r>
            <a:pPr indent="0" marL="0">
              <a:buNone/>
            </a:pPr>
            <a:r>
              <a:rPr lang="en-US" sz="850" dirty="0">
                <a:solidFill>
                  <a:srgbClr val="CADCFC"/>
                </a:solidFill>
              </a:rPr>
              <a:t>Press et al. — Numerical Recipes</a:t>
            </a:r>
            <a:endParaRPr lang="en-US" sz="850" dirty="0"/>
          </a:p>
        </p:txBody>
      </p:sp>
      <p:sp>
        <p:nvSpPr>
          <p:cNvPr id="19" name="Shape 17"/>
          <p:cNvSpPr/>
          <p:nvPr/>
        </p:nvSpPr>
        <p:spPr>
          <a:xfrm>
            <a:off x="5989320" y="3611880"/>
            <a:ext cx="2834640" cy="749808"/>
          </a:xfrm>
          <a:prstGeom prst="rect">
            <a:avLst/>
          </a:prstGeom>
          <a:solidFill>
            <a:srgbClr val="F59E0B"/>
          </a:solidFill>
          <a:ln w="12700">
            <a:solidFill>
              <a:srgbClr val="F59E0B"/>
            </a:solidFill>
            <a:prstDash val="solid"/>
          </a:ln>
          <a:effectLst>
            <a:outerShdw sx="100000" sy="100000" kx="0" ky="0" algn="bl" rotWithShape="0" blurRad="101600" dist="38100" dir="8100000">
              <a:srgbClr val="000000">
                <a:alpha val="12000"/>
              </a:srgbClr>
            </a:outerShdw>
          </a:effectLst>
        </p:spPr>
      </p:sp>
      <p:sp>
        <p:nvSpPr>
          <p:cNvPr id="20" name="Text 18"/>
          <p:cNvSpPr/>
          <p:nvPr/>
        </p:nvSpPr>
        <p:spPr>
          <a:xfrm>
            <a:off x="5989320" y="3611880"/>
            <a:ext cx="2834640" cy="457200"/>
          </a:xfrm>
          <a:prstGeom prst="rect">
            <a:avLst/>
          </a:prstGeom>
          <a:noFill/>
          <a:ln/>
        </p:spPr>
        <p:txBody>
          <a:bodyPr wrap="square" rtlCol="0" anchor="b"/>
          <a:lstStyle/>
          <a:p>
            <a:pPr algn="ctr" indent="0" marL="0">
              <a:buNone/>
            </a:pPr>
            <a:r>
              <a:rPr lang="en-US" sz="2200" b="1" dirty="0">
                <a:solidFill>
                  <a:srgbClr val="0D2B55"/>
                </a:solidFill>
              </a:rPr>
              <a:t>Thank You</a:t>
            </a:r>
            <a:endParaRPr lang="en-US" sz="2200" dirty="0"/>
          </a:p>
        </p:txBody>
      </p:sp>
      <p:sp>
        <p:nvSpPr>
          <p:cNvPr id="21" name="Text 19"/>
          <p:cNvSpPr/>
          <p:nvPr/>
        </p:nvSpPr>
        <p:spPr>
          <a:xfrm>
            <a:off x="5989320" y="4069080"/>
            <a:ext cx="2834640" cy="292608"/>
          </a:xfrm>
          <a:prstGeom prst="rect">
            <a:avLst/>
          </a:prstGeom>
          <a:noFill/>
          <a:ln/>
        </p:spPr>
        <p:txBody>
          <a:bodyPr wrap="square" rtlCol="0" anchor="ctr"/>
          <a:lstStyle/>
          <a:p>
            <a:pPr algn="ctr" indent="0" marL="0">
              <a:buNone/>
            </a:pPr>
            <a:r>
              <a:rPr lang="en-US" sz="1200" dirty="0">
                <a:solidFill>
                  <a:srgbClr val="0D2B55"/>
                </a:solidFill>
              </a:rPr>
              <a:t>Questions?</a:t>
            </a:r>
            <a:endParaRPr lang="en-US" sz="1200" dirty="0"/>
          </a:p>
        </p:txBody>
      </p:sp>
      <p:sp>
        <p:nvSpPr>
          <p:cNvPr id="22" name="Text 20"/>
          <p:cNvSpPr/>
          <p:nvPr/>
        </p:nvSpPr>
        <p:spPr>
          <a:xfrm>
            <a:off x="7955280" y="4846320"/>
            <a:ext cx="914400" cy="182880"/>
          </a:xfrm>
          <a:prstGeom prst="rect">
            <a:avLst/>
          </a:prstGeom>
          <a:noFill/>
          <a:ln/>
        </p:spPr>
        <p:txBody>
          <a:bodyPr wrap="square" rtlCol="0" anchor="ctr"/>
          <a:lstStyle/>
          <a:p>
            <a:pPr algn="r" indent="0" marL="0">
              <a:buNone/>
            </a:pPr>
            <a:r>
              <a:rPr lang="en-US" sz="800" dirty="0">
                <a:solidFill>
                  <a:srgbClr val="94A3B8"/>
                </a:solidFill>
              </a:rPr>
              <a:t>13 / 13</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2026-05-13T23:21:54Z</dcterms:created>
  <dcterms:modified xsi:type="dcterms:W3CDTF">2026-05-13T23:21:54Z</dcterms:modified>
</cp:coreProperties>
</file>